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10287000" cx="18288000"/>
  <p:notesSz cx="6858000" cy="9144000"/>
  <p:embeddedFontLst>
    <p:embeddedFont>
      <p:font typeface="League Spartan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hIqpDqCdP6VuB9UbExQ3Wtwop2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eagueSpartan-regular.fntdata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font" Target="fonts/LeagueSpartan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0" y="-144661"/>
            <a:ext cx="18288000" cy="1583907"/>
            <a:chOff x="0" y="-38100"/>
            <a:chExt cx="4816593" cy="417161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4816592" cy="379061"/>
            </a:xfrm>
            <a:custGeom>
              <a:rect b="b" l="l" r="r" t="t"/>
              <a:pathLst>
                <a:path extrusionOk="0" h="37906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9061"/>
                  </a:lnTo>
                  <a:lnTo>
                    <a:pt x="0" y="379061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4816593" cy="417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16667374" y="101426"/>
            <a:ext cx="1482029" cy="1236420"/>
          </a:xfrm>
          <a:custGeom>
            <a:rect b="b" l="l" r="r" t="t"/>
            <a:pathLst>
              <a:path extrusionOk="0" h="1200023" w="1438402">
                <a:moveTo>
                  <a:pt x="0" y="0"/>
                </a:moveTo>
                <a:lnTo>
                  <a:pt x="1438402" y="0"/>
                </a:lnTo>
                <a:lnTo>
                  <a:pt x="1438402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-2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993297" y="3720534"/>
            <a:ext cx="3336634" cy="1240870"/>
          </a:xfrm>
          <a:custGeom>
            <a:rect b="b" l="l" r="r" t="t"/>
            <a:pathLst>
              <a:path extrusionOk="0" h="2395855" w="6442329">
                <a:moveTo>
                  <a:pt x="0" y="0"/>
                </a:moveTo>
                <a:lnTo>
                  <a:pt x="6442329" y="0"/>
                </a:lnTo>
                <a:lnTo>
                  <a:pt x="6442329" y="2395855"/>
                </a:lnTo>
                <a:lnTo>
                  <a:pt x="0" y="23958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" l="0" r="0" t="0"/>
            </a:stretch>
          </a:blipFill>
          <a:ln>
            <a:noFill/>
          </a:ln>
        </p:spPr>
      </p:sp>
      <p:cxnSp>
        <p:nvCxnSpPr>
          <p:cNvPr id="89" name="Google Shape;89;p1"/>
          <p:cNvCxnSpPr/>
          <p:nvPr/>
        </p:nvCxnSpPr>
        <p:spPr>
          <a:xfrm>
            <a:off x="725160" y="6156855"/>
            <a:ext cx="16837681" cy="0"/>
          </a:xfrm>
          <a:prstGeom prst="straightConnector1">
            <a:avLst/>
          </a:prstGeom>
          <a:noFill/>
          <a:ln cap="rnd" cmpd="sng" w="57150">
            <a:solidFill>
              <a:srgbClr val="1045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" name="Google Shape;90;p1"/>
          <p:cNvCxnSpPr/>
          <p:nvPr/>
        </p:nvCxnSpPr>
        <p:spPr>
          <a:xfrm>
            <a:off x="4730457" y="3602875"/>
            <a:ext cx="0" cy="2079973"/>
          </a:xfrm>
          <a:prstGeom prst="straightConnector1">
            <a:avLst/>
          </a:prstGeom>
          <a:noFill/>
          <a:ln cap="rnd" cmpd="sng" w="57150">
            <a:solidFill>
              <a:srgbClr val="10458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1" name="Google Shape;91;p1"/>
          <p:cNvGrpSpPr/>
          <p:nvPr/>
        </p:nvGrpSpPr>
        <p:grpSpPr>
          <a:xfrm>
            <a:off x="0" y="7914459"/>
            <a:ext cx="18288000" cy="2372541"/>
            <a:chOff x="0" y="-38100"/>
            <a:chExt cx="4816593" cy="624867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4816592" cy="586767"/>
            </a:xfrm>
            <a:custGeom>
              <a:rect b="b" l="l" r="r" t="t"/>
              <a:pathLst>
                <a:path extrusionOk="0" h="58676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86767"/>
                  </a:lnTo>
                  <a:lnTo>
                    <a:pt x="0" y="586767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93" name="Google Shape;93;p1"/>
            <p:cNvSpPr txBox="1"/>
            <p:nvPr/>
          </p:nvSpPr>
          <p:spPr>
            <a:xfrm>
              <a:off x="0" y="-38100"/>
              <a:ext cx="4816593" cy="6248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"/>
          <p:cNvSpPr txBox="1"/>
          <p:nvPr/>
        </p:nvSpPr>
        <p:spPr>
          <a:xfrm>
            <a:off x="5131030" y="3720534"/>
            <a:ext cx="12277358" cy="1807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66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Presentación de documento 0 Grupo 16 Sistema de Terreno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726582" y="5243336"/>
            <a:ext cx="3870077" cy="284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1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8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Empresa Puertas Blindadas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725160" y="8261737"/>
            <a:ext cx="3540300" cy="18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Integrantes: </a:t>
            </a:r>
            <a:endParaRPr sz="1200"/>
          </a:p>
          <a:p>
            <a:pPr indent="-167237" lvl="1" marL="359873" marR="0" rtl="0" algn="l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6"/>
              <a:buFont typeface="Arial"/>
              <a:buChar char="•"/>
            </a:pPr>
            <a:r>
              <a:rPr b="0" i="0" lang="en-US" sz="146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Barrera Matus, Josué Ezequiel</a:t>
            </a:r>
            <a:endParaRPr sz="1200"/>
          </a:p>
          <a:p>
            <a:pPr indent="-167237" lvl="1" marL="359873" marR="0" rtl="0" algn="l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6"/>
              <a:buFont typeface="Arial"/>
              <a:buChar char="•"/>
            </a:pPr>
            <a:r>
              <a:rPr b="0" i="0" lang="en-US" sz="146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Escobar Bravo, Sebastián Patricio</a:t>
            </a:r>
            <a:endParaRPr sz="1200"/>
          </a:p>
          <a:p>
            <a:pPr indent="-167237" lvl="1" marL="359873" marR="0" rtl="0" algn="l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6"/>
              <a:buFont typeface="Arial"/>
              <a:buChar char="•"/>
            </a:pPr>
            <a:r>
              <a:rPr b="0" i="0" lang="en-US" sz="146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Hanke Coray, Alexander Andres </a:t>
            </a:r>
            <a:endParaRPr sz="1200"/>
          </a:p>
          <a:p>
            <a:pPr indent="-167237" lvl="1" marL="359873" marR="0" rtl="0" algn="l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6"/>
              <a:buFont typeface="Arial"/>
              <a:buChar char="•"/>
            </a:pPr>
            <a:r>
              <a:rPr b="0" i="0" lang="en-US" sz="146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Munizaga Yañez, Ignacio Javier</a:t>
            </a:r>
            <a:endParaRPr sz="1200"/>
          </a:p>
          <a:p>
            <a:pPr indent="-167237" lvl="1" marL="359873" marR="0" rtl="0" algn="l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6"/>
              <a:buFont typeface="Arial"/>
              <a:buChar char="•"/>
            </a:pPr>
            <a:r>
              <a:rPr b="0" i="0" lang="en-US" sz="146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Reyes Gomez, Lenin Andres </a:t>
            </a:r>
            <a:endParaRPr sz="1200"/>
          </a:p>
          <a:p>
            <a:pPr indent="-167237" lvl="1" marL="359873" marR="0" rtl="0" algn="l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6"/>
              <a:buFont typeface="Arial"/>
              <a:buChar char="•"/>
            </a:pPr>
            <a:r>
              <a:rPr b="0" i="0" lang="en-US" sz="146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Seguel Novoa, Roberto Andrés</a:t>
            </a:r>
            <a:endParaRPr sz="1200"/>
          </a:p>
        </p:txBody>
      </p:sp>
      <p:sp>
        <p:nvSpPr>
          <p:cNvPr id="97" name="Google Shape;97;p1"/>
          <p:cNvSpPr txBox="1"/>
          <p:nvPr/>
        </p:nvSpPr>
        <p:spPr>
          <a:xfrm>
            <a:off x="4730457" y="8261737"/>
            <a:ext cx="3540252" cy="537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6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Profesor: Paulo Quinsacara</a:t>
            </a:r>
            <a:endParaRPr/>
          </a:p>
          <a:p>
            <a:pPr indent="0" lvl="0" marL="0" marR="0" rtl="0" algn="l">
              <a:lnSpc>
                <a:spcPct val="12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6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Curso: Ingeniería de software I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0" y="-144661"/>
            <a:ext cx="18288000" cy="1583907"/>
            <a:chOff x="0" y="-38100"/>
            <a:chExt cx="4816593" cy="417161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4816592" cy="379061"/>
            </a:xfrm>
            <a:custGeom>
              <a:rect b="b" l="l" r="r" t="t"/>
              <a:pathLst>
                <a:path extrusionOk="0" h="37906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9061"/>
                  </a:lnTo>
                  <a:lnTo>
                    <a:pt x="0" y="379061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104" name="Google Shape;104;p2"/>
            <p:cNvSpPr txBox="1"/>
            <p:nvPr/>
          </p:nvSpPr>
          <p:spPr>
            <a:xfrm>
              <a:off x="0" y="-38100"/>
              <a:ext cx="4816593" cy="417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2"/>
          <p:cNvSpPr/>
          <p:nvPr/>
        </p:nvSpPr>
        <p:spPr>
          <a:xfrm>
            <a:off x="16667374" y="101426"/>
            <a:ext cx="1482029" cy="1236420"/>
          </a:xfrm>
          <a:custGeom>
            <a:rect b="b" l="l" r="r" t="t"/>
            <a:pathLst>
              <a:path extrusionOk="0" h="1200023" w="1438402">
                <a:moveTo>
                  <a:pt x="0" y="0"/>
                </a:moveTo>
                <a:lnTo>
                  <a:pt x="1438402" y="0"/>
                </a:lnTo>
                <a:lnTo>
                  <a:pt x="1438402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-2" t="0"/>
            </a:stretch>
          </a:blipFill>
          <a:ln>
            <a:noFill/>
          </a:ln>
        </p:spPr>
      </p:sp>
      <p:sp>
        <p:nvSpPr>
          <p:cNvPr id="106" name="Google Shape;106;p2"/>
          <p:cNvSpPr txBox="1"/>
          <p:nvPr/>
        </p:nvSpPr>
        <p:spPr>
          <a:xfrm>
            <a:off x="318043" y="348369"/>
            <a:ext cx="12277358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6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Índice</a:t>
            </a:r>
            <a:endParaRPr/>
          </a:p>
        </p:txBody>
      </p:sp>
      <p:grpSp>
        <p:nvGrpSpPr>
          <p:cNvPr id="107" name="Google Shape;107;p2"/>
          <p:cNvGrpSpPr/>
          <p:nvPr/>
        </p:nvGrpSpPr>
        <p:grpSpPr>
          <a:xfrm>
            <a:off x="1912346" y="3067337"/>
            <a:ext cx="7040868" cy="793901"/>
            <a:chOff x="0" y="-28575"/>
            <a:chExt cx="1854385" cy="209093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854385" cy="180518"/>
            </a:xfrm>
            <a:custGeom>
              <a:rect b="b" l="l" r="r" t="t"/>
              <a:pathLst>
                <a:path extrusionOk="0" h="180518" w="1854385">
                  <a:moveTo>
                    <a:pt x="0" y="0"/>
                  </a:moveTo>
                  <a:lnTo>
                    <a:pt x="1854385" y="0"/>
                  </a:lnTo>
                  <a:lnTo>
                    <a:pt x="1854385" y="180518"/>
                  </a:lnTo>
                  <a:lnTo>
                    <a:pt x="0" y="180518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109" name="Google Shape;109;p2"/>
            <p:cNvSpPr txBox="1"/>
            <p:nvPr/>
          </p:nvSpPr>
          <p:spPr>
            <a:xfrm>
              <a:off x="0" y="-28575"/>
              <a:ext cx="1854385" cy="209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2"/>
          <p:cNvGrpSpPr/>
          <p:nvPr/>
        </p:nvGrpSpPr>
        <p:grpSpPr>
          <a:xfrm>
            <a:off x="2536983" y="3125233"/>
            <a:ext cx="4328671" cy="678108"/>
            <a:chOff x="0" y="-28575"/>
            <a:chExt cx="1140061" cy="178597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140061" cy="150022"/>
            </a:xfrm>
            <a:custGeom>
              <a:rect b="b" l="l" r="r" t="t"/>
              <a:pathLst>
                <a:path extrusionOk="0" h="150022" w="1140061">
                  <a:moveTo>
                    <a:pt x="0" y="0"/>
                  </a:moveTo>
                  <a:lnTo>
                    <a:pt x="1140061" y="0"/>
                  </a:lnTo>
                  <a:lnTo>
                    <a:pt x="1140061" y="150022"/>
                  </a:lnTo>
                  <a:lnTo>
                    <a:pt x="0" y="150022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0" y="-28575"/>
              <a:ext cx="1140061" cy="178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Contexto</a:t>
              </a:r>
              <a:endParaRPr/>
            </a:p>
          </p:txBody>
        </p:sp>
      </p:grpSp>
      <p:grpSp>
        <p:nvGrpSpPr>
          <p:cNvPr id="113" name="Google Shape;113;p2"/>
          <p:cNvGrpSpPr/>
          <p:nvPr/>
        </p:nvGrpSpPr>
        <p:grpSpPr>
          <a:xfrm>
            <a:off x="2065765" y="3291624"/>
            <a:ext cx="390035" cy="390035"/>
            <a:chOff x="0" y="0"/>
            <a:chExt cx="812800" cy="812800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2"/>
          <p:cNvSpPr txBox="1"/>
          <p:nvPr/>
        </p:nvSpPr>
        <p:spPr>
          <a:xfrm>
            <a:off x="2200651" y="3350406"/>
            <a:ext cx="177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1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5" u="none" cap="none" strike="noStrike">
                <a:solidFill>
                  <a:srgbClr val="10458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  <a:endParaRPr/>
          </a:p>
        </p:txBody>
      </p:sp>
      <p:grpSp>
        <p:nvGrpSpPr>
          <p:cNvPr id="117" name="Google Shape;117;p2"/>
          <p:cNvGrpSpPr/>
          <p:nvPr/>
        </p:nvGrpSpPr>
        <p:grpSpPr>
          <a:xfrm>
            <a:off x="1912346" y="3880798"/>
            <a:ext cx="7040868" cy="793901"/>
            <a:chOff x="0" y="-28575"/>
            <a:chExt cx="1854385" cy="209093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1854385" cy="180518"/>
            </a:xfrm>
            <a:custGeom>
              <a:rect b="b" l="l" r="r" t="t"/>
              <a:pathLst>
                <a:path extrusionOk="0" h="180518" w="1854385">
                  <a:moveTo>
                    <a:pt x="0" y="0"/>
                  </a:moveTo>
                  <a:lnTo>
                    <a:pt x="1854385" y="0"/>
                  </a:lnTo>
                  <a:lnTo>
                    <a:pt x="1854385" y="180518"/>
                  </a:lnTo>
                  <a:lnTo>
                    <a:pt x="0" y="180518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119" name="Google Shape;119;p2"/>
            <p:cNvSpPr txBox="1"/>
            <p:nvPr/>
          </p:nvSpPr>
          <p:spPr>
            <a:xfrm>
              <a:off x="0" y="-28575"/>
              <a:ext cx="1854385" cy="209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" name="Google Shape;120;p2"/>
          <p:cNvGrpSpPr/>
          <p:nvPr/>
        </p:nvGrpSpPr>
        <p:grpSpPr>
          <a:xfrm>
            <a:off x="2536983" y="3938694"/>
            <a:ext cx="3725598" cy="678108"/>
            <a:chOff x="0" y="-28575"/>
            <a:chExt cx="981227" cy="178597"/>
          </a:xfrm>
        </p:grpSpPr>
        <p:sp>
          <p:nvSpPr>
            <p:cNvPr id="121" name="Google Shape;121;p2"/>
            <p:cNvSpPr/>
            <p:nvPr/>
          </p:nvSpPr>
          <p:spPr>
            <a:xfrm>
              <a:off x="0" y="0"/>
              <a:ext cx="981227" cy="150022"/>
            </a:xfrm>
            <a:custGeom>
              <a:rect b="b" l="l" r="r" t="t"/>
              <a:pathLst>
                <a:path extrusionOk="0" h="150022" w="981227">
                  <a:moveTo>
                    <a:pt x="0" y="0"/>
                  </a:moveTo>
                  <a:lnTo>
                    <a:pt x="981227" y="0"/>
                  </a:lnTo>
                  <a:lnTo>
                    <a:pt x="981227" y="150022"/>
                  </a:lnTo>
                  <a:lnTo>
                    <a:pt x="0" y="150022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122" name="Google Shape;122;p2"/>
            <p:cNvSpPr txBox="1"/>
            <p:nvPr/>
          </p:nvSpPr>
          <p:spPr>
            <a:xfrm>
              <a:off x="0" y="-28575"/>
              <a:ext cx="981227" cy="178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Problemática</a:t>
              </a: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2065765" y="4105085"/>
            <a:ext cx="390035" cy="390035"/>
            <a:chOff x="0" y="0"/>
            <a:chExt cx="812800" cy="812800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2"/>
          <p:cNvSpPr txBox="1"/>
          <p:nvPr/>
        </p:nvSpPr>
        <p:spPr>
          <a:xfrm>
            <a:off x="2172076" y="4189424"/>
            <a:ext cx="177413" cy="294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1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5" u="none" cap="none" strike="noStrike">
                <a:solidFill>
                  <a:srgbClr val="10458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/>
          </a:p>
        </p:txBody>
      </p:sp>
      <p:grpSp>
        <p:nvGrpSpPr>
          <p:cNvPr id="127" name="Google Shape;127;p2"/>
          <p:cNvGrpSpPr/>
          <p:nvPr/>
        </p:nvGrpSpPr>
        <p:grpSpPr>
          <a:xfrm>
            <a:off x="1912346" y="4690027"/>
            <a:ext cx="7040868" cy="793901"/>
            <a:chOff x="0" y="-28575"/>
            <a:chExt cx="1854385" cy="209093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1854385" cy="180518"/>
            </a:xfrm>
            <a:custGeom>
              <a:rect b="b" l="l" r="r" t="t"/>
              <a:pathLst>
                <a:path extrusionOk="0" h="180518" w="1854385">
                  <a:moveTo>
                    <a:pt x="0" y="0"/>
                  </a:moveTo>
                  <a:lnTo>
                    <a:pt x="1854385" y="0"/>
                  </a:lnTo>
                  <a:lnTo>
                    <a:pt x="1854385" y="180518"/>
                  </a:lnTo>
                  <a:lnTo>
                    <a:pt x="0" y="180518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129" name="Google Shape;129;p2"/>
            <p:cNvSpPr txBox="1"/>
            <p:nvPr/>
          </p:nvSpPr>
          <p:spPr>
            <a:xfrm>
              <a:off x="0" y="-28575"/>
              <a:ext cx="1854385" cy="209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2536983" y="4756703"/>
            <a:ext cx="4989732" cy="678108"/>
            <a:chOff x="0" y="-28575"/>
            <a:chExt cx="1314168" cy="178597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1314168" cy="150022"/>
            </a:xfrm>
            <a:custGeom>
              <a:rect b="b" l="l" r="r" t="t"/>
              <a:pathLst>
                <a:path extrusionOk="0" h="150022" w="1314168">
                  <a:moveTo>
                    <a:pt x="0" y="0"/>
                  </a:moveTo>
                  <a:lnTo>
                    <a:pt x="1314168" y="0"/>
                  </a:lnTo>
                  <a:lnTo>
                    <a:pt x="1314168" y="150022"/>
                  </a:lnTo>
                  <a:lnTo>
                    <a:pt x="0" y="150022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132" name="Google Shape;132;p2"/>
            <p:cNvSpPr txBox="1"/>
            <p:nvPr/>
          </p:nvSpPr>
          <p:spPr>
            <a:xfrm>
              <a:off x="0" y="-28575"/>
              <a:ext cx="1314168" cy="178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Procesos actuales de la empresa</a:t>
              </a:r>
              <a:endParaRPr/>
            </a:p>
          </p:txBody>
        </p:sp>
      </p:grpSp>
      <p:grpSp>
        <p:nvGrpSpPr>
          <p:cNvPr id="133" name="Google Shape;133;p2"/>
          <p:cNvGrpSpPr/>
          <p:nvPr/>
        </p:nvGrpSpPr>
        <p:grpSpPr>
          <a:xfrm>
            <a:off x="2065765" y="4914315"/>
            <a:ext cx="390035" cy="390035"/>
            <a:chOff x="0" y="0"/>
            <a:chExt cx="812800" cy="812800"/>
          </a:xfrm>
        </p:grpSpPr>
        <p:sp>
          <p:nvSpPr>
            <p:cNvPr id="134" name="Google Shape;134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2"/>
          <p:cNvSpPr txBox="1"/>
          <p:nvPr/>
        </p:nvSpPr>
        <p:spPr>
          <a:xfrm>
            <a:off x="2172076" y="4998654"/>
            <a:ext cx="177413" cy="294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1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5" u="none" cap="none" strike="noStrike">
                <a:solidFill>
                  <a:srgbClr val="10458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endParaRPr/>
          </a:p>
        </p:txBody>
      </p:sp>
      <p:grpSp>
        <p:nvGrpSpPr>
          <p:cNvPr id="137" name="Google Shape;137;p2"/>
          <p:cNvGrpSpPr/>
          <p:nvPr/>
        </p:nvGrpSpPr>
        <p:grpSpPr>
          <a:xfrm>
            <a:off x="1912346" y="5499257"/>
            <a:ext cx="7040868" cy="793901"/>
            <a:chOff x="0" y="-28575"/>
            <a:chExt cx="1854385" cy="209093"/>
          </a:xfrm>
        </p:grpSpPr>
        <p:sp>
          <p:nvSpPr>
            <p:cNvPr id="138" name="Google Shape;138;p2"/>
            <p:cNvSpPr/>
            <p:nvPr/>
          </p:nvSpPr>
          <p:spPr>
            <a:xfrm>
              <a:off x="0" y="0"/>
              <a:ext cx="1854385" cy="180518"/>
            </a:xfrm>
            <a:custGeom>
              <a:rect b="b" l="l" r="r" t="t"/>
              <a:pathLst>
                <a:path extrusionOk="0" h="180518" w="1854385">
                  <a:moveTo>
                    <a:pt x="0" y="0"/>
                  </a:moveTo>
                  <a:lnTo>
                    <a:pt x="1854385" y="0"/>
                  </a:lnTo>
                  <a:lnTo>
                    <a:pt x="1854385" y="180518"/>
                  </a:lnTo>
                  <a:lnTo>
                    <a:pt x="0" y="180518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139" name="Google Shape;139;p2"/>
            <p:cNvSpPr txBox="1"/>
            <p:nvPr/>
          </p:nvSpPr>
          <p:spPr>
            <a:xfrm>
              <a:off x="0" y="-28575"/>
              <a:ext cx="1854385" cy="209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2"/>
          <p:cNvGrpSpPr/>
          <p:nvPr/>
        </p:nvGrpSpPr>
        <p:grpSpPr>
          <a:xfrm>
            <a:off x="2536983" y="5565933"/>
            <a:ext cx="4989732" cy="678108"/>
            <a:chOff x="0" y="-28575"/>
            <a:chExt cx="1314168" cy="178597"/>
          </a:xfrm>
        </p:grpSpPr>
        <p:sp>
          <p:nvSpPr>
            <p:cNvPr id="141" name="Google Shape;141;p2"/>
            <p:cNvSpPr/>
            <p:nvPr/>
          </p:nvSpPr>
          <p:spPr>
            <a:xfrm>
              <a:off x="0" y="0"/>
              <a:ext cx="1314168" cy="150022"/>
            </a:xfrm>
            <a:custGeom>
              <a:rect b="b" l="l" r="r" t="t"/>
              <a:pathLst>
                <a:path extrusionOk="0" h="150022" w="1314168">
                  <a:moveTo>
                    <a:pt x="0" y="0"/>
                  </a:moveTo>
                  <a:lnTo>
                    <a:pt x="1314168" y="0"/>
                  </a:lnTo>
                  <a:lnTo>
                    <a:pt x="1314168" y="150022"/>
                  </a:lnTo>
                  <a:lnTo>
                    <a:pt x="0" y="150022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142" name="Google Shape;142;p2"/>
            <p:cNvSpPr txBox="1"/>
            <p:nvPr/>
          </p:nvSpPr>
          <p:spPr>
            <a:xfrm>
              <a:off x="0" y="-28575"/>
              <a:ext cx="1314168" cy="178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Análisis interno - externo</a:t>
              </a:r>
              <a:endParaRPr/>
            </a:p>
          </p:txBody>
        </p:sp>
      </p:grpSp>
      <p:grpSp>
        <p:nvGrpSpPr>
          <p:cNvPr id="143" name="Google Shape;143;p2"/>
          <p:cNvGrpSpPr/>
          <p:nvPr/>
        </p:nvGrpSpPr>
        <p:grpSpPr>
          <a:xfrm>
            <a:off x="2065765" y="5723545"/>
            <a:ext cx="390035" cy="390035"/>
            <a:chOff x="0" y="0"/>
            <a:chExt cx="812800" cy="812800"/>
          </a:xfrm>
        </p:grpSpPr>
        <p:sp>
          <p:nvSpPr>
            <p:cNvPr id="144" name="Google Shape;144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2"/>
          <p:cNvSpPr txBox="1"/>
          <p:nvPr/>
        </p:nvSpPr>
        <p:spPr>
          <a:xfrm>
            <a:off x="2172076" y="5807884"/>
            <a:ext cx="177413" cy="294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1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5" u="none" cap="none" strike="noStrike">
                <a:solidFill>
                  <a:srgbClr val="10458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  <a:endParaRPr/>
          </a:p>
        </p:txBody>
      </p:sp>
      <p:grpSp>
        <p:nvGrpSpPr>
          <p:cNvPr id="147" name="Google Shape;147;p2"/>
          <p:cNvGrpSpPr/>
          <p:nvPr/>
        </p:nvGrpSpPr>
        <p:grpSpPr>
          <a:xfrm>
            <a:off x="1912346" y="6308487"/>
            <a:ext cx="7040868" cy="793901"/>
            <a:chOff x="0" y="-28575"/>
            <a:chExt cx="1854385" cy="209093"/>
          </a:xfrm>
        </p:grpSpPr>
        <p:sp>
          <p:nvSpPr>
            <p:cNvPr id="148" name="Google Shape;148;p2"/>
            <p:cNvSpPr/>
            <p:nvPr/>
          </p:nvSpPr>
          <p:spPr>
            <a:xfrm>
              <a:off x="0" y="0"/>
              <a:ext cx="1854385" cy="180518"/>
            </a:xfrm>
            <a:custGeom>
              <a:rect b="b" l="l" r="r" t="t"/>
              <a:pathLst>
                <a:path extrusionOk="0" h="180518" w="1854385">
                  <a:moveTo>
                    <a:pt x="0" y="0"/>
                  </a:moveTo>
                  <a:lnTo>
                    <a:pt x="1854385" y="0"/>
                  </a:lnTo>
                  <a:lnTo>
                    <a:pt x="1854385" y="180518"/>
                  </a:lnTo>
                  <a:lnTo>
                    <a:pt x="0" y="180518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149" name="Google Shape;149;p2"/>
            <p:cNvSpPr txBox="1"/>
            <p:nvPr/>
          </p:nvSpPr>
          <p:spPr>
            <a:xfrm>
              <a:off x="0" y="-28575"/>
              <a:ext cx="1854385" cy="209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2"/>
          <p:cNvGrpSpPr/>
          <p:nvPr/>
        </p:nvGrpSpPr>
        <p:grpSpPr>
          <a:xfrm>
            <a:off x="2536983" y="6375163"/>
            <a:ext cx="4989732" cy="678108"/>
            <a:chOff x="0" y="-28575"/>
            <a:chExt cx="1314168" cy="178597"/>
          </a:xfrm>
        </p:grpSpPr>
        <p:sp>
          <p:nvSpPr>
            <p:cNvPr id="151" name="Google Shape;151;p2"/>
            <p:cNvSpPr/>
            <p:nvPr/>
          </p:nvSpPr>
          <p:spPr>
            <a:xfrm>
              <a:off x="0" y="0"/>
              <a:ext cx="1314168" cy="150022"/>
            </a:xfrm>
            <a:custGeom>
              <a:rect b="b" l="l" r="r" t="t"/>
              <a:pathLst>
                <a:path extrusionOk="0" h="150022" w="1314168">
                  <a:moveTo>
                    <a:pt x="0" y="0"/>
                  </a:moveTo>
                  <a:lnTo>
                    <a:pt x="1314168" y="0"/>
                  </a:lnTo>
                  <a:lnTo>
                    <a:pt x="1314168" y="150022"/>
                  </a:lnTo>
                  <a:lnTo>
                    <a:pt x="0" y="150022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152" name="Google Shape;152;p2"/>
            <p:cNvSpPr txBox="1"/>
            <p:nvPr/>
          </p:nvSpPr>
          <p:spPr>
            <a:xfrm>
              <a:off x="0" y="-28575"/>
              <a:ext cx="1314168" cy="178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Análisis cuantitativo</a:t>
              </a:r>
              <a:endParaRPr/>
            </a:p>
          </p:txBody>
        </p:sp>
      </p:grpSp>
      <p:grpSp>
        <p:nvGrpSpPr>
          <p:cNvPr id="153" name="Google Shape;153;p2"/>
          <p:cNvGrpSpPr/>
          <p:nvPr/>
        </p:nvGrpSpPr>
        <p:grpSpPr>
          <a:xfrm>
            <a:off x="2065765" y="6532775"/>
            <a:ext cx="390035" cy="390035"/>
            <a:chOff x="0" y="0"/>
            <a:chExt cx="812800" cy="812800"/>
          </a:xfrm>
        </p:grpSpPr>
        <p:sp>
          <p:nvSpPr>
            <p:cNvPr id="154" name="Google Shape;154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2"/>
          <p:cNvSpPr txBox="1"/>
          <p:nvPr/>
        </p:nvSpPr>
        <p:spPr>
          <a:xfrm>
            <a:off x="2172076" y="6617114"/>
            <a:ext cx="177413" cy="294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1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5" u="none" cap="none" strike="noStrike">
                <a:solidFill>
                  <a:srgbClr val="10458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  <a:endParaRPr/>
          </a:p>
        </p:txBody>
      </p:sp>
      <p:grpSp>
        <p:nvGrpSpPr>
          <p:cNvPr id="157" name="Google Shape;157;p2"/>
          <p:cNvGrpSpPr/>
          <p:nvPr/>
        </p:nvGrpSpPr>
        <p:grpSpPr>
          <a:xfrm>
            <a:off x="9334785" y="3080347"/>
            <a:ext cx="7040868" cy="793901"/>
            <a:chOff x="0" y="-28575"/>
            <a:chExt cx="1854385" cy="209093"/>
          </a:xfrm>
        </p:grpSpPr>
        <p:sp>
          <p:nvSpPr>
            <p:cNvPr id="158" name="Google Shape;158;p2"/>
            <p:cNvSpPr/>
            <p:nvPr/>
          </p:nvSpPr>
          <p:spPr>
            <a:xfrm>
              <a:off x="0" y="0"/>
              <a:ext cx="1854385" cy="180518"/>
            </a:xfrm>
            <a:custGeom>
              <a:rect b="b" l="l" r="r" t="t"/>
              <a:pathLst>
                <a:path extrusionOk="0" h="180518" w="1854385">
                  <a:moveTo>
                    <a:pt x="0" y="0"/>
                  </a:moveTo>
                  <a:lnTo>
                    <a:pt x="1854385" y="0"/>
                  </a:lnTo>
                  <a:lnTo>
                    <a:pt x="1854385" y="180518"/>
                  </a:lnTo>
                  <a:lnTo>
                    <a:pt x="0" y="180518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159" name="Google Shape;159;p2"/>
            <p:cNvSpPr txBox="1"/>
            <p:nvPr/>
          </p:nvSpPr>
          <p:spPr>
            <a:xfrm>
              <a:off x="0" y="-28575"/>
              <a:ext cx="1854385" cy="209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2"/>
          <p:cNvGrpSpPr/>
          <p:nvPr/>
        </p:nvGrpSpPr>
        <p:grpSpPr>
          <a:xfrm>
            <a:off x="9959422" y="3147023"/>
            <a:ext cx="4989732" cy="678108"/>
            <a:chOff x="0" y="-28575"/>
            <a:chExt cx="1314168" cy="178597"/>
          </a:xfrm>
        </p:grpSpPr>
        <p:sp>
          <p:nvSpPr>
            <p:cNvPr id="161" name="Google Shape;161;p2"/>
            <p:cNvSpPr/>
            <p:nvPr/>
          </p:nvSpPr>
          <p:spPr>
            <a:xfrm>
              <a:off x="0" y="0"/>
              <a:ext cx="1314168" cy="150022"/>
            </a:xfrm>
            <a:custGeom>
              <a:rect b="b" l="l" r="r" t="t"/>
              <a:pathLst>
                <a:path extrusionOk="0" h="150022" w="1314168">
                  <a:moveTo>
                    <a:pt x="0" y="0"/>
                  </a:moveTo>
                  <a:lnTo>
                    <a:pt x="1314168" y="0"/>
                  </a:lnTo>
                  <a:lnTo>
                    <a:pt x="1314168" y="150022"/>
                  </a:lnTo>
                  <a:lnTo>
                    <a:pt x="0" y="150022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162" name="Google Shape;162;p2"/>
            <p:cNvSpPr txBox="1"/>
            <p:nvPr/>
          </p:nvSpPr>
          <p:spPr>
            <a:xfrm>
              <a:off x="0" y="-28575"/>
              <a:ext cx="1314168" cy="178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Análisis cualitativo</a:t>
              </a:r>
              <a:endParaRPr/>
            </a:p>
          </p:txBody>
        </p:sp>
      </p:grpSp>
      <p:grpSp>
        <p:nvGrpSpPr>
          <p:cNvPr id="163" name="Google Shape;163;p2"/>
          <p:cNvGrpSpPr/>
          <p:nvPr/>
        </p:nvGrpSpPr>
        <p:grpSpPr>
          <a:xfrm>
            <a:off x="9488204" y="3304634"/>
            <a:ext cx="390035" cy="390035"/>
            <a:chOff x="0" y="0"/>
            <a:chExt cx="812800" cy="812800"/>
          </a:xfrm>
        </p:grpSpPr>
        <p:sp>
          <p:nvSpPr>
            <p:cNvPr id="164" name="Google Shape;164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2"/>
          <p:cNvSpPr txBox="1"/>
          <p:nvPr/>
        </p:nvSpPr>
        <p:spPr>
          <a:xfrm>
            <a:off x="9594515" y="3388974"/>
            <a:ext cx="177413" cy="294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1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5" u="none" cap="none" strike="noStrike">
                <a:solidFill>
                  <a:srgbClr val="10458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  <a:endParaRPr/>
          </a:p>
        </p:txBody>
      </p:sp>
      <p:grpSp>
        <p:nvGrpSpPr>
          <p:cNvPr id="167" name="Google Shape;167;p2"/>
          <p:cNvGrpSpPr/>
          <p:nvPr/>
        </p:nvGrpSpPr>
        <p:grpSpPr>
          <a:xfrm>
            <a:off x="9334785" y="3889577"/>
            <a:ext cx="7040868" cy="793901"/>
            <a:chOff x="0" y="-28575"/>
            <a:chExt cx="1854385" cy="209093"/>
          </a:xfrm>
        </p:grpSpPr>
        <p:sp>
          <p:nvSpPr>
            <p:cNvPr id="168" name="Google Shape;168;p2"/>
            <p:cNvSpPr/>
            <p:nvPr/>
          </p:nvSpPr>
          <p:spPr>
            <a:xfrm>
              <a:off x="0" y="0"/>
              <a:ext cx="1854385" cy="180518"/>
            </a:xfrm>
            <a:custGeom>
              <a:rect b="b" l="l" r="r" t="t"/>
              <a:pathLst>
                <a:path extrusionOk="0" h="180518" w="1854385">
                  <a:moveTo>
                    <a:pt x="0" y="0"/>
                  </a:moveTo>
                  <a:lnTo>
                    <a:pt x="1854385" y="0"/>
                  </a:lnTo>
                  <a:lnTo>
                    <a:pt x="1854385" y="180518"/>
                  </a:lnTo>
                  <a:lnTo>
                    <a:pt x="0" y="180518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169" name="Google Shape;169;p2"/>
            <p:cNvSpPr txBox="1"/>
            <p:nvPr/>
          </p:nvSpPr>
          <p:spPr>
            <a:xfrm>
              <a:off x="0" y="-28575"/>
              <a:ext cx="1854385" cy="209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2"/>
          <p:cNvGrpSpPr/>
          <p:nvPr/>
        </p:nvGrpSpPr>
        <p:grpSpPr>
          <a:xfrm>
            <a:off x="9959422" y="3956253"/>
            <a:ext cx="4989732" cy="678108"/>
            <a:chOff x="0" y="-28575"/>
            <a:chExt cx="1314168" cy="178597"/>
          </a:xfrm>
        </p:grpSpPr>
        <p:sp>
          <p:nvSpPr>
            <p:cNvPr id="171" name="Google Shape;171;p2"/>
            <p:cNvSpPr/>
            <p:nvPr/>
          </p:nvSpPr>
          <p:spPr>
            <a:xfrm>
              <a:off x="0" y="0"/>
              <a:ext cx="1314168" cy="150022"/>
            </a:xfrm>
            <a:custGeom>
              <a:rect b="b" l="l" r="r" t="t"/>
              <a:pathLst>
                <a:path extrusionOk="0" h="150022" w="1314168">
                  <a:moveTo>
                    <a:pt x="0" y="0"/>
                  </a:moveTo>
                  <a:lnTo>
                    <a:pt x="1314168" y="0"/>
                  </a:lnTo>
                  <a:lnTo>
                    <a:pt x="1314168" y="150022"/>
                  </a:lnTo>
                  <a:lnTo>
                    <a:pt x="0" y="150022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172" name="Google Shape;172;p2"/>
            <p:cNvSpPr txBox="1"/>
            <p:nvPr/>
          </p:nvSpPr>
          <p:spPr>
            <a:xfrm>
              <a:off x="0" y="-28575"/>
              <a:ext cx="1314168" cy="178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Objetivos</a:t>
              </a:r>
              <a:endParaRPr/>
            </a:p>
          </p:txBody>
        </p:sp>
      </p:grpSp>
      <p:grpSp>
        <p:nvGrpSpPr>
          <p:cNvPr id="173" name="Google Shape;173;p2"/>
          <p:cNvGrpSpPr/>
          <p:nvPr/>
        </p:nvGrpSpPr>
        <p:grpSpPr>
          <a:xfrm>
            <a:off x="9488204" y="4113864"/>
            <a:ext cx="390035" cy="390035"/>
            <a:chOff x="0" y="0"/>
            <a:chExt cx="812800" cy="812800"/>
          </a:xfrm>
        </p:grpSpPr>
        <p:sp>
          <p:nvSpPr>
            <p:cNvPr id="174" name="Google Shape;174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2"/>
          <p:cNvSpPr txBox="1"/>
          <p:nvPr/>
        </p:nvSpPr>
        <p:spPr>
          <a:xfrm>
            <a:off x="9594515" y="4198204"/>
            <a:ext cx="177413" cy="294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1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5" u="none" cap="none" strike="noStrike">
                <a:solidFill>
                  <a:srgbClr val="10458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</a:t>
            </a:r>
            <a:endParaRPr/>
          </a:p>
        </p:txBody>
      </p:sp>
      <p:grpSp>
        <p:nvGrpSpPr>
          <p:cNvPr id="177" name="Google Shape;177;p2"/>
          <p:cNvGrpSpPr/>
          <p:nvPr/>
        </p:nvGrpSpPr>
        <p:grpSpPr>
          <a:xfrm>
            <a:off x="9334785" y="4698807"/>
            <a:ext cx="7040868" cy="793901"/>
            <a:chOff x="0" y="-28575"/>
            <a:chExt cx="1854385" cy="209093"/>
          </a:xfrm>
        </p:grpSpPr>
        <p:sp>
          <p:nvSpPr>
            <p:cNvPr id="178" name="Google Shape;178;p2"/>
            <p:cNvSpPr/>
            <p:nvPr/>
          </p:nvSpPr>
          <p:spPr>
            <a:xfrm>
              <a:off x="0" y="0"/>
              <a:ext cx="1854385" cy="180518"/>
            </a:xfrm>
            <a:custGeom>
              <a:rect b="b" l="l" r="r" t="t"/>
              <a:pathLst>
                <a:path extrusionOk="0" h="180518" w="1854385">
                  <a:moveTo>
                    <a:pt x="0" y="0"/>
                  </a:moveTo>
                  <a:lnTo>
                    <a:pt x="1854385" y="0"/>
                  </a:lnTo>
                  <a:lnTo>
                    <a:pt x="1854385" y="180518"/>
                  </a:lnTo>
                  <a:lnTo>
                    <a:pt x="0" y="180518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179" name="Google Shape;179;p2"/>
            <p:cNvSpPr txBox="1"/>
            <p:nvPr/>
          </p:nvSpPr>
          <p:spPr>
            <a:xfrm>
              <a:off x="0" y="-28575"/>
              <a:ext cx="1854385" cy="209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" name="Google Shape;180;p2"/>
          <p:cNvGrpSpPr/>
          <p:nvPr/>
        </p:nvGrpSpPr>
        <p:grpSpPr>
          <a:xfrm>
            <a:off x="9959422" y="4765483"/>
            <a:ext cx="4989732" cy="678108"/>
            <a:chOff x="0" y="-28575"/>
            <a:chExt cx="1314168" cy="178597"/>
          </a:xfrm>
        </p:grpSpPr>
        <p:sp>
          <p:nvSpPr>
            <p:cNvPr id="181" name="Google Shape;181;p2"/>
            <p:cNvSpPr/>
            <p:nvPr/>
          </p:nvSpPr>
          <p:spPr>
            <a:xfrm>
              <a:off x="0" y="0"/>
              <a:ext cx="1314168" cy="150022"/>
            </a:xfrm>
            <a:custGeom>
              <a:rect b="b" l="l" r="r" t="t"/>
              <a:pathLst>
                <a:path extrusionOk="0" h="150022" w="1314168">
                  <a:moveTo>
                    <a:pt x="0" y="0"/>
                  </a:moveTo>
                  <a:lnTo>
                    <a:pt x="1314168" y="0"/>
                  </a:lnTo>
                  <a:lnTo>
                    <a:pt x="1314168" y="150022"/>
                  </a:lnTo>
                  <a:lnTo>
                    <a:pt x="0" y="150022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182" name="Google Shape;182;p2"/>
            <p:cNvSpPr txBox="1"/>
            <p:nvPr/>
          </p:nvSpPr>
          <p:spPr>
            <a:xfrm>
              <a:off x="0" y="-28575"/>
              <a:ext cx="1314168" cy="178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Requerimientos</a:t>
              </a:r>
              <a:endParaRPr/>
            </a:p>
          </p:txBody>
        </p:sp>
      </p:grpSp>
      <p:grpSp>
        <p:nvGrpSpPr>
          <p:cNvPr id="183" name="Google Shape;183;p2"/>
          <p:cNvGrpSpPr/>
          <p:nvPr/>
        </p:nvGrpSpPr>
        <p:grpSpPr>
          <a:xfrm>
            <a:off x="9488204" y="4923094"/>
            <a:ext cx="390035" cy="390035"/>
            <a:chOff x="0" y="0"/>
            <a:chExt cx="812800" cy="812800"/>
          </a:xfrm>
        </p:grpSpPr>
        <p:sp>
          <p:nvSpPr>
            <p:cNvPr id="184" name="Google Shape;184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p2"/>
          <p:cNvSpPr txBox="1"/>
          <p:nvPr/>
        </p:nvSpPr>
        <p:spPr>
          <a:xfrm>
            <a:off x="9594515" y="5007434"/>
            <a:ext cx="177413" cy="294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1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5" u="none" cap="none" strike="noStrike">
                <a:solidFill>
                  <a:srgbClr val="10458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</a:t>
            </a:r>
            <a:endParaRPr/>
          </a:p>
        </p:txBody>
      </p:sp>
      <p:grpSp>
        <p:nvGrpSpPr>
          <p:cNvPr id="187" name="Google Shape;187;p2"/>
          <p:cNvGrpSpPr/>
          <p:nvPr/>
        </p:nvGrpSpPr>
        <p:grpSpPr>
          <a:xfrm>
            <a:off x="9334785" y="5508037"/>
            <a:ext cx="7040868" cy="793901"/>
            <a:chOff x="0" y="-28575"/>
            <a:chExt cx="1854385" cy="209093"/>
          </a:xfrm>
        </p:grpSpPr>
        <p:sp>
          <p:nvSpPr>
            <p:cNvPr id="188" name="Google Shape;188;p2"/>
            <p:cNvSpPr/>
            <p:nvPr/>
          </p:nvSpPr>
          <p:spPr>
            <a:xfrm>
              <a:off x="0" y="0"/>
              <a:ext cx="1854385" cy="180518"/>
            </a:xfrm>
            <a:custGeom>
              <a:rect b="b" l="l" r="r" t="t"/>
              <a:pathLst>
                <a:path extrusionOk="0" h="180518" w="1854385">
                  <a:moveTo>
                    <a:pt x="0" y="0"/>
                  </a:moveTo>
                  <a:lnTo>
                    <a:pt x="1854385" y="0"/>
                  </a:lnTo>
                  <a:lnTo>
                    <a:pt x="1854385" y="180518"/>
                  </a:lnTo>
                  <a:lnTo>
                    <a:pt x="0" y="180518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189" name="Google Shape;189;p2"/>
            <p:cNvSpPr txBox="1"/>
            <p:nvPr/>
          </p:nvSpPr>
          <p:spPr>
            <a:xfrm>
              <a:off x="0" y="-28575"/>
              <a:ext cx="1854385" cy="209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0" name="Google Shape;190;p2"/>
          <p:cNvGrpSpPr/>
          <p:nvPr/>
        </p:nvGrpSpPr>
        <p:grpSpPr>
          <a:xfrm>
            <a:off x="9959422" y="5574713"/>
            <a:ext cx="5337659" cy="678108"/>
            <a:chOff x="0" y="-28575"/>
            <a:chExt cx="1405803" cy="178597"/>
          </a:xfrm>
        </p:grpSpPr>
        <p:sp>
          <p:nvSpPr>
            <p:cNvPr id="191" name="Google Shape;191;p2"/>
            <p:cNvSpPr/>
            <p:nvPr/>
          </p:nvSpPr>
          <p:spPr>
            <a:xfrm>
              <a:off x="0" y="0"/>
              <a:ext cx="1405803" cy="150022"/>
            </a:xfrm>
            <a:custGeom>
              <a:rect b="b" l="l" r="r" t="t"/>
              <a:pathLst>
                <a:path extrusionOk="0" h="150022" w="1405803">
                  <a:moveTo>
                    <a:pt x="0" y="0"/>
                  </a:moveTo>
                  <a:lnTo>
                    <a:pt x="1405803" y="0"/>
                  </a:lnTo>
                  <a:lnTo>
                    <a:pt x="1405803" y="150022"/>
                  </a:lnTo>
                  <a:lnTo>
                    <a:pt x="0" y="150022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192" name="Google Shape;192;p2"/>
            <p:cNvSpPr txBox="1"/>
            <p:nvPr/>
          </p:nvSpPr>
          <p:spPr>
            <a:xfrm>
              <a:off x="0" y="-28575"/>
              <a:ext cx="1405803" cy="178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Traza de requerimientos a casos de uso</a:t>
              </a:r>
              <a:endParaRPr/>
            </a:p>
          </p:txBody>
        </p:sp>
      </p:grpSp>
      <p:grpSp>
        <p:nvGrpSpPr>
          <p:cNvPr id="193" name="Google Shape;193;p2"/>
          <p:cNvGrpSpPr/>
          <p:nvPr/>
        </p:nvGrpSpPr>
        <p:grpSpPr>
          <a:xfrm>
            <a:off x="9488204" y="5732324"/>
            <a:ext cx="390035" cy="390035"/>
            <a:chOff x="0" y="0"/>
            <a:chExt cx="812800" cy="812800"/>
          </a:xfrm>
        </p:grpSpPr>
        <p:sp>
          <p:nvSpPr>
            <p:cNvPr id="194" name="Google Shape;194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2"/>
          <p:cNvSpPr txBox="1"/>
          <p:nvPr/>
        </p:nvSpPr>
        <p:spPr>
          <a:xfrm>
            <a:off x="9594515" y="5816664"/>
            <a:ext cx="177413" cy="294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1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5" u="none" cap="none" strike="noStrike">
                <a:solidFill>
                  <a:srgbClr val="10458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</a:t>
            </a:r>
            <a:endParaRPr/>
          </a:p>
        </p:txBody>
      </p:sp>
      <p:grpSp>
        <p:nvGrpSpPr>
          <p:cNvPr id="197" name="Google Shape;197;p2"/>
          <p:cNvGrpSpPr/>
          <p:nvPr/>
        </p:nvGrpSpPr>
        <p:grpSpPr>
          <a:xfrm>
            <a:off x="9334785" y="6317267"/>
            <a:ext cx="7040868" cy="793901"/>
            <a:chOff x="0" y="-28575"/>
            <a:chExt cx="1854385" cy="209093"/>
          </a:xfrm>
        </p:grpSpPr>
        <p:sp>
          <p:nvSpPr>
            <p:cNvPr id="198" name="Google Shape;198;p2"/>
            <p:cNvSpPr/>
            <p:nvPr/>
          </p:nvSpPr>
          <p:spPr>
            <a:xfrm>
              <a:off x="0" y="0"/>
              <a:ext cx="1854385" cy="180518"/>
            </a:xfrm>
            <a:custGeom>
              <a:rect b="b" l="l" r="r" t="t"/>
              <a:pathLst>
                <a:path extrusionOk="0" h="180518" w="1854385">
                  <a:moveTo>
                    <a:pt x="0" y="0"/>
                  </a:moveTo>
                  <a:lnTo>
                    <a:pt x="1854385" y="0"/>
                  </a:lnTo>
                  <a:lnTo>
                    <a:pt x="1854385" y="180518"/>
                  </a:lnTo>
                  <a:lnTo>
                    <a:pt x="0" y="180518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199" name="Google Shape;199;p2"/>
            <p:cNvSpPr txBox="1"/>
            <p:nvPr/>
          </p:nvSpPr>
          <p:spPr>
            <a:xfrm>
              <a:off x="0" y="-28575"/>
              <a:ext cx="1854385" cy="209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2"/>
          <p:cNvGrpSpPr/>
          <p:nvPr/>
        </p:nvGrpSpPr>
        <p:grpSpPr>
          <a:xfrm>
            <a:off x="9959422" y="6383943"/>
            <a:ext cx="5337659" cy="678108"/>
            <a:chOff x="0" y="-28575"/>
            <a:chExt cx="1405803" cy="178597"/>
          </a:xfrm>
        </p:grpSpPr>
        <p:sp>
          <p:nvSpPr>
            <p:cNvPr id="201" name="Google Shape;201;p2"/>
            <p:cNvSpPr/>
            <p:nvPr/>
          </p:nvSpPr>
          <p:spPr>
            <a:xfrm>
              <a:off x="0" y="0"/>
              <a:ext cx="1405803" cy="150022"/>
            </a:xfrm>
            <a:custGeom>
              <a:rect b="b" l="l" r="r" t="t"/>
              <a:pathLst>
                <a:path extrusionOk="0" h="150022" w="1405803">
                  <a:moveTo>
                    <a:pt x="0" y="0"/>
                  </a:moveTo>
                  <a:lnTo>
                    <a:pt x="1405803" y="0"/>
                  </a:lnTo>
                  <a:lnTo>
                    <a:pt x="1405803" y="150022"/>
                  </a:lnTo>
                  <a:lnTo>
                    <a:pt x="0" y="150022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202" name="Google Shape;202;p2"/>
            <p:cNvSpPr txBox="1"/>
            <p:nvPr/>
          </p:nvSpPr>
          <p:spPr>
            <a:xfrm>
              <a:off x="0" y="-28575"/>
              <a:ext cx="1405803" cy="178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Diagramas de caso de uso</a:t>
              </a:r>
              <a:endParaRPr/>
            </a:p>
          </p:txBody>
        </p:sp>
      </p:grpSp>
      <p:grpSp>
        <p:nvGrpSpPr>
          <p:cNvPr id="203" name="Google Shape;203;p2"/>
          <p:cNvGrpSpPr/>
          <p:nvPr/>
        </p:nvGrpSpPr>
        <p:grpSpPr>
          <a:xfrm>
            <a:off x="9488204" y="6541554"/>
            <a:ext cx="390063" cy="390063"/>
            <a:chOff x="0" y="0"/>
            <a:chExt cx="812800" cy="812800"/>
          </a:xfrm>
        </p:grpSpPr>
        <p:sp>
          <p:nvSpPr>
            <p:cNvPr id="204" name="Google Shape;204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2"/>
          <p:cNvSpPr txBox="1"/>
          <p:nvPr/>
        </p:nvSpPr>
        <p:spPr>
          <a:xfrm>
            <a:off x="9551896" y="6586298"/>
            <a:ext cx="364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1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5" u="none" cap="none" strike="noStrike">
                <a:solidFill>
                  <a:srgbClr val="10458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3"/>
          <p:cNvGrpSpPr/>
          <p:nvPr/>
        </p:nvGrpSpPr>
        <p:grpSpPr>
          <a:xfrm>
            <a:off x="0" y="-144661"/>
            <a:ext cx="18288000" cy="1583907"/>
            <a:chOff x="0" y="-38100"/>
            <a:chExt cx="4816593" cy="417161"/>
          </a:xfrm>
        </p:grpSpPr>
        <p:sp>
          <p:nvSpPr>
            <p:cNvPr id="212" name="Google Shape;212;p3"/>
            <p:cNvSpPr/>
            <p:nvPr/>
          </p:nvSpPr>
          <p:spPr>
            <a:xfrm>
              <a:off x="0" y="0"/>
              <a:ext cx="4816592" cy="379061"/>
            </a:xfrm>
            <a:custGeom>
              <a:rect b="b" l="l" r="r" t="t"/>
              <a:pathLst>
                <a:path extrusionOk="0" h="37906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9061"/>
                  </a:lnTo>
                  <a:lnTo>
                    <a:pt x="0" y="379061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213" name="Google Shape;213;p3"/>
            <p:cNvSpPr txBox="1"/>
            <p:nvPr/>
          </p:nvSpPr>
          <p:spPr>
            <a:xfrm>
              <a:off x="0" y="-38100"/>
              <a:ext cx="4816593" cy="417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3"/>
          <p:cNvSpPr/>
          <p:nvPr/>
        </p:nvSpPr>
        <p:spPr>
          <a:xfrm>
            <a:off x="16667374" y="101426"/>
            <a:ext cx="1482029" cy="1236420"/>
          </a:xfrm>
          <a:custGeom>
            <a:rect b="b" l="l" r="r" t="t"/>
            <a:pathLst>
              <a:path extrusionOk="0" h="1200023" w="1438402">
                <a:moveTo>
                  <a:pt x="0" y="0"/>
                </a:moveTo>
                <a:lnTo>
                  <a:pt x="1438402" y="0"/>
                </a:lnTo>
                <a:lnTo>
                  <a:pt x="1438402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-2" t="0"/>
            </a:stretch>
          </a:blipFill>
          <a:ln>
            <a:noFill/>
          </a:ln>
        </p:spPr>
      </p:sp>
      <p:sp>
        <p:nvSpPr>
          <p:cNvPr id="215" name="Google Shape;215;p3"/>
          <p:cNvSpPr txBox="1"/>
          <p:nvPr/>
        </p:nvSpPr>
        <p:spPr>
          <a:xfrm>
            <a:off x="318043" y="348369"/>
            <a:ext cx="12277358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6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Contexto</a:t>
            </a:r>
            <a:endParaRPr/>
          </a:p>
        </p:txBody>
      </p:sp>
      <p:grpSp>
        <p:nvGrpSpPr>
          <p:cNvPr id="216" name="Google Shape;216;p3"/>
          <p:cNvGrpSpPr/>
          <p:nvPr/>
        </p:nvGrpSpPr>
        <p:grpSpPr>
          <a:xfrm>
            <a:off x="1028700" y="1880066"/>
            <a:ext cx="7725124" cy="2846669"/>
            <a:chOff x="0" y="-28575"/>
            <a:chExt cx="2034601" cy="749740"/>
          </a:xfrm>
        </p:grpSpPr>
        <p:sp>
          <p:nvSpPr>
            <p:cNvPr id="217" name="Google Shape;217;p3"/>
            <p:cNvSpPr/>
            <p:nvPr/>
          </p:nvSpPr>
          <p:spPr>
            <a:xfrm>
              <a:off x="0" y="0"/>
              <a:ext cx="2034601" cy="721165"/>
            </a:xfrm>
            <a:custGeom>
              <a:rect b="b" l="l" r="r" t="t"/>
              <a:pathLst>
                <a:path extrusionOk="0" h="721165" w="2034601">
                  <a:moveTo>
                    <a:pt x="10022" y="0"/>
                  </a:moveTo>
                  <a:lnTo>
                    <a:pt x="2024579" y="0"/>
                  </a:lnTo>
                  <a:cubicBezTo>
                    <a:pt x="2027237" y="0"/>
                    <a:pt x="2029786" y="1056"/>
                    <a:pt x="2031665" y="2935"/>
                  </a:cubicBezTo>
                  <a:cubicBezTo>
                    <a:pt x="2033545" y="4815"/>
                    <a:pt x="2034601" y="7364"/>
                    <a:pt x="2034601" y="10022"/>
                  </a:cubicBezTo>
                  <a:lnTo>
                    <a:pt x="2034601" y="711143"/>
                  </a:lnTo>
                  <a:cubicBezTo>
                    <a:pt x="2034601" y="713801"/>
                    <a:pt x="2033545" y="716350"/>
                    <a:pt x="2031665" y="718230"/>
                  </a:cubicBezTo>
                  <a:cubicBezTo>
                    <a:pt x="2029786" y="720109"/>
                    <a:pt x="2027237" y="721165"/>
                    <a:pt x="2024579" y="721165"/>
                  </a:cubicBezTo>
                  <a:lnTo>
                    <a:pt x="10022" y="721165"/>
                  </a:lnTo>
                  <a:cubicBezTo>
                    <a:pt x="7364" y="721165"/>
                    <a:pt x="4815" y="720109"/>
                    <a:pt x="2935" y="718230"/>
                  </a:cubicBezTo>
                  <a:cubicBezTo>
                    <a:pt x="1056" y="716350"/>
                    <a:pt x="0" y="713801"/>
                    <a:pt x="0" y="711143"/>
                  </a:cubicBezTo>
                  <a:lnTo>
                    <a:pt x="0" y="10022"/>
                  </a:lnTo>
                  <a:cubicBezTo>
                    <a:pt x="0" y="7364"/>
                    <a:pt x="1056" y="4815"/>
                    <a:pt x="2935" y="2935"/>
                  </a:cubicBezTo>
                  <a:cubicBezTo>
                    <a:pt x="4815" y="1056"/>
                    <a:pt x="7364" y="0"/>
                    <a:pt x="10022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3"/>
            <p:cNvSpPr txBox="1"/>
            <p:nvPr/>
          </p:nvSpPr>
          <p:spPr>
            <a:xfrm>
              <a:off x="0" y="-28575"/>
              <a:ext cx="2034601" cy="749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9" name="Google Shape;219;p3"/>
          <p:cNvSpPr/>
          <p:nvPr/>
        </p:nvSpPr>
        <p:spPr>
          <a:xfrm>
            <a:off x="9666563" y="1988562"/>
            <a:ext cx="8075444" cy="7699820"/>
          </a:xfrm>
          <a:custGeom>
            <a:rect b="b" l="l" r="r" t="t"/>
            <a:pathLst>
              <a:path extrusionOk="0" h="10266426" w="10767258">
                <a:moveTo>
                  <a:pt x="0" y="0"/>
                </a:moveTo>
                <a:lnTo>
                  <a:pt x="10767258" y="0"/>
                </a:lnTo>
                <a:lnTo>
                  <a:pt x="10767258" y="10266426"/>
                </a:lnTo>
                <a:lnTo>
                  <a:pt x="0" y="10266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4726" r="-34726" t="0"/>
            </a:stretch>
          </a:blipFill>
          <a:ln>
            <a:noFill/>
          </a:ln>
        </p:spPr>
      </p:sp>
      <p:grpSp>
        <p:nvGrpSpPr>
          <p:cNvPr id="220" name="Google Shape;220;p3"/>
          <p:cNvGrpSpPr/>
          <p:nvPr/>
        </p:nvGrpSpPr>
        <p:grpSpPr>
          <a:xfrm>
            <a:off x="1028700" y="5207531"/>
            <a:ext cx="7725124" cy="2000047"/>
            <a:chOff x="0" y="-28575"/>
            <a:chExt cx="2034601" cy="526761"/>
          </a:xfrm>
        </p:grpSpPr>
        <p:sp>
          <p:nvSpPr>
            <p:cNvPr id="221" name="Google Shape;221;p3"/>
            <p:cNvSpPr/>
            <p:nvPr/>
          </p:nvSpPr>
          <p:spPr>
            <a:xfrm>
              <a:off x="0" y="0"/>
              <a:ext cx="2034601" cy="498186"/>
            </a:xfrm>
            <a:custGeom>
              <a:rect b="b" l="l" r="r" t="t"/>
              <a:pathLst>
                <a:path extrusionOk="0" h="498186" w="2034601">
                  <a:moveTo>
                    <a:pt x="10022" y="0"/>
                  </a:moveTo>
                  <a:lnTo>
                    <a:pt x="2024579" y="0"/>
                  </a:lnTo>
                  <a:cubicBezTo>
                    <a:pt x="2027237" y="0"/>
                    <a:pt x="2029786" y="1056"/>
                    <a:pt x="2031665" y="2935"/>
                  </a:cubicBezTo>
                  <a:cubicBezTo>
                    <a:pt x="2033545" y="4815"/>
                    <a:pt x="2034601" y="7364"/>
                    <a:pt x="2034601" y="10022"/>
                  </a:cubicBezTo>
                  <a:lnTo>
                    <a:pt x="2034601" y="488165"/>
                  </a:lnTo>
                  <a:cubicBezTo>
                    <a:pt x="2034601" y="493699"/>
                    <a:pt x="2030114" y="498186"/>
                    <a:pt x="2024579" y="498186"/>
                  </a:cubicBezTo>
                  <a:lnTo>
                    <a:pt x="10022" y="498186"/>
                  </a:lnTo>
                  <a:cubicBezTo>
                    <a:pt x="7364" y="498186"/>
                    <a:pt x="4815" y="497131"/>
                    <a:pt x="2935" y="495251"/>
                  </a:cubicBezTo>
                  <a:cubicBezTo>
                    <a:pt x="1056" y="493372"/>
                    <a:pt x="0" y="490823"/>
                    <a:pt x="0" y="488165"/>
                  </a:cubicBezTo>
                  <a:lnTo>
                    <a:pt x="0" y="10022"/>
                  </a:lnTo>
                  <a:cubicBezTo>
                    <a:pt x="0" y="7364"/>
                    <a:pt x="1056" y="4815"/>
                    <a:pt x="2935" y="2935"/>
                  </a:cubicBezTo>
                  <a:cubicBezTo>
                    <a:pt x="4815" y="1056"/>
                    <a:pt x="7364" y="0"/>
                    <a:pt x="10022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"/>
            <p:cNvSpPr txBox="1"/>
            <p:nvPr/>
          </p:nvSpPr>
          <p:spPr>
            <a:xfrm>
              <a:off x="0" y="-28575"/>
              <a:ext cx="2034601" cy="5267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" name="Google Shape;223;p3"/>
          <p:cNvGrpSpPr/>
          <p:nvPr/>
        </p:nvGrpSpPr>
        <p:grpSpPr>
          <a:xfrm>
            <a:off x="1028700" y="7688373"/>
            <a:ext cx="7725124" cy="2000047"/>
            <a:chOff x="0" y="-28575"/>
            <a:chExt cx="2034601" cy="526761"/>
          </a:xfrm>
        </p:grpSpPr>
        <p:sp>
          <p:nvSpPr>
            <p:cNvPr id="224" name="Google Shape;224;p3"/>
            <p:cNvSpPr/>
            <p:nvPr/>
          </p:nvSpPr>
          <p:spPr>
            <a:xfrm>
              <a:off x="0" y="0"/>
              <a:ext cx="2034601" cy="498186"/>
            </a:xfrm>
            <a:custGeom>
              <a:rect b="b" l="l" r="r" t="t"/>
              <a:pathLst>
                <a:path extrusionOk="0" h="498186" w="2034601">
                  <a:moveTo>
                    <a:pt x="10022" y="0"/>
                  </a:moveTo>
                  <a:lnTo>
                    <a:pt x="2024579" y="0"/>
                  </a:lnTo>
                  <a:cubicBezTo>
                    <a:pt x="2027237" y="0"/>
                    <a:pt x="2029786" y="1056"/>
                    <a:pt x="2031665" y="2935"/>
                  </a:cubicBezTo>
                  <a:cubicBezTo>
                    <a:pt x="2033545" y="4815"/>
                    <a:pt x="2034601" y="7364"/>
                    <a:pt x="2034601" y="10022"/>
                  </a:cubicBezTo>
                  <a:lnTo>
                    <a:pt x="2034601" y="488165"/>
                  </a:lnTo>
                  <a:cubicBezTo>
                    <a:pt x="2034601" y="493699"/>
                    <a:pt x="2030114" y="498186"/>
                    <a:pt x="2024579" y="498186"/>
                  </a:cubicBezTo>
                  <a:lnTo>
                    <a:pt x="10022" y="498186"/>
                  </a:lnTo>
                  <a:cubicBezTo>
                    <a:pt x="7364" y="498186"/>
                    <a:pt x="4815" y="497131"/>
                    <a:pt x="2935" y="495251"/>
                  </a:cubicBezTo>
                  <a:cubicBezTo>
                    <a:pt x="1056" y="493372"/>
                    <a:pt x="0" y="490823"/>
                    <a:pt x="0" y="488165"/>
                  </a:cubicBezTo>
                  <a:lnTo>
                    <a:pt x="0" y="10022"/>
                  </a:lnTo>
                  <a:cubicBezTo>
                    <a:pt x="0" y="7364"/>
                    <a:pt x="1056" y="4815"/>
                    <a:pt x="2935" y="2935"/>
                  </a:cubicBezTo>
                  <a:cubicBezTo>
                    <a:pt x="4815" y="1056"/>
                    <a:pt x="7364" y="0"/>
                    <a:pt x="10022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"/>
            <p:cNvSpPr txBox="1"/>
            <p:nvPr/>
          </p:nvSpPr>
          <p:spPr>
            <a:xfrm>
              <a:off x="0" y="-28575"/>
              <a:ext cx="2034601" cy="5267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3"/>
          <p:cNvSpPr txBox="1"/>
          <p:nvPr/>
        </p:nvSpPr>
        <p:spPr>
          <a:xfrm>
            <a:off x="1328662" y="5605224"/>
            <a:ext cx="3047225" cy="466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Visión</a:t>
            </a:r>
            <a:endParaRPr/>
          </a:p>
        </p:txBody>
      </p:sp>
      <p:sp>
        <p:nvSpPr>
          <p:cNvPr id="227" name="Google Shape;227;p3"/>
          <p:cNvSpPr txBox="1"/>
          <p:nvPr/>
        </p:nvSpPr>
        <p:spPr>
          <a:xfrm>
            <a:off x="1328662" y="8083878"/>
            <a:ext cx="3047225" cy="466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Misión</a:t>
            </a:r>
            <a:endParaRPr/>
          </a:p>
        </p:txBody>
      </p:sp>
      <p:sp>
        <p:nvSpPr>
          <p:cNvPr id="228" name="Google Shape;228;p3"/>
          <p:cNvSpPr txBox="1"/>
          <p:nvPr/>
        </p:nvSpPr>
        <p:spPr>
          <a:xfrm>
            <a:off x="1328662" y="2278356"/>
            <a:ext cx="4380945" cy="466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Puertas blindadas</a:t>
            </a:r>
            <a:endParaRPr/>
          </a:p>
        </p:txBody>
      </p:sp>
      <p:sp>
        <p:nvSpPr>
          <p:cNvPr id="229" name="Google Shape;229;p3"/>
          <p:cNvSpPr txBox="1"/>
          <p:nvPr/>
        </p:nvSpPr>
        <p:spPr>
          <a:xfrm>
            <a:off x="1133269" y="2838651"/>
            <a:ext cx="7515986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4" u="none" cap="none" strike="noStrike">
                <a:solidFill>
                  <a:srgbClr val="D4D4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Empresa con 20 años de trayectoria dedicada a la fabricación, venta e instalación de puertas blindadas atiende a clientes residenciales (B2C) y empresariales (B2B).</a:t>
            </a:r>
            <a:endParaRPr/>
          </a:p>
          <a:p>
            <a:pPr indent="0" lvl="0" marL="0" marR="0" rtl="0" algn="just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44" u="none" cap="none" strike="noStrike">
              <a:solidFill>
                <a:srgbClr val="D4D4D4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0" lvl="0" marL="0" marR="0" rtl="0" algn="just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4" u="none" cap="none" strike="noStrike">
                <a:solidFill>
                  <a:srgbClr val="D4D4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 experimentado un crecimiento sostenido, aumentando la complejidad operativa.</a:t>
            </a:r>
            <a:endParaRPr/>
          </a:p>
          <a:p>
            <a:pPr indent="0" lvl="0" marL="0" marR="0" rtl="0" algn="just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44" u="none" cap="none" strike="noStrike">
              <a:solidFill>
                <a:srgbClr val="D4D4D4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0" lvl="0" marL="0" marR="0" rtl="0" algn="just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4" u="none" cap="none" strike="noStrike">
                <a:solidFill>
                  <a:srgbClr val="D4D4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Empresa con necesidad de implementar una solución tecnológica que permita integrar las distintas áreas de la empresa, optimizar la gestión de la información y mejorar la eficiencia operativa.</a:t>
            </a:r>
            <a:endParaRPr/>
          </a:p>
        </p:txBody>
      </p:sp>
      <p:sp>
        <p:nvSpPr>
          <p:cNvPr id="230" name="Google Shape;230;p3"/>
          <p:cNvSpPr txBox="1"/>
          <p:nvPr/>
        </p:nvSpPr>
        <p:spPr>
          <a:xfrm>
            <a:off x="1133269" y="6261802"/>
            <a:ext cx="7515986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4" u="none" cap="none" strike="noStrike">
                <a:solidFill>
                  <a:srgbClr val="D4D4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“Convertirnos en la marca de referencia en seguridad para hogares y proyectos en Latinoamérica, reconocida por nuestra innovación, diseño y compromiso con nuestros clientes”.</a:t>
            </a:r>
            <a:endParaRPr/>
          </a:p>
        </p:txBody>
      </p:sp>
      <p:sp>
        <p:nvSpPr>
          <p:cNvPr id="231" name="Google Shape;231;p3"/>
          <p:cNvSpPr txBox="1"/>
          <p:nvPr/>
        </p:nvSpPr>
        <p:spPr>
          <a:xfrm>
            <a:off x="1133269" y="8742644"/>
            <a:ext cx="751598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4" u="none" cap="none" strike="noStrike">
                <a:solidFill>
                  <a:srgbClr val="D4D4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“Proteger lo que más importa, entregando puertas de seguridad de alta calidad, diseñadas para brindar tranquilidad, confianza y durabilidad en cada proyecto”.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4"/>
          <p:cNvGrpSpPr/>
          <p:nvPr/>
        </p:nvGrpSpPr>
        <p:grpSpPr>
          <a:xfrm>
            <a:off x="0" y="-144661"/>
            <a:ext cx="18288000" cy="1583907"/>
            <a:chOff x="0" y="-38100"/>
            <a:chExt cx="4816593" cy="417161"/>
          </a:xfrm>
        </p:grpSpPr>
        <p:sp>
          <p:nvSpPr>
            <p:cNvPr id="237" name="Google Shape;237;p4"/>
            <p:cNvSpPr/>
            <p:nvPr/>
          </p:nvSpPr>
          <p:spPr>
            <a:xfrm>
              <a:off x="0" y="0"/>
              <a:ext cx="4816592" cy="379061"/>
            </a:xfrm>
            <a:custGeom>
              <a:rect b="b" l="l" r="r" t="t"/>
              <a:pathLst>
                <a:path extrusionOk="0" h="37906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9061"/>
                  </a:lnTo>
                  <a:lnTo>
                    <a:pt x="0" y="379061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238" name="Google Shape;238;p4"/>
            <p:cNvSpPr txBox="1"/>
            <p:nvPr/>
          </p:nvSpPr>
          <p:spPr>
            <a:xfrm>
              <a:off x="0" y="-38100"/>
              <a:ext cx="4816593" cy="417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p4"/>
          <p:cNvSpPr/>
          <p:nvPr/>
        </p:nvSpPr>
        <p:spPr>
          <a:xfrm>
            <a:off x="16667374" y="101426"/>
            <a:ext cx="1482029" cy="1236420"/>
          </a:xfrm>
          <a:custGeom>
            <a:rect b="b" l="l" r="r" t="t"/>
            <a:pathLst>
              <a:path extrusionOk="0" h="1200023" w="1438402">
                <a:moveTo>
                  <a:pt x="0" y="0"/>
                </a:moveTo>
                <a:lnTo>
                  <a:pt x="1438402" y="0"/>
                </a:lnTo>
                <a:lnTo>
                  <a:pt x="1438402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-2" t="0"/>
            </a:stretch>
          </a:blipFill>
          <a:ln>
            <a:noFill/>
          </a:ln>
        </p:spPr>
      </p:sp>
      <p:sp>
        <p:nvSpPr>
          <p:cNvPr id="240" name="Google Shape;240;p4"/>
          <p:cNvSpPr txBox="1"/>
          <p:nvPr/>
        </p:nvSpPr>
        <p:spPr>
          <a:xfrm>
            <a:off x="318043" y="348369"/>
            <a:ext cx="12277358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6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Problemática</a:t>
            </a:r>
            <a:endParaRPr/>
          </a:p>
        </p:txBody>
      </p:sp>
      <p:grpSp>
        <p:nvGrpSpPr>
          <p:cNvPr id="241" name="Google Shape;241;p4"/>
          <p:cNvGrpSpPr/>
          <p:nvPr/>
        </p:nvGrpSpPr>
        <p:grpSpPr>
          <a:xfrm>
            <a:off x="600190" y="3079868"/>
            <a:ext cx="4848929" cy="1942059"/>
            <a:chOff x="0" y="-28575"/>
            <a:chExt cx="1277084" cy="511489"/>
          </a:xfrm>
        </p:grpSpPr>
        <p:sp>
          <p:nvSpPr>
            <p:cNvPr id="242" name="Google Shape;242;p4"/>
            <p:cNvSpPr/>
            <p:nvPr/>
          </p:nvSpPr>
          <p:spPr>
            <a:xfrm>
              <a:off x="0" y="0"/>
              <a:ext cx="1277084" cy="482914"/>
            </a:xfrm>
            <a:custGeom>
              <a:rect b="b" l="l" r="r" t="t"/>
              <a:pathLst>
                <a:path extrusionOk="0" h="482914" w="1277084">
                  <a:moveTo>
                    <a:pt x="15966" y="0"/>
                  </a:moveTo>
                  <a:lnTo>
                    <a:pt x="1261118" y="0"/>
                  </a:lnTo>
                  <a:cubicBezTo>
                    <a:pt x="1269936" y="0"/>
                    <a:pt x="1277084" y="7148"/>
                    <a:pt x="1277084" y="15966"/>
                  </a:cubicBezTo>
                  <a:lnTo>
                    <a:pt x="1277084" y="466948"/>
                  </a:lnTo>
                  <a:cubicBezTo>
                    <a:pt x="1277084" y="471182"/>
                    <a:pt x="1275402" y="475243"/>
                    <a:pt x="1272408" y="478237"/>
                  </a:cubicBezTo>
                  <a:cubicBezTo>
                    <a:pt x="1269414" y="481232"/>
                    <a:pt x="1265353" y="482914"/>
                    <a:pt x="1261118" y="482914"/>
                  </a:cubicBezTo>
                  <a:lnTo>
                    <a:pt x="15966" y="482914"/>
                  </a:lnTo>
                  <a:cubicBezTo>
                    <a:pt x="7148" y="482914"/>
                    <a:pt x="0" y="475765"/>
                    <a:pt x="0" y="466948"/>
                  </a:cubicBezTo>
                  <a:lnTo>
                    <a:pt x="0" y="15966"/>
                  </a:lnTo>
                  <a:cubicBezTo>
                    <a:pt x="0" y="11732"/>
                    <a:pt x="1682" y="7671"/>
                    <a:pt x="4676" y="4676"/>
                  </a:cubicBezTo>
                  <a:cubicBezTo>
                    <a:pt x="7671" y="1682"/>
                    <a:pt x="11732" y="0"/>
                    <a:pt x="15966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4"/>
            <p:cNvSpPr txBox="1"/>
            <p:nvPr/>
          </p:nvSpPr>
          <p:spPr>
            <a:xfrm>
              <a:off x="0" y="-28575"/>
              <a:ext cx="1277084" cy="5114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p4"/>
          <p:cNvSpPr txBox="1"/>
          <p:nvPr/>
        </p:nvSpPr>
        <p:spPr>
          <a:xfrm>
            <a:off x="1152095" y="3405058"/>
            <a:ext cx="3745120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Procesos manuales y poco estandarizados</a:t>
            </a:r>
            <a:endParaRPr/>
          </a:p>
        </p:txBody>
      </p:sp>
      <p:grpSp>
        <p:nvGrpSpPr>
          <p:cNvPr id="245" name="Google Shape;245;p4"/>
          <p:cNvGrpSpPr/>
          <p:nvPr/>
        </p:nvGrpSpPr>
        <p:grpSpPr>
          <a:xfrm>
            <a:off x="6719535" y="1603183"/>
            <a:ext cx="4848929" cy="1385377"/>
            <a:chOff x="0" y="-28575"/>
            <a:chExt cx="1277084" cy="364873"/>
          </a:xfrm>
        </p:grpSpPr>
        <p:sp>
          <p:nvSpPr>
            <p:cNvPr id="246" name="Google Shape;246;p4"/>
            <p:cNvSpPr/>
            <p:nvPr/>
          </p:nvSpPr>
          <p:spPr>
            <a:xfrm>
              <a:off x="0" y="0"/>
              <a:ext cx="1277084" cy="336298"/>
            </a:xfrm>
            <a:custGeom>
              <a:rect b="b" l="l" r="r" t="t"/>
              <a:pathLst>
                <a:path extrusionOk="0" h="336298" w="1277084">
                  <a:moveTo>
                    <a:pt x="15966" y="0"/>
                  </a:moveTo>
                  <a:lnTo>
                    <a:pt x="1261118" y="0"/>
                  </a:lnTo>
                  <a:cubicBezTo>
                    <a:pt x="1269936" y="0"/>
                    <a:pt x="1277084" y="7148"/>
                    <a:pt x="1277084" y="15966"/>
                  </a:cubicBezTo>
                  <a:lnTo>
                    <a:pt x="1277084" y="320331"/>
                  </a:lnTo>
                  <a:cubicBezTo>
                    <a:pt x="1277084" y="324566"/>
                    <a:pt x="1275402" y="328627"/>
                    <a:pt x="1272408" y="331621"/>
                  </a:cubicBezTo>
                  <a:cubicBezTo>
                    <a:pt x="1269414" y="334616"/>
                    <a:pt x="1265353" y="336298"/>
                    <a:pt x="1261118" y="336298"/>
                  </a:cubicBezTo>
                  <a:lnTo>
                    <a:pt x="15966" y="336298"/>
                  </a:lnTo>
                  <a:cubicBezTo>
                    <a:pt x="11732" y="336298"/>
                    <a:pt x="7671" y="334616"/>
                    <a:pt x="4676" y="331621"/>
                  </a:cubicBezTo>
                  <a:cubicBezTo>
                    <a:pt x="1682" y="328627"/>
                    <a:pt x="0" y="324566"/>
                    <a:pt x="0" y="320331"/>
                  </a:cubicBezTo>
                  <a:lnTo>
                    <a:pt x="0" y="15966"/>
                  </a:lnTo>
                  <a:cubicBezTo>
                    <a:pt x="0" y="11732"/>
                    <a:pt x="1682" y="7671"/>
                    <a:pt x="4676" y="4676"/>
                  </a:cubicBezTo>
                  <a:cubicBezTo>
                    <a:pt x="7671" y="1682"/>
                    <a:pt x="11732" y="0"/>
                    <a:pt x="15966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4"/>
            <p:cNvSpPr txBox="1"/>
            <p:nvPr/>
          </p:nvSpPr>
          <p:spPr>
            <a:xfrm>
              <a:off x="0" y="-28575"/>
              <a:ext cx="1277084" cy="3648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4"/>
          <p:cNvSpPr txBox="1"/>
          <p:nvPr/>
        </p:nvSpPr>
        <p:spPr>
          <a:xfrm>
            <a:off x="7271440" y="2116757"/>
            <a:ext cx="374512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Trazabilidad</a:t>
            </a:r>
            <a:endParaRPr/>
          </a:p>
        </p:txBody>
      </p:sp>
      <p:grpSp>
        <p:nvGrpSpPr>
          <p:cNvPr id="249" name="Google Shape;249;p4"/>
          <p:cNvGrpSpPr/>
          <p:nvPr/>
        </p:nvGrpSpPr>
        <p:grpSpPr>
          <a:xfrm>
            <a:off x="10029823" y="8224114"/>
            <a:ext cx="4848929" cy="1385377"/>
            <a:chOff x="0" y="-28575"/>
            <a:chExt cx="1277084" cy="364873"/>
          </a:xfrm>
        </p:grpSpPr>
        <p:sp>
          <p:nvSpPr>
            <p:cNvPr id="250" name="Google Shape;250;p4"/>
            <p:cNvSpPr/>
            <p:nvPr/>
          </p:nvSpPr>
          <p:spPr>
            <a:xfrm>
              <a:off x="0" y="0"/>
              <a:ext cx="1277084" cy="336298"/>
            </a:xfrm>
            <a:custGeom>
              <a:rect b="b" l="l" r="r" t="t"/>
              <a:pathLst>
                <a:path extrusionOk="0" h="336298" w="1277084">
                  <a:moveTo>
                    <a:pt x="15966" y="0"/>
                  </a:moveTo>
                  <a:lnTo>
                    <a:pt x="1261118" y="0"/>
                  </a:lnTo>
                  <a:cubicBezTo>
                    <a:pt x="1269936" y="0"/>
                    <a:pt x="1277084" y="7148"/>
                    <a:pt x="1277084" y="15966"/>
                  </a:cubicBezTo>
                  <a:lnTo>
                    <a:pt x="1277084" y="320331"/>
                  </a:lnTo>
                  <a:cubicBezTo>
                    <a:pt x="1277084" y="324566"/>
                    <a:pt x="1275402" y="328627"/>
                    <a:pt x="1272408" y="331621"/>
                  </a:cubicBezTo>
                  <a:cubicBezTo>
                    <a:pt x="1269414" y="334616"/>
                    <a:pt x="1265353" y="336298"/>
                    <a:pt x="1261118" y="336298"/>
                  </a:cubicBezTo>
                  <a:lnTo>
                    <a:pt x="15966" y="336298"/>
                  </a:lnTo>
                  <a:cubicBezTo>
                    <a:pt x="11732" y="336298"/>
                    <a:pt x="7671" y="334616"/>
                    <a:pt x="4676" y="331621"/>
                  </a:cubicBezTo>
                  <a:cubicBezTo>
                    <a:pt x="1682" y="328627"/>
                    <a:pt x="0" y="324566"/>
                    <a:pt x="0" y="320331"/>
                  </a:cubicBezTo>
                  <a:lnTo>
                    <a:pt x="0" y="15966"/>
                  </a:lnTo>
                  <a:cubicBezTo>
                    <a:pt x="0" y="11732"/>
                    <a:pt x="1682" y="7671"/>
                    <a:pt x="4676" y="4676"/>
                  </a:cubicBezTo>
                  <a:cubicBezTo>
                    <a:pt x="7671" y="1682"/>
                    <a:pt x="11732" y="0"/>
                    <a:pt x="15966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4"/>
            <p:cNvSpPr txBox="1"/>
            <p:nvPr/>
          </p:nvSpPr>
          <p:spPr>
            <a:xfrm>
              <a:off x="0" y="-28575"/>
              <a:ext cx="1277084" cy="3648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p4"/>
          <p:cNvSpPr txBox="1"/>
          <p:nvPr/>
        </p:nvSpPr>
        <p:spPr>
          <a:xfrm>
            <a:off x="10581728" y="8504325"/>
            <a:ext cx="374512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Pérdida de información</a:t>
            </a:r>
            <a:endParaRPr/>
          </a:p>
        </p:txBody>
      </p:sp>
      <p:grpSp>
        <p:nvGrpSpPr>
          <p:cNvPr id="253" name="Google Shape;253;p4"/>
          <p:cNvGrpSpPr/>
          <p:nvPr/>
        </p:nvGrpSpPr>
        <p:grpSpPr>
          <a:xfrm>
            <a:off x="12838880" y="5780951"/>
            <a:ext cx="4848929" cy="1942059"/>
            <a:chOff x="0" y="-28575"/>
            <a:chExt cx="1277084" cy="511489"/>
          </a:xfrm>
        </p:grpSpPr>
        <p:sp>
          <p:nvSpPr>
            <p:cNvPr id="254" name="Google Shape;254;p4"/>
            <p:cNvSpPr/>
            <p:nvPr/>
          </p:nvSpPr>
          <p:spPr>
            <a:xfrm>
              <a:off x="0" y="0"/>
              <a:ext cx="1277084" cy="482914"/>
            </a:xfrm>
            <a:custGeom>
              <a:rect b="b" l="l" r="r" t="t"/>
              <a:pathLst>
                <a:path extrusionOk="0" h="482914" w="1277084">
                  <a:moveTo>
                    <a:pt x="15966" y="0"/>
                  </a:moveTo>
                  <a:lnTo>
                    <a:pt x="1261118" y="0"/>
                  </a:lnTo>
                  <a:cubicBezTo>
                    <a:pt x="1269936" y="0"/>
                    <a:pt x="1277084" y="7148"/>
                    <a:pt x="1277084" y="15966"/>
                  </a:cubicBezTo>
                  <a:lnTo>
                    <a:pt x="1277084" y="466948"/>
                  </a:lnTo>
                  <a:cubicBezTo>
                    <a:pt x="1277084" y="471182"/>
                    <a:pt x="1275402" y="475243"/>
                    <a:pt x="1272408" y="478237"/>
                  </a:cubicBezTo>
                  <a:cubicBezTo>
                    <a:pt x="1269414" y="481232"/>
                    <a:pt x="1265353" y="482914"/>
                    <a:pt x="1261118" y="482914"/>
                  </a:cubicBezTo>
                  <a:lnTo>
                    <a:pt x="15966" y="482914"/>
                  </a:lnTo>
                  <a:cubicBezTo>
                    <a:pt x="7148" y="482914"/>
                    <a:pt x="0" y="475765"/>
                    <a:pt x="0" y="466948"/>
                  </a:cubicBezTo>
                  <a:lnTo>
                    <a:pt x="0" y="15966"/>
                  </a:lnTo>
                  <a:cubicBezTo>
                    <a:pt x="0" y="11732"/>
                    <a:pt x="1682" y="7671"/>
                    <a:pt x="4676" y="4676"/>
                  </a:cubicBezTo>
                  <a:cubicBezTo>
                    <a:pt x="7671" y="1682"/>
                    <a:pt x="11732" y="0"/>
                    <a:pt x="15966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4"/>
            <p:cNvSpPr txBox="1"/>
            <p:nvPr/>
          </p:nvSpPr>
          <p:spPr>
            <a:xfrm>
              <a:off x="0" y="-28575"/>
              <a:ext cx="1277084" cy="5114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4"/>
          <p:cNvSpPr txBox="1"/>
          <p:nvPr/>
        </p:nvSpPr>
        <p:spPr>
          <a:xfrm>
            <a:off x="13170431" y="6106141"/>
            <a:ext cx="4185827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Errores en registros y descontrol de stock</a:t>
            </a:r>
            <a:endParaRPr/>
          </a:p>
        </p:txBody>
      </p:sp>
      <p:grpSp>
        <p:nvGrpSpPr>
          <p:cNvPr id="257" name="Google Shape;257;p4"/>
          <p:cNvGrpSpPr/>
          <p:nvPr/>
        </p:nvGrpSpPr>
        <p:grpSpPr>
          <a:xfrm>
            <a:off x="600190" y="5780951"/>
            <a:ext cx="4848929" cy="1942059"/>
            <a:chOff x="0" y="-28575"/>
            <a:chExt cx="1277084" cy="511489"/>
          </a:xfrm>
        </p:grpSpPr>
        <p:sp>
          <p:nvSpPr>
            <p:cNvPr id="258" name="Google Shape;258;p4"/>
            <p:cNvSpPr/>
            <p:nvPr/>
          </p:nvSpPr>
          <p:spPr>
            <a:xfrm>
              <a:off x="0" y="0"/>
              <a:ext cx="1277084" cy="482914"/>
            </a:xfrm>
            <a:custGeom>
              <a:rect b="b" l="l" r="r" t="t"/>
              <a:pathLst>
                <a:path extrusionOk="0" h="482914" w="1277084">
                  <a:moveTo>
                    <a:pt x="15966" y="0"/>
                  </a:moveTo>
                  <a:lnTo>
                    <a:pt x="1261118" y="0"/>
                  </a:lnTo>
                  <a:cubicBezTo>
                    <a:pt x="1269936" y="0"/>
                    <a:pt x="1277084" y="7148"/>
                    <a:pt x="1277084" y="15966"/>
                  </a:cubicBezTo>
                  <a:lnTo>
                    <a:pt x="1277084" y="466948"/>
                  </a:lnTo>
                  <a:cubicBezTo>
                    <a:pt x="1277084" y="471182"/>
                    <a:pt x="1275402" y="475243"/>
                    <a:pt x="1272408" y="478237"/>
                  </a:cubicBezTo>
                  <a:cubicBezTo>
                    <a:pt x="1269414" y="481232"/>
                    <a:pt x="1265353" y="482914"/>
                    <a:pt x="1261118" y="482914"/>
                  </a:cubicBezTo>
                  <a:lnTo>
                    <a:pt x="15966" y="482914"/>
                  </a:lnTo>
                  <a:cubicBezTo>
                    <a:pt x="7148" y="482914"/>
                    <a:pt x="0" y="475765"/>
                    <a:pt x="0" y="466948"/>
                  </a:cubicBezTo>
                  <a:lnTo>
                    <a:pt x="0" y="15966"/>
                  </a:lnTo>
                  <a:cubicBezTo>
                    <a:pt x="0" y="11732"/>
                    <a:pt x="1682" y="7671"/>
                    <a:pt x="4676" y="4676"/>
                  </a:cubicBezTo>
                  <a:cubicBezTo>
                    <a:pt x="7671" y="1682"/>
                    <a:pt x="11732" y="0"/>
                    <a:pt x="15966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4"/>
            <p:cNvSpPr txBox="1"/>
            <p:nvPr/>
          </p:nvSpPr>
          <p:spPr>
            <a:xfrm>
              <a:off x="0" y="-28575"/>
              <a:ext cx="1277084" cy="5114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" name="Google Shape;260;p4"/>
          <p:cNvSpPr txBox="1"/>
          <p:nvPr/>
        </p:nvSpPr>
        <p:spPr>
          <a:xfrm>
            <a:off x="931741" y="6106141"/>
            <a:ext cx="4185827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Dificultades en el control financiero y toma de decisiones</a:t>
            </a:r>
            <a:endParaRPr/>
          </a:p>
        </p:txBody>
      </p:sp>
      <p:grpSp>
        <p:nvGrpSpPr>
          <p:cNvPr id="261" name="Google Shape;261;p4"/>
          <p:cNvGrpSpPr/>
          <p:nvPr/>
        </p:nvGrpSpPr>
        <p:grpSpPr>
          <a:xfrm>
            <a:off x="12838880" y="3296562"/>
            <a:ext cx="4848929" cy="1942059"/>
            <a:chOff x="0" y="-28575"/>
            <a:chExt cx="1277084" cy="511489"/>
          </a:xfrm>
        </p:grpSpPr>
        <p:sp>
          <p:nvSpPr>
            <p:cNvPr id="262" name="Google Shape;262;p4"/>
            <p:cNvSpPr/>
            <p:nvPr/>
          </p:nvSpPr>
          <p:spPr>
            <a:xfrm>
              <a:off x="0" y="0"/>
              <a:ext cx="1277084" cy="482914"/>
            </a:xfrm>
            <a:custGeom>
              <a:rect b="b" l="l" r="r" t="t"/>
              <a:pathLst>
                <a:path extrusionOk="0" h="482914" w="1277084">
                  <a:moveTo>
                    <a:pt x="15966" y="0"/>
                  </a:moveTo>
                  <a:lnTo>
                    <a:pt x="1261118" y="0"/>
                  </a:lnTo>
                  <a:cubicBezTo>
                    <a:pt x="1269936" y="0"/>
                    <a:pt x="1277084" y="7148"/>
                    <a:pt x="1277084" y="15966"/>
                  </a:cubicBezTo>
                  <a:lnTo>
                    <a:pt x="1277084" y="466948"/>
                  </a:lnTo>
                  <a:cubicBezTo>
                    <a:pt x="1277084" y="471182"/>
                    <a:pt x="1275402" y="475243"/>
                    <a:pt x="1272408" y="478237"/>
                  </a:cubicBezTo>
                  <a:cubicBezTo>
                    <a:pt x="1269414" y="481232"/>
                    <a:pt x="1265353" y="482914"/>
                    <a:pt x="1261118" y="482914"/>
                  </a:cubicBezTo>
                  <a:lnTo>
                    <a:pt x="15966" y="482914"/>
                  </a:lnTo>
                  <a:cubicBezTo>
                    <a:pt x="7148" y="482914"/>
                    <a:pt x="0" y="475765"/>
                    <a:pt x="0" y="466948"/>
                  </a:cubicBezTo>
                  <a:lnTo>
                    <a:pt x="0" y="15966"/>
                  </a:lnTo>
                  <a:cubicBezTo>
                    <a:pt x="0" y="11732"/>
                    <a:pt x="1682" y="7671"/>
                    <a:pt x="4676" y="4676"/>
                  </a:cubicBezTo>
                  <a:cubicBezTo>
                    <a:pt x="7671" y="1682"/>
                    <a:pt x="11732" y="0"/>
                    <a:pt x="15966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4"/>
            <p:cNvSpPr txBox="1"/>
            <p:nvPr/>
          </p:nvSpPr>
          <p:spPr>
            <a:xfrm>
              <a:off x="0" y="-28575"/>
              <a:ext cx="1277084" cy="5114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p4"/>
          <p:cNvSpPr txBox="1"/>
          <p:nvPr/>
        </p:nvSpPr>
        <p:spPr>
          <a:xfrm>
            <a:off x="13170431" y="3621752"/>
            <a:ext cx="4185827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Falta de integración entre inventario, finanzas y terreno</a:t>
            </a:r>
            <a:endParaRPr/>
          </a:p>
        </p:txBody>
      </p:sp>
      <p:grpSp>
        <p:nvGrpSpPr>
          <p:cNvPr id="265" name="Google Shape;265;p4"/>
          <p:cNvGrpSpPr/>
          <p:nvPr/>
        </p:nvGrpSpPr>
        <p:grpSpPr>
          <a:xfrm>
            <a:off x="3409248" y="8224114"/>
            <a:ext cx="4848929" cy="1385377"/>
            <a:chOff x="0" y="-28575"/>
            <a:chExt cx="1277084" cy="364873"/>
          </a:xfrm>
        </p:grpSpPr>
        <p:sp>
          <p:nvSpPr>
            <p:cNvPr id="266" name="Google Shape;266;p4"/>
            <p:cNvSpPr/>
            <p:nvPr/>
          </p:nvSpPr>
          <p:spPr>
            <a:xfrm>
              <a:off x="0" y="0"/>
              <a:ext cx="1277084" cy="336298"/>
            </a:xfrm>
            <a:custGeom>
              <a:rect b="b" l="l" r="r" t="t"/>
              <a:pathLst>
                <a:path extrusionOk="0" h="336298" w="1277084">
                  <a:moveTo>
                    <a:pt x="15966" y="0"/>
                  </a:moveTo>
                  <a:lnTo>
                    <a:pt x="1261118" y="0"/>
                  </a:lnTo>
                  <a:cubicBezTo>
                    <a:pt x="1269936" y="0"/>
                    <a:pt x="1277084" y="7148"/>
                    <a:pt x="1277084" y="15966"/>
                  </a:cubicBezTo>
                  <a:lnTo>
                    <a:pt x="1277084" y="320331"/>
                  </a:lnTo>
                  <a:cubicBezTo>
                    <a:pt x="1277084" y="324566"/>
                    <a:pt x="1275402" y="328627"/>
                    <a:pt x="1272408" y="331621"/>
                  </a:cubicBezTo>
                  <a:cubicBezTo>
                    <a:pt x="1269414" y="334616"/>
                    <a:pt x="1265353" y="336298"/>
                    <a:pt x="1261118" y="336298"/>
                  </a:cubicBezTo>
                  <a:lnTo>
                    <a:pt x="15966" y="336298"/>
                  </a:lnTo>
                  <a:cubicBezTo>
                    <a:pt x="11732" y="336298"/>
                    <a:pt x="7671" y="334616"/>
                    <a:pt x="4676" y="331621"/>
                  </a:cubicBezTo>
                  <a:cubicBezTo>
                    <a:pt x="1682" y="328627"/>
                    <a:pt x="0" y="324566"/>
                    <a:pt x="0" y="320331"/>
                  </a:cubicBezTo>
                  <a:lnTo>
                    <a:pt x="0" y="15966"/>
                  </a:lnTo>
                  <a:cubicBezTo>
                    <a:pt x="0" y="11732"/>
                    <a:pt x="1682" y="7671"/>
                    <a:pt x="4676" y="4676"/>
                  </a:cubicBezTo>
                  <a:cubicBezTo>
                    <a:pt x="7671" y="1682"/>
                    <a:pt x="11732" y="0"/>
                    <a:pt x="15966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4"/>
            <p:cNvSpPr txBox="1"/>
            <p:nvPr/>
          </p:nvSpPr>
          <p:spPr>
            <a:xfrm>
              <a:off x="0" y="-28575"/>
              <a:ext cx="1277084" cy="3648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8" name="Google Shape;268;p4"/>
          <p:cNvSpPr txBox="1"/>
          <p:nvPr/>
        </p:nvSpPr>
        <p:spPr>
          <a:xfrm>
            <a:off x="3590030" y="8504325"/>
            <a:ext cx="4487364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Retrasos en pedidos y mala coordinación </a:t>
            </a:r>
            <a:endParaRPr/>
          </a:p>
        </p:txBody>
      </p:sp>
      <p:sp>
        <p:nvSpPr>
          <p:cNvPr id="269" name="Google Shape;269;p4"/>
          <p:cNvSpPr/>
          <p:nvPr/>
        </p:nvSpPr>
        <p:spPr>
          <a:xfrm>
            <a:off x="7209477" y="3523524"/>
            <a:ext cx="3869007" cy="3869007"/>
          </a:xfrm>
          <a:custGeom>
            <a:rect b="b" l="l" r="r" t="t"/>
            <a:pathLst>
              <a:path extrusionOk="0" h="3852164" w="3852164">
                <a:moveTo>
                  <a:pt x="0" y="0"/>
                </a:moveTo>
                <a:lnTo>
                  <a:pt x="3852164" y="0"/>
                </a:lnTo>
                <a:lnTo>
                  <a:pt x="3852164" y="3852164"/>
                </a:lnTo>
                <a:lnTo>
                  <a:pt x="0" y="3852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5"/>
          <p:cNvGrpSpPr/>
          <p:nvPr/>
        </p:nvGrpSpPr>
        <p:grpSpPr>
          <a:xfrm>
            <a:off x="0" y="-144661"/>
            <a:ext cx="18288000" cy="1583907"/>
            <a:chOff x="0" y="-38100"/>
            <a:chExt cx="4816593" cy="417161"/>
          </a:xfrm>
        </p:grpSpPr>
        <p:sp>
          <p:nvSpPr>
            <p:cNvPr id="275" name="Google Shape;275;p5"/>
            <p:cNvSpPr/>
            <p:nvPr/>
          </p:nvSpPr>
          <p:spPr>
            <a:xfrm>
              <a:off x="0" y="0"/>
              <a:ext cx="4816592" cy="379061"/>
            </a:xfrm>
            <a:custGeom>
              <a:rect b="b" l="l" r="r" t="t"/>
              <a:pathLst>
                <a:path extrusionOk="0" h="37906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9061"/>
                  </a:lnTo>
                  <a:lnTo>
                    <a:pt x="0" y="379061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276" name="Google Shape;276;p5"/>
            <p:cNvSpPr txBox="1"/>
            <p:nvPr/>
          </p:nvSpPr>
          <p:spPr>
            <a:xfrm>
              <a:off x="0" y="-38100"/>
              <a:ext cx="4816593" cy="417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p5"/>
          <p:cNvSpPr/>
          <p:nvPr/>
        </p:nvSpPr>
        <p:spPr>
          <a:xfrm>
            <a:off x="16667374" y="101426"/>
            <a:ext cx="1482029" cy="1236420"/>
          </a:xfrm>
          <a:custGeom>
            <a:rect b="b" l="l" r="r" t="t"/>
            <a:pathLst>
              <a:path extrusionOk="0" h="1200023" w="1438402">
                <a:moveTo>
                  <a:pt x="0" y="0"/>
                </a:moveTo>
                <a:lnTo>
                  <a:pt x="1438402" y="0"/>
                </a:lnTo>
                <a:lnTo>
                  <a:pt x="1438402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-2" t="0"/>
            </a:stretch>
          </a:blipFill>
          <a:ln>
            <a:noFill/>
          </a:ln>
        </p:spPr>
      </p:sp>
      <p:sp>
        <p:nvSpPr>
          <p:cNvPr id="278" name="Google Shape;278;p5"/>
          <p:cNvSpPr txBox="1"/>
          <p:nvPr/>
        </p:nvSpPr>
        <p:spPr>
          <a:xfrm>
            <a:off x="318043" y="348369"/>
            <a:ext cx="14422907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6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Procesos actuales de la empresa</a:t>
            </a:r>
            <a:endParaRPr/>
          </a:p>
        </p:txBody>
      </p:sp>
      <p:sp>
        <p:nvSpPr>
          <p:cNvPr id="279" name="Google Shape;279;p5"/>
          <p:cNvSpPr/>
          <p:nvPr/>
        </p:nvSpPr>
        <p:spPr>
          <a:xfrm>
            <a:off x="0" y="2100307"/>
            <a:ext cx="18288000" cy="7955280"/>
          </a:xfrm>
          <a:custGeom>
            <a:rect b="b" l="l" r="r" t="t"/>
            <a:pathLst>
              <a:path extrusionOk="0" h="7955280" w="18288000">
                <a:moveTo>
                  <a:pt x="0" y="0"/>
                </a:moveTo>
                <a:lnTo>
                  <a:pt x="18288000" y="0"/>
                </a:lnTo>
                <a:lnTo>
                  <a:pt x="18288000" y="7955280"/>
                </a:lnTo>
                <a:lnTo>
                  <a:pt x="0" y="7955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6"/>
          <p:cNvGrpSpPr/>
          <p:nvPr/>
        </p:nvGrpSpPr>
        <p:grpSpPr>
          <a:xfrm>
            <a:off x="0" y="-144661"/>
            <a:ext cx="18288000" cy="1583907"/>
            <a:chOff x="0" y="-38100"/>
            <a:chExt cx="4816593" cy="417161"/>
          </a:xfrm>
        </p:grpSpPr>
        <p:sp>
          <p:nvSpPr>
            <p:cNvPr id="285" name="Google Shape;285;p6"/>
            <p:cNvSpPr/>
            <p:nvPr/>
          </p:nvSpPr>
          <p:spPr>
            <a:xfrm>
              <a:off x="0" y="0"/>
              <a:ext cx="4816592" cy="379061"/>
            </a:xfrm>
            <a:custGeom>
              <a:rect b="b" l="l" r="r" t="t"/>
              <a:pathLst>
                <a:path extrusionOk="0" h="37906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9061"/>
                  </a:lnTo>
                  <a:lnTo>
                    <a:pt x="0" y="379061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286" name="Google Shape;286;p6"/>
            <p:cNvSpPr txBox="1"/>
            <p:nvPr/>
          </p:nvSpPr>
          <p:spPr>
            <a:xfrm>
              <a:off x="0" y="-38100"/>
              <a:ext cx="4816593" cy="417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7" name="Google Shape;287;p6"/>
          <p:cNvSpPr/>
          <p:nvPr/>
        </p:nvSpPr>
        <p:spPr>
          <a:xfrm>
            <a:off x="16667374" y="101426"/>
            <a:ext cx="1482029" cy="1236420"/>
          </a:xfrm>
          <a:custGeom>
            <a:rect b="b" l="l" r="r" t="t"/>
            <a:pathLst>
              <a:path extrusionOk="0" h="1200023" w="1438402">
                <a:moveTo>
                  <a:pt x="0" y="0"/>
                </a:moveTo>
                <a:lnTo>
                  <a:pt x="1438402" y="0"/>
                </a:lnTo>
                <a:lnTo>
                  <a:pt x="1438402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-2" t="0"/>
            </a:stretch>
          </a:blipFill>
          <a:ln>
            <a:noFill/>
          </a:ln>
        </p:spPr>
      </p:sp>
      <p:sp>
        <p:nvSpPr>
          <p:cNvPr id="288" name="Google Shape;288;p6"/>
          <p:cNvSpPr txBox="1"/>
          <p:nvPr/>
        </p:nvSpPr>
        <p:spPr>
          <a:xfrm>
            <a:off x="318043" y="348369"/>
            <a:ext cx="13147175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6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Análisis interno - externo: Pestel</a:t>
            </a:r>
            <a:endParaRPr/>
          </a:p>
        </p:txBody>
      </p:sp>
      <p:sp>
        <p:nvSpPr>
          <p:cNvPr id="289" name="Google Shape;289;p6"/>
          <p:cNvSpPr/>
          <p:nvPr/>
        </p:nvSpPr>
        <p:spPr>
          <a:xfrm>
            <a:off x="4447773" y="2302976"/>
            <a:ext cx="9392443" cy="7067849"/>
          </a:xfrm>
          <a:custGeom>
            <a:rect b="b" l="l" r="r" t="t"/>
            <a:pathLst>
              <a:path extrusionOk="0" h="8368792" w="11121263">
                <a:moveTo>
                  <a:pt x="0" y="0"/>
                </a:moveTo>
                <a:lnTo>
                  <a:pt x="11121263" y="0"/>
                </a:lnTo>
                <a:lnTo>
                  <a:pt x="11121263" y="8368792"/>
                </a:lnTo>
                <a:lnTo>
                  <a:pt x="0" y="83687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6" r="-26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7"/>
          <p:cNvGrpSpPr/>
          <p:nvPr/>
        </p:nvGrpSpPr>
        <p:grpSpPr>
          <a:xfrm>
            <a:off x="0" y="-144661"/>
            <a:ext cx="18288000" cy="1583907"/>
            <a:chOff x="0" y="-38100"/>
            <a:chExt cx="4816593" cy="417161"/>
          </a:xfrm>
        </p:grpSpPr>
        <p:sp>
          <p:nvSpPr>
            <p:cNvPr id="295" name="Google Shape;295;p7"/>
            <p:cNvSpPr/>
            <p:nvPr/>
          </p:nvSpPr>
          <p:spPr>
            <a:xfrm>
              <a:off x="0" y="0"/>
              <a:ext cx="4816592" cy="379061"/>
            </a:xfrm>
            <a:custGeom>
              <a:rect b="b" l="l" r="r" t="t"/>
              <a:pathLst>
                <a:path extrusionOk="0" h="37906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9061"/>
                  </a:lnTo>
                  <a:lnTo>
                    <a:pt x="0" y="379061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296" name="Google Shape;296;p7"/>
            <p:cNvSpPr txBox="1"/>
            <p:nvPr/>
          </p:nvSpPr>
          <p:spPr>
            <a:xfrm>
              <a:off x="0" y="-38100"/>
              <a:ext cx="4816593" cy="417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7" name="Google Shape;297;p7"/>
          <p:cNvSpPr/>
          <p:nvPr/>
        </p:nvSpPr>
        <p:spPr>
          <a:xfrm>
            <a:off x="16667374" y="101426"/>
            <a:ext cx="1482029" cy="1236420"/>
          </a:xfrm>
          <a:custGeom>
            <a:rect b="b" l="l" r="r" t="t"/>
            <a:pathLst>
              <a:path extrusionOk="0" h="1200023" w="1438402">
                <a:moveTo>
                  <a:pt x="0" y="0"/>
                </a:moveTo>
                <a:lnTo>
                  <a:pt x="1438402" y="0"/>
                </a:lnTo>
                <a:lnTo>
                  <a:pt x="1438402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-2" t="0"/>
            </a:stretch>
          </a:blipFill>
          <a:ln>
            <a:noFill/>
          </a:ln>
        </p:spPr>
      </p:sp>
      <p:sp>
        <p:nvSpPr>
          <p:cNvPr id="298" name="Google Shape;298;p7"/>
          <p:cNvSpPr txBox="1"/>
          <p:nvPr/>
        </p:nvSpPr>
        <p:spPr>
          <a:xfrm>
            <a:off x="318043" y="414004"/>
            <a:ext cx="16420785" cy="83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34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Análisis interno - externo: Fuerzas de Porter</a:t>
            </a:r>
            <a:endParaRPr/>
          </a:p>
        </p:txBody>
      </p:sp>
      <p:sp>
        <p:nvSpPr>
          <p:cNvPr id="299" name="Google Shape;299;p7"/>
          <p:cNvSpPr/>
          <p:nvPr/>
        </p:nvSpPr>
        <p:spPr>
          <a:xfrm>
            <a:off x="4102250" y="2630088"/>
            <a:ext cx="8852369" cy="6628212"/>
          </a:xfrm>
          <a:custGeom>
            <a:rect b="b" l="l" r="r" t="t"/>
            <a:pathLst>
              <a:path extrusionOk="0" h="8083042" w="10795381">
                <a:moveTo>
                  <a:pt x="0" y="0"/>
                </a:moveTo>
                <a:lnTo>
                  <a:pt x="10795381" y="0"/>
                </a:lnTo>
                <a:lnTo>
                  <a:pt x="10795381" y="8083042"/>
                </a:lnTo>
                <a:lnTo>
                  <a:pt x="0" y="80830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40" r="-4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8"/>
          <p:cNvGrpSpPr/>
          <p:nvPr/>
        </p:nvGrpSpPr>
        <p:grpSpPr>
          <a:xfrm>
            <a:off x="0" y="-144661"/>
            <a:ext cx="18288000" cy="1583907"/>
            <a:chOff x="0" y="-38100"/>
            <a:chExt cx="4816593" cy="417161"/>
          </a:xfrm>
        </p:grpSpPr>
        <p:sp>
          <p:nvSpPr>
            <p:cNvPr id="305" name="Google Shape;305;p8"/>
            <p:cNvSpPr/>
            <p:nvPr/>
          </p:nvSpPr>
          <p:spPr>
            <a:xfrm>
              <a:off x="0" y="0"/>
              <a:ext cx="4816592" cy="379061"/>
            </a:xfrm>
            <a:custGeom>
              <a:rect b="b" l="l" r="r" t="t"/>
              <a:pathLst>
                <a:path extrusionOk="0" h="37906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9061"/>
                  </a:lnTo>
                  <a:lnTo>
                    <a:pt x="0" y="379061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306" name="Google Shape;306;p8"/>
            <p:cNvSpPr txBox="1"/>
            <p:nvPr/>
          </p:nvSpPr>
          <p:spPr>
            <a:xfrm>
              <a:off x="0" y="-38100"/>
              <a:ext cx="4816593" cy="417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7" name="Google Shape;307;p8"/>
          <p:cNvSpPr/>
          <p:nvPr/>
        </p:nvSpPr>
        <p:spPr>
          <a:xfrm>
            <a:off x="16667374" y="101426"/>
            <a:ext cx="1482029" cy="1236420"/>
          </a:xfrm>
          <a:custGeom>
            <a:rect b="b" l="l" r="r" t="t"/>
            <a:pathLst>
              <a:path extrusionOk="0" h="1200023" w="1438402">
                <a:moveTo>
                  <a:pt x="0" y="0"/>
                </a:moveTo>
                <a:lnTo>
                  <a:pt x="1438402" y="0"/>
                </a:lnTo>
                <a:lnTo>
                  <a:pt x="1438402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-2" t="0"/>
            </a:stretch>
          </a:blipFill>
          <a:ln>
            <a:noFill/>
          </a:ln>
        </p:spPr>
      </p:sp>
      <p:sp>
        <p:nvSpPr>
          <p:cNvPr id="308" name="Google Shape;308;p8"/>
          <p:cNvSpPr txBox="1"/>
          <p:nvPr/>
        </p:nvSpPr>
        <p:spPr>
          <a:xfrm>
            <a:off x="318043" y="389826"/>
            <a:ext cx="17014399" cy="863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93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Análisis interno - externo: Cadena de valor</a:t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3562321" y="2075986"/>
            <a:ext cx="10525843" cy="7371228"/>
          </a:xfrm>
          <a:custGeom>
            <a:rect b="b" l="l" r="r" t="t"/>
            <a:pathLst>
              <a:path extrusionOk="0" h="8593709" w="12271502">
                <a:moveTo>
                  <a:pt x="0" y="0"/>
                </a:moveTo>
                <a:lnTo>
                  <a:pt x="12271502" y="0"/>
                </a:lnTo>
                <a:lnTo>
                  <a:pt x="12271502" y="8593709"/>
                </a:lnTo>
                <a:lnTo>
                  <a:pt x="0" y="85937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771" r="-1771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9"/>
          <p:cNvGrpSpPr/>
          <p:nvPr/>
        </p:nvGrpSpPr>
        <p:grpSpPr>
          <a:xfrm>
            <a:off x="0" y="-144661"/>
            <a:ext cx="18288000" cy="1583907"/>
            <a:chOff x="0" y="-38100"/>
            <a:chExt cx="4816593" cy="417161"/>
          </a:xfrm>
        </p:grpSpPr>
        <p:sp>
          <p:nvSpPr>
            <p:cNvPr id="315" name="Google Shape;315;p9"/>
            <p:cNvSpPr/>
            <p:nvPr/>
          </p:nvSpPr>
          <p:spPr>
            <a:xfrm>
              <a:off x="0" y="0"/>
              <a:ext cx="4816592" cy="379061"/>
            </a:xfrm>
            <a:custGeom>
              <a:rect b="b" l="l" r="r" t="t"/>
              <a:pathLst>
                <a:path extrusionOk="0" h="37906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9061"/>
                  </a:lnTo>
                  <a:lnTo>
                    <a:pt x="0" y="379061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316" name="Google Shape;316;p9"/>
            <p:cNvSpPr txBox="1"/>
            <p:nvPr/>
          </p:nvSpPr>
          <p:spPr>
            <a:xfrm>
              <a:off x="0" y="-38100"/>
              <a:ext cx="4816593" cy="417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7" name="Google Shape;317;p9"/>
          <p:cNvSpPr/>
          <p:nvPr/>
        </p:nvSpPr>
        <p:spPr>
          <a:xfrm>
            <a:off x="16667374" y="101426"/>
            <a:ext cx="1482029" cy="1236420"/>
          </a:xfrm>
          <a:custGeom>
            <a:rect b="b" l="l" r="r" t="t"/>
            <a:pathLst>
              <a:path extrusionOk="0" h="1200023" w="1438402">
                <a:moveTo>
                  <a:pt x="0" y="0"/>
                </a:moveTo>
                <a:lnTo>
                  <a:pt x="1438402" y="0"/>
                </a:lnTo>
                <a:lnTo>
                  <a:pt x="1438402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-2" t="0"/>
            </a:stretch>
          </a:blipFill>
          <a:ln>
            <a:noFill/>
          </a:ln>
        </p:spPr>
      </p:sp>
      <p:sp>
        <p:nvSpPr>
          <p:cNvPr id="318" name="Google Shape;318;p9"/>
          <p:cNvSpPr txBox="1"/>
          <p:nvPr/>
        </p:nvSpPr>
        <p:spPr>
          <a:xfrm>
            <a:off x="318043" y="348369"/>
            <a:ext cx="14782431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6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Análisis interno - externo: Foda</a:t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4057502" y="2136347"/>
            <a:ext cx="10172985" cy="7617048"/>
          </a:xfrm>
          <a:custGeom>
            <a:rect b="b" l="l" r="r" t="t"/>
            <a:pathLst>
              <a:path extrusionOk="0" h="10156063" w="13563981">
                <a:moveTo>
                  <a:pt x="0" y="0"/>
                </a:moveTo>
                <a:lnTo>
                  <a:pt x="13563981" y="0"/>
                </a:lnTo>
                <a:lnTo>
                  <a:pt x="13563981" y="10156063"/>
                </a:lnTo>
                <a:lnTo>
                  <a:pt x="0" y="10156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3" l="0" r="0" t="-33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10"/>
          <p:cNvGrpSpPr/>
          <p:nvPr/>
        </p:nvGrpSpPr>
        <p:grpSpPr>
          <a:xfrm>
            <a:off x="0" y="-144661"/>
            <a:ext cx="18288000" cy="1583907"/>
            <a:chOff x="0" y="-38100"/>
            <a:chExt cx="4816593" cy="417161"/>
          </a:xfrm>
        </p:grpSpPr>
        <p:sp>
          <p:nvSpPr>
            <p:cNvPr id="325" name="Google Shape;325;p10"/>
            <p:cNvSpPr/>
            <p:nvPr/>
          </p:nvSpPr>
          <p:spPr>
            <a:xfrm>
              <a:off x="0" y="0"/>
              <a:ext cx="4816592" cy="379061"/>
            </a:xfrm>
            <a:custGeom>
              <a:rect b="b" l="l" r="r" t="t"/>
              <a:pathLst>
                <a:path extrusionOk="0" h="37906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9061"/>
                  </a:lnTo>
                  <a:lnTo>
                    <a:pt x="0" y="379061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326" name="Google Shape;326;p10"/>
            <p:cNvSpPr txBox="1"/>
            <p:nvPr/>
          </p:nvSpPr>
          <p:spPr>
            <a:xfrm>
              <a:off x="0" y="-38100"/>
              <a:ext cx="4816593" cy="417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" name="Google Shape;327;p10"/>
          <p:cNvSpPr/>
          <p:nvPr/>
        </p:nvSpPr>
        <p:spPr>
          <a:xfrm>
            <a:off x="16667374" y="101426"/>
            <a:ext cx="1482029" cy="1236420"/>
          </a:xfrm>
          <a:custGeom>
            <a:rect b="b" l="l" r="r" t="t"/>
            <a:pathLst>
              <a:path extrusionOk="0" h="1200023" w="1438402">
                <a:moveTo>
                  <a:pt x="0" y="0"/>
                </a:moveTo>
                <a:lnTo>
                  <a:pt x="1438402" y="0"/>
                </a:lnTo>
                <a:lnTo>
                  <a:pt x="1438402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-2" t="0"/>
            </a:stretch>
          </a:blipFill>
          <a:ln>
            <a:noFill/>
          </a:ln>
        </p:spPr>
      </p:sp>
      <p:sp>
        <p:nvSpPr>
          <p:cNvPr id="328" name="Google Shape;328;p10"/>
          <p:cNvSpPr txBox="1"/>
          <p:nvPr/>
        </p:nvSpPr>
        <p:spPr>
          <a:xfrm>
            <a:off x="318043" y="348369"/>
            <a:ext cx="12277358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6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Análisis cuantitativo</a:t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121166" y="3486458"/>
            <a:ext cx="5890524" cy="3805656"/>
          </a:xfrm>
          <a:custGeom>
            <a:rect b="b" l="l" r="r" t="t"/>
            <a:pathLst>
              <a:path extrusionOk="0" h="5074207" w="7854032">
                <a:moveTo>
                  <a:pt x="0" y="0"/>
                </a:moveTo>
                <a:lnTo>
                  <a:pt x="7854032" y="0"/>
                </a:lnTo>
                <a:lnTo>
                  <a:pt x="7854032" y="5074207"/>
                </a:lnTo>
                <a:lnTo>
                  <a:pt x="0" y="50742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242" r="-2242" t="0"/>
            </a:stretch>
          </a:blipFill>
          <a:ln>
            <a:noFill/>
          </a:ln>
        </p:spPr>
      </p:sp>
      <p:sp>
        <p:nvSpPr>
          <p:cNvPr id="330" name="Google Shape;330;p10"/>
          <p:cNvSpPr/>
          <p:nvPr/>
        </p:nvSpPr>
        <p:spPr>
          <a:xfrm>
            <a:off x="12012112" y="3486458"/>
            <a:ext cx="6154769" cy="3805714"/>
          </a:xfrm>
          <a:custGeom>
            <a:rect b="b" l="l" r="r" t="t"/>
            <a:pathLst>
              <a:path extrusionOk="0" h="5074285" w="8206359">
                <a:moveTo>
                  <a:pt x="0" y="0"/>
                </a:moveTo>
                <a:lnTo>
                  <a:pt x="8206359" y="0"/>
                </a:lnTo>
                <a:lnTo>
                  <a:pt x="8206359" y="5074285"/>
                </a:lnTo>
                <a:lnTo>
                  <a:pt x="0" y="50742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1" name="Google Shape;331;p10"/>
          <p:cNvSpPr/>
          <p:nvPr/>
        </p:nvSpPr>
        <p:spPr>
          <a:xfrm>
            <a:off x="6059296" y="3486458"/>
            <a:ext cx="5905152" cy="3805656"/>
          </a:xfrm>
          <a:custGeom>
            <a:rect b="b" l="l" r="r" t="t"/>
            <a:pathLst>
              <a:path extrusionOk="0" h="5074207" w="7873535">
                <a:moveTo>
                  <a:pt x="0" y="0"/>
                </a:moveTo>
                <a:lnTo>
                  <a:pt x="7873535" y="0"/>
                </a:lnTo>
                <a:lnTo>
                  <a:pt x="7873535" y="5074207"/>
                </a:lnTo>
                <a:lnTo>
                  <a:pt x="0" y="50742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2112" r="-2113" t="0"/>
            </a:stretch>
          </a:blipFill>
          <a:ln>
            <a:noFill/>
          </a:ln>
        </p:spPr>
      </p:sp>
      <p:grpSp>
        <p:nvGrpSpPr>
          <p:cNvPr id="332" name="Google Shape;332;p10"/>
          <p:cNvGrpSpPr/>
          <p:nvPr/>
        </p:nvGrpSpPr>
        <p:grpSpPr>
          <a:xfrm>
            <a:off x="293727" y="7375239"/>
            <a:ext cx="5544783" cy="1454962"/>
            <a:chOff x="0" y="-28575"/>
            <a:chExt cx="1460354" cy="383200"/>
          </a:xfrm>
        </p:grpSpPr>
        <p:sp>
          <p:nvSpPr>
            <p:cNvPr id="333" name="Google Shape;333;p10"/>
            <p:cNvSpPr/>
            <p:nvPr/>
          </p:nvSpPr>
          <p:spPr>
            <a:xfrm>
              <a:off x="0" y="0"/>
              <a:ext cx="1460354" cy="354625"/>
            </a:xfrm>
            <a:custGeom>
              <a:rect b="b" l="l" r="r" t="t"/>
              <a:pathLst>
                <a:path extrusionOk="0" h="354625" w="1460354">
                  <a:moveTo>
                    <a:pt x="13963" y="0"/>
                  </a:moveTo>
                  <a:lnTo>
                    <a:pt x="1446392" y="0"/>
                  </a:lnTo>
                  <a:cubicBezTo>
                    <a:pt x="1454103" y="0"/>
                    <a:pt x="1460354" y="6251"/>
                    <a:pt x="1460354" y="13963"/>
                  </a:cubicBezTo>
                  <a:lnTo>
                    <a:pt x="1460354" y="340662"/>
                  </a:lnTo>
                  <a:cubicBezTo>
                    <a:pt x="1460354" y="348374"/>
                    <a:pt x="1454103" y="354625"/>
                    <a:pt x="1446392" y="354625"/>
                  </a:cubicBezTo>
                  <a:lnTo>
                    <a:pt x="13963" y="354625"/>
                  </a:lnTo>
                  <a:cubicBezTo>
                    <a:pt x="6251" y="354625"/>
                    <a:pt x="0" y="348374"/>
                    <a:pt x="0" y="340662"/>
                  </a:cubicBezTo>
                  <a:lnTo>
                    <a:pt x="0" y="13963"/>
                  </a:lnTo>
                  <a:cubicBezTo>
                    <a:pt x="0" y="6251"/>
                    <a:pt x="6251" y="0"/>
                    <a:pt x="13963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0"/>
            <p:cNvSpPr txBox="1"/>
            <p:nvPr/>
          </p:nvSpPr>
          <p:spPr>
            <a:xfrm>
              <a:off x="0" y="-28575"/>
              <a:ext cx="1460354" cy="3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5" name="Google Shape;335;p10"/>
          <p:cNvGrpSpPr/>
          <p:nvPr/>
        </p:nvGrpSpPr>
        <p:grpSpPr>
          <a:xfrm>
            <a:off x="6371308" y="7375239"/>
            <a:ext cx="5544783" cy="1454962"/>
            <a:chOff x="0" y="-28575"/>
            <a:chExt cx="1460354" cy="383200"/>
          </a:xfrm>
        </p:grpSpPr>
        <p:sp>
          <p:nvSpPr>
            <p:cNvPr id="336" name="Google Shape;336;p10"/>
            <p:cNvSpPr/>
            <p:nvPr/>
          </p:nvSpPr>
          <p:spPr>
            <a:xfrm>
              <a:off x="0" y="0"/>
              <a:ext cx="1460354" cy="354625"/>
            </a:xfrm>
            <a:custGeom>
              <a:rect b="b" l="l" r="r" t="t"/>
              <a:pathLst>
                <a:path extrusionOk="0" h="354625" w="1460354">
                  <a:moveTo>
                    <a:pt x="13963" y="0"/>
                  </a:moveTo>
                  <a:lnTo>
                    <a:pt x="1446392" y="0"/>
                  </a:lnTo>
                  <a:cubicBezTo>
                    <a:pt x="1454103" y="0"/>
                    <a:pt x="1460354" y="6251"/>
                    <a:pt x="1460354" y="13963"/>
                  </a:cubicBezTo>
                  <a:lnTo>
                    <a:pt x="1460354" y="340662"/>
                  </a:lnTo>
                  <a:cubicBezTo>
                    <a:pt x="1460354" y="348374"/>
                    <a:pt x="1454103" y="354625"/>
                    <a:pt x="1446392" y="354625"/>
                  </a:cubicBezTo>
                  <a:lnTo>
                    <a:pt x="13963" y="354625"/>
                  </a:lnTo>
                  <a:cubicBezTo>
                    <a:pt x="6251" y="354625"/>
                    <a:pt x="0" y="348374"/>
                    <a:pt x="0" y="340662"/>
                  </a:cubicBezTo>
                  <a:lnTo>
                    <a:pt x="0" y="13963"/>
                  </a:lnTo>
                  <a:cubicBezTo>
                    <a:pt x="0" y="6251"/>
                    <a:pt x="6251" y="0"/>
                    <a:pt x="13963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0"/>
            <p:cNvSpPr txBox="1"/>
            <p:nvPr/>
          </p:nvSpPr>
          <p:spPr>
            <a:xfrm>
              <a:off x="0" y="-28575"/>
              <a:ext cx="1460354" cy="3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8" name="Google Shape;338;p10"/>
          <p:cNvGrpSpPr/>
          <p:nvPr/>
        </p:nvGrpSpPr>
        <p:grpSpPr>
          <a:xfrm>
            <a:off x="12449491" y="7375239"/>
            <a:ext cx="5544783" cy="1454962"/>
            <a:chOff x="0" y="-28575"/>
            <a:chExt cx="1460354" cy="383200"/>
          </a:xfrm>
        </p:grpSpPr>
        <p:sp>
          <p:nvSpPr>
            <p:cNvPr id="339" name="Google Shape;339;p10"/>
            <p:cNvSpPr/>
            <p:nvPr/>
          </p:nvSpPr>
          <p:spPr>
            <a:xfrm>
              <a:off x="0" y="0"/>
              <a:ext cx="1460354" cy="354625"/>
            </a:xfrm>
            <a:custGeom>
              <a:rect b="b" l="l" r="r" t="t"/>
              <a:pathLst>
                <a:path extrusionOk="0" h="354625" w="1460354">
                  <a:moveTo>
                    <a:pt x="13963" y="0"/>
                  </a:moveTo>
                  <a:lnTo>
                    <a:pt x="1446392" y="0"/>
                  </a:lnTo>
                  <a:cubicBezTo>
                    <a:pt x="1454103" y="0"/>
                    <a:pt x="1460354" y="6251"/>
                    <a:pt x="1460354" y="13963"/>
                  </a:cubicBezTo>
                  <a:lnTo>
                    <a:pt x="1460354" y="340662"/>
                  </a:lnTo>
                  <a:cubicBezTo>
                    <a:pt x="1460354" y="348374"/>
                    <a:pt x="1454103" y="354625"/>
                    <a:pt x="1446392" y="354625"/>
                  </a:cubicBezTo>
                  <a:lnTo>
                    <a:pt x="13963" y="354625"/>
                  </a:lnTo>
                  <a:cubicBezTo>
                    <a:pt x="6251" y="354625"/>
                    <a:pt x="0" y="348374"/>
                    <a:pt x="0" y="340662"/>
                  </a:cubicBezTo>
                  <a:lnTo>
                    <a:pt x="0" y="13963"/>
                  </a:lnTo>
                  <a:cubicBezTo>
                    <a:pt x="0" y="6251"/>
                    <a:pt x="6251" y="0"/>
                    <a:pt x="13963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0"/>
            <p:cNvSpPr txBox="1"/>
            <p:nvPr/>
          </p:nvSpPr>
          <p:spPr>
            <a:xfrm>
              <a:off x="0" y="-28575"/>
              <a:ext cx="1460354" cy="38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" name="Google Shape;341;p10"/>
          <p:cNvSpPr txBox="1"/>
          <p:nvPr/>
        </p:nvSpPr>
        <p:spPr>
          <a:xfrm>
            <a:off x="640559" y="7598444"/>
            <a:ext cx="4851720" cy="1126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8" u="none" cap="none" strike="noStrike">
                <a:solidFill>
                  <a:srgbClr val="D4D4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 observa una fuerte dependencia del segmento residencial, que concentra más de la mitad de las ventas.</a:t>
            </a:r>
            <a:endParaRPr/>
          </a:p>
        </p:txBody>
      </p:sp>
      <p:sp>
        <p:nvSpPr>
          <p:cNvPr id="342" name="Google Shape;342;p10"/>
          <p:cNvSpPr txBox="1"/>
          <p:nvPr/>
        </p:nvSpPr>
        <p:spPr>
          <a:xfrm>
            <a:off x="6718140" y="7740456"/>
            <a:ext cx="4851720" cy="842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8" u="none" cap="none" strike="noStrike">
                <a:solidFill>
                  <a:srgbClr val="D4D4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Aunque la mayoría de los pedidos se completan, existe una brecha importante en los tiempos de entrega.</a:t>
            </a:r>
            <a:endParaRPr/>
          </a:p>
        </p:txBody>
      </p:sp>
      <p:sp>
        <p:nvSpPr>
          <p:cNvPr id="343" name="Google Shape;343;p10"/>
          <p:cNvSpPr txBox="1"/>
          <p:nvPr/>
        </p:nvSpPr>
        <p:spPr>
          <a:xfrm>
            <a:off x="12796022" y="7598444"/>
            <a:ext cx="4851720" cy="1133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8" u="none" cap="none" strike="noStrike">
                <a:solidFill>
                  <a:srgbClr val="D4D4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Los costos se concentran principalmente en seguros y mantenimiento, siendo los mayores gastos operacionales.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11"/>
          <p:cNvGrpSpPr/>
          <p:nvPr/>
        </p:nvGrpSpPr>
        <p:grpSpPr>
          <a:xfrm>
            <a:off x="0" y="-144661"/>
            <a:ext cx="18288000" cy="1583907"/>
            <a:chOff x="0" y="-38100"/>
            <a:chExt cx="4816593" cy="417161"/>
          </a:xfrm>
        </p:grpSpPr>
        <p:sp>
          <p:nvSpPr>
            <p:cNvPr id="349" name="Google Shape;349;p11"/>
            <p:cNvSpPr/>
            <p:nvPr/>
          </p:nvSpPr>
          <p:spPr>
            <a:xfrm>
              <a:off x="0" y="0"/>
              <a:ext cx="4816592" cy="379061"/>
            </a:xfrm>
            <a:custGeom>
              <a:rect b="b" l="l" r="r" t="t"/>
              <a:pathLst>
                <a:path extrusionOk="0" h="37906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9061"/>
                  </a:lnTo>
                  <a:lnTo>
                    <a:pt x="0" y="379061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350" name="Google Shape;350;p11"/>
            <p:cNvSpPr txBox="1"/>
            <p:nvPr/>
          </p:nvSpPr>
          <p:spPr>
            <a:xfrm>
              <a:off x="0" y="-38100"/>
              <a:ext cx="4816593" cy="417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1" name="Google Shape;351;p11"/>
          <p:cNvSpPr/>
          <p:nvPr/>
        </p:nvSpPr>
        <p:spPr>
          <a:xfrm>
            <a:off x="16667374" y="101426"/>
            <a:ext cx="1482029" cy="1236420"/>
          </a:xfrm>
          <a:custGeom>
            <a:rect b="b" l="l" r="r" t="t"/>
            <a:pathLst>
              <a:path extrusionOk="0" h="1200023" w="1438402">
                <a:moveTo>
                  <a:pt x="0" y="0"/>
                </a:moveTo>
                <a:lnTo>
                  <a:pt x="1438402" y="0"/>
                </a:lnTo>
                <a:lnTo>
                  <a:pt x="1438402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-2" t="0"/>
            </a:stretch>
          </a:blipFill>
          <a:ln>
            <a:noFill/>
          </a:ln>
        </p:spPr>
      </p:sp>
      <p:sp>
        <p:nvSpPr>
          <p:cNvPr id="352" name="Google Shape;352;p11"/>
          <p:cNvSpPr txBox="1"/>
          <p:nvPr/>
        </p:nvSpPr>
        <p:spPr>
          <a:xfrm>
            <a:off x="318043" y="348369"/>
            <a:ext cx="12277358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6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Análisis cualitativo: Ishikawa</a:t>
            </a:r>
            <a:endParaRPr/>
          </a:p>
        </p:txBody>
      </p:sp>
      <p:sp>
        <p:nvSpPr>
          <p:cNvPr id="353" name="Google Shape;353;p11"/>
          <p:cNvSpPr/>
          <p:nvPr/>
        </p:nvSpPr>
        <p:spPr>
          <a:xfrm>
            <a:off x="1076601" y="1761249"/>
            <a:ext cx="15156847" cy="8525732"/>
          </a:xfrm>
          <a:custGeom>
            <a:rect b="b" l="l" r="r" t="t"/>
            <a:pathLst>
              <a:path extrusionOk="0" h="11367643" w="20209129">
                <a:moveTo>
                  <a:pt x="0" y="0"/>
                </a:moveTo>
                <a:lnTo>
                  <a:pt x="20209129" y="0"/>
                </a:lnTo>
                <a:lnTo>
                  <a:pt x="20209129" y="11367643"/>
                </a:lnTo>
                <a:lnTo>
                  <a:pt x="0" y="113676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12"/>
          <p:cNvGrpSpPr/>
          <p:nvPr/>
        </p:nvGrpSpPr>
        <p:grpSpPr>
          <a:xfrm>
            <a:off x="0" y="-144661"/>
            <a:ext cx="18288000" cy="1583907"/>
            <a:chOff x="0" y="-38100"/>
            <a:chExt cx="4816593" cy="417161"/>
          </a:xfrm>
        </p:grpSpPr>
        <p:sp>
          <p:nvSpPr>
            <p:cNvPr id="359" name="Google Shape;359;p12"/>
            <p:cNvSpPr/>
            <p:nvPr/>
          </p:nvSpPr>
          <p:spPr>
            <a:xfrm>
              <a:off x="0" y="0"/>
              <a:ext cx="4816592" cy="379061"/>
            </a:xfrm>
            <a:custGeom>
              <a:rect b="b" l="l" r="r" t="t"/>
              <a:pathLst>
                <a:path extrusionOk="0" h="37906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9061"/>
                  </a:lnTo>
                  <a:lnTo>
                    <a:pt x="0" y="379061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360" name="Google Shape;360;p12"/>
            <p:cNvSpPr txBox="1"/>
            <p:nvPr/>
          </p:nvSpPr>
          <p:spPr>
            <a:xfrm>
              <a:off x="0" y="-38100"/>
              <a:ext cx="4816593" cy="417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12"/>
          <p:cNvSpPr/>
          <p:nvPr/>
        </p:nvSpPr>
        <p:spPr>
          <a:xfrm>
            <a:off x="16667374" y="101426"/>
            <a:ext cx="1482029" cy="1236420"/>
          </a:xfrm>
          <a:custGeom>
            <a:rect b="b" l="l" r="r" t="t"/>
            <a:pathLst>
              <a:path extrusionOk="0" h="1200023" w="1438402">
                <a:moveTo>
                  <a:pt x="0" y="0"/>
                </a:moveTo>
                <a:lnTo>
                  <a:pt x="1438402" y="0"/>
                </a:lnTo>
                <a:lnTo>
                  <a:pt x="1438402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-2" t="0"/>
            </a:stretch>
          </a:blipFill>
          <a:ln>
            <a:noFill/>
          </a:ln>
        </p:spPr>
      </p:sp>
      <p:sp>
        <p:nvSpPr>
          <p:cNvPr id="362" name="Google Shape;362;p12"/>
          <p:cNvSpPr/>
          <p:nvPr/>
        </p:nvSpPr>
        <p:spPr>
          <a:xfrm>
            <a:off x="2372437" y="3086100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3" name="Google Shape;363;p12"/>
          <p:cNvSpPr txBox="1"/>
          <p:nvPr/>
        </p:nvSpPr>
        <p:spPr>
          <a:xfrm>
            <a:off x="318043" y="348369"/>
            <a:ext cx="12277358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6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Objetivo general</a:t>
            </a:r>
            <a:endParaRPr/>
          </a:p>
        </p:txBody>
      </p:sp>
      <p:grpSp>
        <p:nvGrpSpPr>
          <p:cNvPr id="364" name="Google Shape;364;p12"/>
          <p:cNvGrpSpPr/>
          <p:nvPr/>
        </p:nvGrpSpPr>
        <p:grpSpPr>
          <a:xfrm>
            <a:off x="8190439" y="3863249"/>
            <a:ext cx="7725124" cy="2846669"/>
            <a:chOff x="0" y="-28575"/>
            <a:chExt cx="2034601" cy="749740"/>
          </a:xfrm>
        </p:grpSpPr>
        <p:sp>
          <p:nvSpPr>
            <p:cNvPr id="365" name="Google Shape;365;p12"/>
            <p:cNvSpPr/>
            <p:nvPr/>
          </p:nvSpPr>
          <p:spPr>
            <a:xfrm>
              <a:off x="0" y="0"/>
              <a:ext cx="2034601" cy="721165"/>
            </a:xfrm>
            <a:custGeom>
              <a:rect b="b" l="l" r="r" t="t"/>
              <a:pathLst>
                <a:path extrusionOk="0" h="721165" w="2034601">
                  <a:moveTo>
                    <a:pt x="10022" y="0"/>
                  </a:moveTo>
                  <a:lnTo>
                    <a:pt x="2024579" y="0"/>
                  </a:lnTo>
                  <a:cubicBezTo>
                    <a:pt x="2027237" y="0"/>
                    <a:pt x="2029786" y="1056"/>
                    <a:pt x="2031665" y="2935"/>
                  </a:cubicBezTo>
                  <a:cubicBezTo>
                    <a:pt x="2033545" y="4815"/>
                    <a:pt x="2034601" y="7364"/>
                    <a:pt x="2034601" y="10022"/>
                  </a:cubicBezTo>
                  <a:lnTo>
                    <a:pt x="2034601" y="711143"/>
                  </a:lnTo>
                  <a:cubicBezTo>
                    <a:pt x="2034601" y="713801"/>
                    <a:pt x="2033545" y="716350"/>
                    <a:pt x="2031665" y="718230"/>
                  </a:cubicBezTo>
                  <a:cubicBezTo>
                    <a:pt x="2029786" y="720109"/>
                    <a:pt x="2027237" y="721165"/>
                    <a:pt x="2024579" y="721165"/>
                  </a:cubicBezTo>
                  <a:lnTo>
                    <a:pt x="10022" y="721165"/>
                  </a:lnTo>
                  <a:cubicBezTo>
                    <a:pt x="7364" y="721165"/>
                    <a:pt x="4815" y="720109"/>
                    <a:pt x="2935" y="718230"/>
                  </a:cubicBezTo>
                  <a:cubicBezTo>
                    <a:pt x="1056" y="716350"/>
                    <a:pt x="0" y="713801"/>
                    <a:pt x="0" y="711143"/>
                  </a:cubicBezTo>
                  <a:lnTo>
                    <a:pt x="0" y="10022"/>
                  </a:lnTo>
                  <a:cubicBezTo>
                    <a:pt x="0" y="7364"/>
                    <a:pt x="1056" y="4815"/>
                    <a:pt x="2935" y="2935"/>
                  </a:cubicBezTo>
                  <a:cubicBezTo>
                    <a:pt x="4815" y="1056"/>
                    <a:pt x="7364" y="0"/>
                    <a:pt x="10022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2"/>
            <p:cNvSpPr txBox="1"/>
            <p:nvPr/>
          </p:nvSpPr>
          <p:spPr>
            <a:xfrm>
              <a:off x="0" y="-28575"/>
              <a:ext cx="2034601" cy="749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7" name="Google Shape;367;p12"/>
          <p:cNvSpPr txBox="1"/>
          <p:nvPr/>
        </p:nvSpPr>
        <p:spPr>
          <a:xfrm>
            <a:off x="8325409" y="4454734"/>
            <a:ext cx="7455183" cy="178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6" u="none" cap="none" strike="noStrike">
                <a:solidFill>
                  <a:srgbClr val="D4D4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Desarrollar un módulo de gestión de terreno para estandarizar, digitalizar y controlar las operaciones de instalación, mediante el registro de órdenes de entrega, checklists y control de materiales por visita, con el fin de reducir errores, revisitas y compras urgentes de insumos en la empresa Puertas Blindadas Chile.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oogle Shape;372;p13"/>
          <p:cNvGrpSpPr/>
          <p:nvPr/>
        </p:nvGrpSpPr>
        <p:grpSpPr>
          <a:xfrm>
            <a:off x="0" y="-144661"/>
            <a:ext cx="18288000" cy="1583907"/>
            <a:chOff x="0" y="-38100"/>
            <a:chExt cx="4816593" cy="417161"/>
          </a:xfrm>
        </p:grpSpPr>
        <p:sp>
          <p:nvSpPr>
            <p:cNvPr id="373" name="Google Shape;373;p13"/>
            <p:cNvSpPr/>
            <p:nvPr/>
          </p:nvSpPr>
          <p:spPr>
            <a:xfrm>
              <a:off x="0" y="0"/>
              <a:ext cx="4816592" cy="379061"/>
            </a:xfrm>
            <a:custGeom>
              <a:rect b="b" l="l" r="r" t="t"/>
              <a:pathLst>
                <a:path extrusionOk="0" h="37906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9061"/>
                  </a:lnTo>
                  <a:lnTo>
                    <a:pt x="0" y="379061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374" name="Google Shape;374;p13"/>
            <p:cNvSpPr txBox="1"/>
            <p:nvPr/>
          </p:nvSpPr>
          <p:spPr>
            <a:xfrm>
              <a:off x="0" y="-38100"/>
              <a:ext cx="4816593" cy="417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p13"/>
          <p:cNvSpPr/>
          <p:nvPr/>
        </p:nvSpPr>
        <p:spPr>
          <a:xfrm>
            <a:off x="16667374" y="101426"/>
            <a:ext cx="1482029" cy="1236420"/>
          </a:xfrm>
          <a:custGeom>
            <a:rect b="b" l="l" r="r" t="t"/>
            <a:pathLst>
              <a:path extrusionOk="0" h="1200023" w="1438402">
                <a:moveTo>
                  <a:pt x="0" y="0"/>
                </a:moveTo>
                <a:lnTo>
                  <a:pt x="1438402" y="0"/>
                </a:lnTo>
                <a:lnTo>
                  <a:pt x="1438402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-2" t="0"/>
            </a:stretch>
          </a:blipFill>
          <a:ln>
            <a:noFill/>
          </a:ln>
        </p:spPr>
      </p:sp>
      <p:sp>
        <p:nvSpPr>
          <p:cNvPr id="376" name="Google Shape;376;p13"/>
          <p:cNvSpPr txBox="1"/>
          <p:nvPr/>
        </p:nvSpPr>
        <p:spPr>
          <a:xfrm>
            <a:off x="318043" y="348369"/>
            <a:ext cx="12277358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6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Objetivos específicos</a:t>
            </a:r>
            <a:endParaRPr/>
          </a:p>
        </p:txBody>
      </p:sp>
      <p:grpSp>
        <p:nvGrpSpPr>
          <p:cNvPr id="377" name="Google Shape;377;p13"/>
          <p:cNvGrpSpPr/>
          <p:nvPr/>
        </p:nvGrpSpPr>
        <p:grpSpPr>
          <a:xfrm>
            <a:off x="620912" y="1862858"/>
            <a:ext cx="16989089" cy="1144474"/>
            <a:chOff x="0" y="-47625"/>
            <a:chExt cx="4775020" cy="321671"/>
          </a:xfrm>
        </p:grpSpPr>
        <p:sp>
          <p:nvSpPr>
            <p:cNvPr id="378" name="Google Shape;378;p13"/>
            <p:cNvSpPr/>
            <p:nvPr/>
          </p:nvSpPr>
          <p:spPr>
            <a:xfrm>
              <a:off x="0" y="0"/>
              <a:ext cx="4775020" cy="274046"/>
            </a:xfrm>
            <a:custGeom>
              <a:rect b="b" l="l" r="r" t="t"/>
              <a:pathLst>
                <a:path extrusionOk="0" h="274046" w="4775020">
                  <a:moveTo>
                    <a:pt x="4557" y="0"/>
                  </a:moveTo>
                  <a:lnTo>
                    <a:pt x="4770463" y="0"/>
                  </a:lnTo>
                  <a:cubicBezTo>
                    <a:pt x="4771672" y="0"/>
                    <a:pt x="4772831" y="480"/>
                    <a:pt x="4773685" y="1335"/>
                  </a:cubicBezTo>
                  <a:cubicBezTo>
                    <a:pt x="4774540" y="2189"/>
                    <a:pt x="4775020" y="3348"/>
                    <a:pt x="4775020" y="4557"/>
                  </a:cubicBezTo>
                  <a:lnTo>
                    <a:pt x="4775020" y="269489"/>
                  </a:lnTo>
                  <a:cubicBezTo>
                    <a:pt x="4775020" y="270697"/>
                    <a:pt x="4774540" y="271856"/>
                    <a:pt x="4773685" y="272711"/>
                  </a:cubicBezTo>
                  <a:cubicBezTo>
                    <a:pt x="4772831" y="273565"/>
                    <a:pt x="4771672" y="274046"/>
                    <a:pt x="4770463" y="274046"/>
                  </a:cubicBezTo>
                  <a:lnTo>
                    <a:pt x="4557" y="274046"/>
                  </a:lnTo>
                  <a:cubicBezTo>
                    <a:pt x="3348" y="274046"/>
                    <a:pt x="2189" y="273565"/>
                    <a:pt x="1335" y="272711"/>
                  </a:cubicBezTo>
                  <a:cubicBezTo>
                    <a:pt x="480" y="271856"/>
                    <a:pt x="0" y="270697"/>
                    <a:pt x="0" y="269489"/>
                  </a:cubicBezTo>
                  <a:lnTo>
                    <a:pt x="0" y="4557"/>
                  </a:lnTo>
                  <a:cubicBezTo>
                    <a:pt x="0" y="3348"/>
                    <a:pt x="480" y="2189"/>
                    <a:pt x="1335" y="1335"/>
                  </a:cubicBezTo>
                  <a:cubicBezTo>
                    <a:pt x="2189" y="480"/>
                    <a:pt x="3348" y="0"/>
                    <a:pt x="4557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3"/>
            <p:cNvSpPr txBox="1"/>
            <p:nvPr/>
          </p:nvSpPr>
          <p:spPr>
            <a:xfrm>
              <a:off x="0" y="-47625"/>
              <a:ext cx="4775020" cy="321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248284" lvl="1" marL="496567" marR="0" rtl="0" algn="l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99"/>
                <a:buFont typeface="Arial"/>
                <a:buChar char="•"/>
              </a:pPr>
              <a:r>
                <a:rPr b="0" i="0" lang="en-US" sz="2299" u="none" cap="none" strike="noStrik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Realizar el análisis interno y externo de la organización, con el propósito de establecer su funcionamiento y contexto.</a:t>
              </a:r>
              <a:endParaRPr/>
            </a:p>
          </p:txBody>
        </p:sp>
      </p:grpSp>
      <p:grpSp>
        <p:nvGrpSpPr>
          <p:cNvPr id="380" name="Google Shape;380;p13"/>
          <p:cNvGrpSpPr/>
          <p:nvPr/>
        </p:nvGrpSpPr>
        <p:grpSpPr>
          <a:xfrm>
            <a:off x="620912" y="2956409"/>
            <a:ext cx="16989089" cy="1144474"/>
            <a:chOff x="0" y="-47625"/>
            <a:chExt cx="4775020" cy="321671"/>
          </a:xfrm>
        </p:grpSpPr>
        <p:sp>
          <p:nvSpPr>
            <p:cNvPr id="381" name="Google Shape;381;p13"/>
            <p:cNvSpPr/>
            <p:nvPr/>
          </p:nvSpPr>
          <p:spPr>
            <a:xfrm>
              <a:off x="0" y="0"/>
              <a:ext cx="4775020" cy="274046"/>
            </a:xfrm>
            <a:custGeom>
              <a:rect b="b" l="l" r="r" t="t"/>
              <a:pathLst>
                <a:path extrusionOk="0" h="274046" w="4775020">
                  <a:moveTo>
                    <a:pt x="4557" y="0"/>
                  </a:moveTo>
                  <a:lnTo>
                    <a:pt x="4770463" y="0"/>
                  </a:lnTo>
                  <a:cubicBezTo>
                    <a:pt x="4771672" y="0"/>
                    <a:pt x="4772831" y="480"/>
                    <a:pt x="4773685" y="1335"/>
                  </a:cubicBezTo>
                  <a:cubicBezTo>
                    <a:pt x="4774540" y="2189"/>
                    <a:pt x="4775020" y="3348"/>
                    <a:pt x="4775020" y="4557"/>
                  </a:cubicBezTo>
                  <a:lnTo>
                    <a:pt x="4775020" y="269489"/>
                  </a:lnTo>
                  <a:cubicBezTo>
                    <a:pt x="4775020" y="270697"/>
                    <a:pt x="4774540" y="271856"/>
                    <a:pt x="4773685" y="272711"/>
                  </a:cubicBezTo>
                  <a:cubicBezTo>
                    <a:pt x="4772831" y="273565"/>
                    <a:pt x="4771672" y="274046"/>
                    <a:pt x="4770463" y="274046"/>
                  </a:cubicBezTo>
                  <a:lnTo>
                    <a:pt x="4557" y="274046"/>
                  </a:lnTo>
                  <a:cubicBezTo>
                    <a:pt x="3348" y="274046"/>
                    <a:pt x="2189" y="273565"/>
                    <a:pt x="1335" y="272711"/>
                  </a:cubicBezTo>
                  <a:cubicBezTo>
                    <a:pt x="480" y="271856"/>
                    <a:pt x="0" y="270697"/>
                    <a:pt x="0" y="269489"/>
                  </a:cubicBezTo>
                  <a:lnTo>
                    <a:pt x="0" y="4557"/>
                  </a:lnTo>
                  <a:cubicBezTo>
                    <a:pt x="0" y="3348"/>
                    <a:pt x="480" y="2189"/>
                    <a:pt x="1335" y="1335"/>
                  </a:cubicBezTo>
                  <a:cubicBezTo>
                    <a:pt x="2189" y="480"/>
                    <a:pt x="3348" y="0"/>
                    <a:pt x="4557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3"/>
            <p:cNvSpPr txBox="1"/>
            <p:nvPr/>
          </p:nvSpPr>
          <p:spPr>
            <a:xfrm>
              <a:off x="0" y="-47625"/>
              <a:ext cx="4775020" cy="321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248284" lvl="1" marL="496567" marR="0" rtl="0" algn="l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99"/>
                <a:buFont typeface="Arial"/>
                <a:buChar char="•"/>
              </a:pPr>
              <a:r>
                <a:rPr b="0" i="0" lang="en-US" sz="2299" u="none" cap="none" strike="noStrik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Construir el levantamiento de procesos inicial con el propósito de determinar el funcionamiento de la organización.</a:t>
              </a:r>
              <a:endParaRPr/>
            </a:p>
          </p:txBody>
        </p:sp>
      </p:grpSp>
      <p:grpSp>
        <p:nvGrpSpPr>
          <p:cNvPr id="383" name="Google Shape;383;p13"/>
          <p:cNvGrpSpPr/>
          <p:nvPr/>
        </p:nvGrpSpPr>
        <p:grpSpPr>
          <a:xfrm>
            <a:off x="647583" y="4045738"/>
            <a:ext cx="16989089" cy="1544524"/>
            <a:chOff x="0" y="-47625"/>
            <a:chExt cx="4775020" cy="434110"/>
          </a:xfrm>
        </p:grpSpPr>
        <p:sp>
          <p:nvSpPr>
            <p:cNvPr id="384" name="Google Shape;384;p13"/>
            <p:cNvSpPr/>
            <p:nvPr/>
          </p:nvSpPr>
          <p:spPr>
            <a:xfrm>
              <a:off x="0" y="0"/>
              <a:ext cx="4775020" cy="386485"/>
            </a:xfrm>
            <a:custGeom>
              <a:rect b="b" l="l" r="r" t="t"/>
              <a:pathLst>
                <a:path extrusionOk="0" h="386485" w="4775020">
                  <a:moveTo>
                    <a:pt x="4557" y="0"/>
                  </a:moveTo>
                  <a:lnTo>
                    <a:pt x="4770463" y="0"/>
                  </a:lnTo>
                  <a:cubicBezTo>
                    <a:pt x="4771672" y="0"/>
                    <a:pt x="4772831" y="480"/>
                    <a:pt x="4773685" y="1335"/>
                  </a:cubicBezTo>
                  <a:cubicBezTo>
                    <a:pt x="4774540" y="2189"/>
                    <a:pt x="4775020" y="3348"/>
                    <a:pt x="4775020" y="4557"/>
                  </a:cubicBezTo>
                  <a:lnTo>
                    <a:pt x="4775020" y="381928"/>
                  </a:lnTo>
                  <a:cubicBezTo>
                    <a:pt x="4775020" y="383137"/>
                    <a:pt x="4774540" y="384296"/>
                    <a:pt x="4773685" y="385150"/>
                  </a:cubicBezTo>
                  <a:cubicBezTo>
                    <a:pt x="4772831" y="386005"/>
                    <a:pt x="4771672" y="386485"/>
                    <a:pt x="4770463" y="386485"/>
                  </a:cubicBezTo>
                  <a:lnTo>
                    <a:pt x="4557" y="386485"/>
                  </a:lnTo>
                  <a:cubicBezTo>
                    <a:pt x="3348" y="386485"/>
                    <a:pt x="2189" y="386005"/>
                    <a:pt x="1335" y="385150"/>
                  </a:cubicBezTo>
                  <a:cubicBezTo>
                    <a:pt x="480" y="384296"/>
                    <a:pt x="0" y="383137"/>
                    <a:pt x="0" y="381928"/>
                  </a:cubicBezTo>
                  <a:lnTo>
                    <a:pt x="0" y="4557"/>
                  </a:lnTo>
                  <a:cubicBezTo>
                    <a:pt x="0" y="3348"/>
                    <a:pt x="480" y="2189"/>
                    <a:pt x="1335" y="1335"/>
                  </a:cubicBezTo>
                  <a:cubicBezTo>
                    <a:pt x="2189" y="480"/>
                    <a:pt x="3348" y="0"/>
                    <a:pt x="4557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3"/>
            <p:cNvSpPr txBox="1"/>
            <p:nvPr/>
          </p:nvSpPr>
          <p:spPr>
            <a:xfrm>
              <a:off x="0" y="-47625"/>
              <a:ext cx="4775020" cy="434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248284" lvl="1" marL="496567" marR="0" rtl="0" algn="l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99"/>
                <a:buFont typeface="Arial"/>
                <a:buChar char="•"/>
              </a:pPr>
              <a:r>
                <a:rPr b="0" i="0" lang="en-US" sz="2299" u="none" cap="none" strike="noStrik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Analizar cuantitativamente los procesos con el fin de explicar el funcionamiento de la organización con énfasis en la identificación de tiempos, errores frecuentes y oportunidades de mejora en las tareas realizadas por los técnicos.</a:t>
              </a:r>
              <a:endParaRPr/>
            </a:p>
          </p:txBody>
        </p:sp>
      </p:grpSp>
      <p:grpSp>
        <p:nvGrpSpPr>
          <p:cNvPr id="386" name="Google Shape;386;p13"/>
          <p:cNvGrpSpPr/>
          <p:nvPr/>
        </p:nvGrpSpPr>
        <p:grpSpPr>
          <a:xfrm>
            <a:off x="677999" y="5535117"/>
            <a:ext cx="16989089" cy="1544524"/>
            <a:chOff x="0" y="-47625"/>
            <a:chExt cx="4775020" cy="434110"/>
          </a:xfrm>
        </p:grpSpPr>
        <p:sp>
          <p:nvSpPr>
            <p:cNvPr id="387" name="Google Shape;387;p13"/>
            <p:cNvSpPr/>
            <p:nvPr/>
          </p:nvSpPr>
          <p:spPr>
            <a:xfrm>
              <a:off x="0" y="0"/>
              <a:ext cx="4775020" cy="386485"/>
            </a:xfrm>
            <a:custGeom>
              <a:rect b="b" l="l" r="r" t="t"/>
              <a:pathLst>
                <a:path extrusionOk="0" h="386485" w="4775020">
                  <a:moveTo>
                    <a:pt x="4557" y="0"/>
                  </a:moveTo>
                  <a:lnTo>
                    <a:pt x="4770463" y="0"/>
                  </a:lnTo>
                  <a:cubicBezTo>
                    <a:pt x="4771672" y="0"/>
                    <a:pt x="4772831" y="480"/>
                    <a:pt x="4773685" y="1335"/>
                  </a:cubicBezTo>
                  <a:cubicBezTo>
                    <a:pt x="4774540" y="2189"/>
                    <a:pt x="4775020" y="3348"/>
                    <a:pt x="4775020" y="4557"/>
                  </a:cubicBezTo>
                  <a:lnTo>
                    <a:pt x="4775020" y="381928"/>
                  </a:lnTo>
                  <a:cubicBezTo>
                    <a:pt x="4775020" y="383137"/>
                    <a:pt x="4774540" y="384296"/>
                    <a:pt x="4773685" y="385150"/>
                  </a:cubicBezTo>
                  <a:cubicBezTo>
                    <a:pt x="4772831" y="386005"/>
                    <a:pt x="4771672" y="386485"/>
                    <a:pt x="4770463" y="386485"/>
                  </a:cubicBezTo>
                  <a:lnTo>
                    <a:pt x="4557" y="386485"/>
                  </a:lnTo>
                  <a:cubicBezTo>
                    <a:pt x="3348" y="386485"/>
                    <a:pt x="2189" y="386005"/>
                    <a:pt x="1335" y="385150"/>
                  </a:cubicBezTo>
                  <a:cubicBezTo>
                    <a:pt x="480" y="384296"/>
                    <a:pt x="0" y="383137"/>
                    <a:pt x="0" y="381928"/>
                  </a:cubicBezTo>
                  <a:lnTo>
                    <a:pt x="0" y="4557"/>
                  </a:lnTo>
                  <a:cubicBezTo>
                    <a:pt x="0" y="3348"/>
                    <a:pt x="480" y="2189"/>
                    <a:pt x="1335" y="1335"/>
                  </a:cubicBezTo>
                  <a:cubicBezTo>
                    <a:pt x="2189" y="480"/>
                    <a:pt x="3348" y="0"/>
                    <a:pt x="4557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3"/>
            <p:cNvSpPr txBox="1"/>
            <p:nvPr/>
          </p:nvSpPr>
          <p:spPr>
            <a:xfrm>
              <a:off x="0" y="-47625"/>
              <a:ext cx="4775020" cy="434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248284" lvl="1" marL="496567" marR="0" rtl="0" algn="l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99"/>
                <a:buFont typeface="Arial"/>
                <a:buChar char="•"/>
              </a:pPr>
              <a:r>
                <a:rPr b="0" i="0" lang="en-US" sz="2299" u="none" cap="none" strike="noStrik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Establecer el análisis cualitativo basado en la recopilación de datos en terreno, con el fin de explicar las problemáticas causales como retrasos, fallas de comunicación o pérdidas de material que afectan la eficiencia de la organización.</a:t>
              </a:r>
              <a:endParaRPr/>
            </a:p>
          </p:txBody>
        </p:sp>
      </p:grpSp>
      <p:grpSp>
        <p:nvGrpSpPr>
          <p:cNvPr id="389" name="Google Shape;389;p13"/>
          <p:cNvGrpSpPr/>
          <p:nvPr/>
        </p:nvGrpSpPr>
        <p:grpSpPr>
          <a:xfrm>
            <a:off x="677999" y="7024496"/>
            <a:ext cx="16989089" cy="1144474"/>
            <a:chOff x="0" y="-47625"/>
            <a:chExt cx="4775020" cy="321671"/>
          </a:xfrm>
        </p:grpSpPr>
        <p:sp>
          <p:nvSpPr>
            <p:cNvPr id="390" name="Google Shape;390;p13"/>
            <p:cNvSpPr/>
            <p:nvPr/>
          </p:nvSpPr>
          <p:spPr>
            <a:xfrm>
              <a:off x="0" y="0"/>
              <a:ext cx="4775020" cy="274046"/>
            </a:xfrm>
            <a:custGeom>
              <a:rect b="b" l="l" r="r" t="t"/>
              <a:pathLst>
                <a:path extrusionOk="0" h="274046" w="4775020">
                  <a:moveTo>
                    <a:pt x="4557" y="0"/>
                  </a:moveTo>
                  <a:lnTo>
                    <a:pt x="4770463" y="0"/>
                  </a:lnTo>
                  <a:cubicBezTo>
                    <a:pt x="4771672" y="0"/>
                    <a:pt x="4772831" y="480"/>
                    <a:pt x="4773685" y="1335"/>
                  </a:cubicBezTo>
                  <a:cubicBezTo>
                    <a:pt x="4774540" y="2189"/>
                    <a:pt x="4775020" y="3348"/>
                    <a:pt x="4775020" y="4557"/>
                  </a:cubicBezTo>
                  <a:lnTo>
                    <a:pt x="4775020" y="269489"/>
                  </a:lnTo>
                  <a:cubicBezTo>
                    <a:pt x="4775020" y="270697"/>
                    <a:pt x="4774540" y="271856"/>
                    <a:pt x="4773685" y="272711"/>
                  </a:cubicBezTo>
                  <a:cubicBezTo>
                    <a:pt x="4772831" y="273565"/>
                    <a:pt x="4771672" y="274046"/>
                    <a:pt x="4770463" y="274046"/>
                  </a:cubicBezTo>
                  <a:lnTo>
                    <a:pt x="4557" y="274046"/>
                  </a:lnTo>
                  <a:cubicBezTo>
                    <a:pt x="3348" y="274046"/>
                    <a:pt x="2189" y="273565"/>
                    <a:pt x="1335" y="272711"/>
                  </a:cubicBezTo>
                  <a:cubicBezTo>
                    <a:pt x="480" y="271856"/>
                    <a:pt x="0" y="270697"/>
                    <a:pt x="0" y="269489"/>
                  </a:cubicBezTo>
                  <a:lnTo>
                    <a:pt x="0" y="4557"/>
                  </a:lnTo>
                  <a:cubicBezTo>
                    <a:pt x="0" y="3348"/>
                    <a:pt x="480" y="2189"/>
                    <a:pt x="1335" y="1335"/>
                  </a:cubicBezTo>
                  <a:cubicBezTo>
                    <a:pt x="2189" y="480"/>
                    <a:pt x="3348" y="0"/>
                    <a:pt x="4557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3"/>
            <p:cNvSpPr txBox="1"/>
            <p:nvPr/>
          </p:nvSpPr>
          <p:spPr>
            <a:xfrm>
              <a:off x="0" y="-47625"/>
              <a:ext cx="4775020" cy="321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248284" lvl="1" marL="496567" marR="0" rtl="0" algn="l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99"/>
                <a:buFont typeface="Arial"/>
                <a:buChar char="•"/>
              </a:pPr>
              <a:r>
                <a:rPr b="0" i="0" lang="en-US" sz="2299" u="none" cap="none" strike="noStrik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Definir los requisitos del sistema para satisfacer las necesidades de reportabilidad y control de obras detectadas en el levantamiento de procesos de la organización.</a:t>
              </a:r>
              <a:endParaRPr/>
            </a:p>
          </p:txBody>
        </p:sp>
      </p:grpSp>
      <p:grpSp>
        <p:nvGrpSpPr>
          <p:cNvPr id="392" name="Google Shape;392;p13"/>
          <p:cNvGrpSpPr/>
          <p:nvPr/>
        </p:nvGrpSpPr>
        <p:grpSpPr>
          <a:xfrm>
            <a:off x="677999" y="8113826"/>
            <a:ext cx="16989089" cy="1144474"/>
            <a:chOff x="0" y="-47625"/>
            <a:chExt cx="4775020" cy="321671"/>
          </a:xfrm>
        </p:grpSpPr>
        <p:sp>
          <p:nvSpPr>
            <p:cNvPr id="393" name="Google Shape;393;p13"/>
            <p:cNvSpPr/>
            <p:nvPr/>
          </p:nvSpPr>
          <p:spPr>
            <a:xfrm>
              <a:off x="0" y="0"/>
              <a:ext cx="4775020" cy="274046"/>
            </a:xfrm>
            <a:custGeom>
              <a:rect b="b" l="l" r="r" t="t"/>
              <a:pathLst>
                <a:path extrusionOk="0" h="274046" w="4775020">
                  <a:moveTo>
                    <a:pt x="4557" y="0"/>
                  </a:moveTo>
                  <a:lnTo>
                    <a:pt x="4770463" y="0"/>
                  </a:lnTo>
                  <a:cubicBezTo>
                    <a:pt x="4771672" y="0"/>
                    <a:pt x="4772831" y="480"/>
                    <a:pt x="4773685" y="1335"/>
                  </a:cubicBezTo>
                  <a:cubicBezTo>
                    <a:pt x="4774540" y="2189"/>
                    <a:pt x="4775020" y="3348"/>
                    <a:pt x="4775020" y="4557"/>
                  </a:cubicBezTo>
                  <a:lnTo>
                    <a:pt x="4775020" y="269489"/>
                  </a:lnTo>
                  <a:cubicBezTo>
                    <a:pt x="4775020" y="270697"/>
                    <a:pt x="4774540" y="271856"/>
                    <a:pt x="4773685" y="272711"/>
                  </a:cubicBezTo>
                  <a:cubicBezTo>
                    <a:pt x="4772831" y="273565"/>
                    <a:pt x="4771672" y="274046"/>
                    <a:pt x="4770463" y="274046"/>
                  </a:cubicBezTo>
                  <a:lnTo>
                    <a:pt x="4557" y="274046"/>
                  </a:lnTo>
                  <a:cubicBezTo>
                    <a:pt x="3348" y="274046"/>
                    <a:pt x="2189" y="273565"/>
                    <a:pt x="1335" y="272711"/>
                  </a:cubicBezTo>
                  <a:cubicBezTo>
                    <a:pt x="480" y="271856"/>
                    <a:pt x="0" y="270697"/>
                    <a:pt x="0" y="269489"/>
                  </a:cubicBezTo>
                  <a:lnTo>
                    <a:pt x="0" y="4557"/>
                  </a:lnTo>
                  <a:cubicBezTo>
                    <a:pt x="0" y="3348"/>
                    <a:pt x="480" y="2189"/>
                    <a:pt x="1335" y="1335"/>
                  </a:cubicBezTo>
                  <a:cubicBezTo>
                    <a:pt x="2189" y="480"/>
                    <a:pt x="3348" y="0"/>
                    <a:pt x="4557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3"/>
            <p:cNvSpPr txBox="1"/>
            <p:nvPr/>
          </p:nvSpPr>
          <p:spPr>
            <a:xfrm>
              <a:off x="0" y="-47625"/>
              <a:ext cx="4775020" cy="321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248284" lvl="1" marL="496567" marR="0" rtl="0" algn="l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99"/>
                <a:buFont typeface="Arial"/>
                <a:buChar char="•"/>
              </a:pPr>
              <a:r>
                <a:rPr b="0" i="0" lang="en-US" sz="2299" u="none" cap="none" strike="noStrik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Generar requerimientos funcionales y no funcionales del sistema con el propósito de que respondan a las necesidades de la organización.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14"/>
          <p:cNvGrpSpPr/>
          <p:nvPr/>
        </p:nvGrpSpPr>
        <p:grpSpPr>
          <a:xfrm>
            <a:off x="0" y="-144661"/>
            <a:ext cx="18288000" cy="1583907"/>
            <a:chOff x="0" y="-38100"/>
            <a:chExt cx="4816593" cy="417161"/>
          </a:xfrm>
        </p:grpSpPr>
        <p:sp>
          <p:nvSpPr>
            <p:cNvPr id="400" name="Google Shape;400;p14"/>
            <p:cNvSpPr/>
            <p:nvPr/>
          </p:nvSpPr>
          <p:spPr>
            <a:xfrm>
              <a:off x="0" y="0"/>
              <a:ext cx="4816592" cy="379061"/>
            </a:xfrm>
            <a:custGeom>
              <a:rect b="b" l="l" r="r" t="t"/>
              <a:pathLst>
                <a:path extrusionOk="0" h="37906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9061"/>
                  </a:lnTo>
                  <a:lnTo>
                    <a:pt x="0" y="379061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401" name="Google Shape;401;p14"/>
            <p:cNvSpPr txBox="1"/>
            <p:nvPr/>
          </p:nvSpPr>
          <p:spPr>
            <a:xfrm>
              <a:off x="0" y="-38100"/>
              <a:ext cx="4816593" cy="417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2" name="Google Shape;402;p14"/>
          <p:cNvSpPr/>
          <p:nvPr/>
        </p:nvSpPr>
        <p:spPr>
          <a:xfrm>
            <a:off x="16667374" y="101426"/>
            <a:ext cx="1482029" cy="1236420"/>
          </a:xfrm>
          <a:custGeom>
            <a:rect b="b" l="l" r="r" t="t"/>
            <a:pathLst>
              <a:path extrusionOk="0" h="1200023" w="1438402">
                <a:moveTo>
                  <a:pt x="0" y="0"/>
                </a:moveTo>
                <a:lnTo>
                  <a:pt x="1438402" y="0"/>
                </a:lnTo>
                <a:lnTo>
                  <a:pt x="1438402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-2" t="0"/>
            </a:stretch>
          </a:blipFill>
          <a:ln>
            <a:noFill/>
          </a:ln>
        </p:spPr>
      </p:sp>
      <p:sp>
        <p:nvSpPr>
          <p:cNvPr id="403" name="Google Shape;403;p14"/>
          <p:cNvSpPr txBox="1"/>
          <p:nvPr/>
        </p:nvSpPr>
        <p:spPr>
          <a:xfrm>
            <a:off x="318043" y="348369"/>
            <a:ext cx="12277358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6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Objetivos específicos</a:t>
            </a:r>
            <a:endParaRPr/>
          </a:p>
        </p:txBody>
      </p:sp>
      <p:grpSp>
        <p:nvGrpSpPr>
          <p:cNvPr id="404" name="Google Shape;404;p14"/>
          <p:cNvGrpSpPr/>
          <p:nvPr/>
        </p:nvGrpSpPr>
        <p:grpSpPr>
          <a:xfrm>
            <a:off x="636120" y="3107015"/>
            <a:ext cx="16989089" cy="744424"/>
            <a:chOff x="0" y="-47625"/>
            <a:chExt cx="4775020" cy="209231"/>
          </a:xfrm>
        </p:grpSpPr>
        <p:sp>
          <p:nvSpPr>
            <p:cNvPr id="405" name="Google Shape;405;p14"/>
            <p:cNvSpPr/>
            <p:nvPr/>
          </p:nvSpPr>
          <p:spPr>
            <a:xfrm>
              <a:off x="0" y="0"/>
              <a:ext cx="4775020" cy="161606"/>
            </a:xfrm>
            <a:custGeom>
              <a:rect b="b" l="l" r="r" t="t"/>
              <a:pathLst>
                <a:path extrusionOk="0" h="161606" w="4775020">
                  <a:moveTo>
                    <a:pt x="4557" y="0"/>
                  </a:moveTo>
                  <a:lnTo>
                    <a:pt x="4770463" y="0"/>
                  </a:lnTo>
                  <a:cubicBezTo>
                    <a:pt x="4771672" y="0"/>
                    <a:pt x="4772831" y="480"/>
                    <a:pt x="4773685" y="1335"/>
                  </a:cubicBezTo>
                  <a:cubicBezTo>
                    <a:pt x="4774540" y="2189"/>
                    <a:pt x="4775020" y="3348"/>
                    <a:pt x="4775020" y="4557"/>
                  </a:cubicBezTo>
                  <a:lnTo>
                    <a:pt x="4775020" y="157049"/>
                  </a:lnTo>
                  <a:cubicBezTo>
                    <a:pt x="4775020" y="158258"/>
                    <a:pt x="4774540" y="159417"/>
                    <a:pt x="4773685" y="160271"/>
                  </a:cubicBezTo>
                  <a:cubicBezTo>
                    <a:pt x="4772831" y="161126"/>
                    <a:pt x="4771672" y="161606"/>
                    <a:pt x="4770463" y="161606"/>
                  </a:cubicBezTo>
                  <a:lnTo>
                    <a:pt x="4557" y="161606"/>
                  </a:lnTo>
                  <a:cubicBezTo>
                    <a:pt x="3348" y="161606"/>
                    <a:pt x="2189" y="161126"/>
                    <a:pt x="1335" y="160271"/>
                  </a:cubicBezTo>
                  <a:cubicBezTo>
                    <a:pt x="480" y="159417"/>
                    <a:pt x="0" y="158258"/>
                    <a:pt x="0" y="157049"/>
                  </a:cubicBezTo>
                  <a:lnTo>
                    <a:pt x="0" y="4557"/>
                  </a:lnTo>
                  <a:cubicBezTo>
                    <a:pt x="0" y="3348"/>
                    <a:pt x="480" y="2189"/>
                    <a:pt x="1335" y="1335"/>
                  </a:cubicBezTo>
                  <a:cubicBezTo>
                    <a:pt x="2189" y="480"/>
                    <a:pt x="3348" y="0"/>
                    <a:pt x="4557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4"/>
            <p:cNvSpPr txBox="1"/>
            <p:nvPr/>
          </p:nvSpPr>
          <p:spPr>
            <a:xfrm>
              <a:off x="0" y="-47625"/>
              <a:ext cx="4775020" cy="209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248284" lvl="1" marL="496567" marR="0" rtl="0" algn="l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99"/>
                <a:buFont typeface="Arial"/>
                <a:buChar char="•"/>
              </a:pPr>
              <a:r>
                <a:rPr b="0" i="0" lang="en-US" sz="2299" u="none" cap="none" strike="noStrik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Elaborar los casos de uso extendido para representar las interacciones entre el usuario y el sistema.</a:t>
              </a:r>
              <a:endParaRPr/>
            </a:p>
          </p:txBody>
        </p:sp>
      </p:grpSp>
      <p:grpSp>
        <p:nvGrpSpPr>
          <p:cNvPr id="407" name="Google Shape;407;p14"/>
          <p:cNvGrpSpPr/>
          <p:nvPr/>
        </p:nvGrpSpPr>
        <p:grpSpPr>
          <a:xfrm>
            <a:off x="636120" y="3798228"/>
            <a:ext cx="16989089" cy="1144474"/>
            <a:chOff x="0" y="-47625"/>
            <a:chExt cx="4775020" cy="321671"/>
          </a:xfrm>
        </p:grpSpPr>
        <p:sp>
          <p:nvSpPr>
            <p:cNvPr id="408" name="Google Shape;408;p14"/>
            <p:cNvSpPr/>
            <p:nvPr/>
          </p:nvSpPr>
          <p:spPr>
            <a:xfrm>
              <a:off x="0" y="0"/>
              <a:ext cx="4775020" cy="274046"/>
            </a:xfrm>
            <a:custGeom>
              <a:rect b="b" l="l" r="r" t="t"/>
              <a:pathLst>
                <a:path extrusionOk="0" h="274046" w="4775020">
                  <a:moveTo>
                    <a:pt x="4557" y="0"/>
                  </a:moveTo>
                  <a:lnTo>
                    <a:pt x="4770463" y="0"/>
                  </a:lnTo>
                  <a:cubicBezTo>
                    <a:pt x="4771672" y="0"/>
                    <a:pt x="4772831" y="480"/>
                    <a:pt x="4773685" y="1335"/>
                  </a:cubicBezTo>
                  <a:cubicBezTo>
                    <a:pt x="4774540" y="2189"/>
                    <a:pt x="4775020" y="3348"/>
                    <a:pt x="4775020" y="4557"/>
                  </a:cubicBezTo>
                  <a:lnTo>
                    <a:pt x="4775020" y="269489"/>
                  </a:lnTo>
                  <a:cubicBezTo>
                    <a:pt x="4775020" y="270697"/>
                    <a:pt x="4774540" y="271856"/>
                    <a:pt x="4773685" y="272711"/>
                  </a:cubicBezTo>
                  <a:cubicBezTo>
                    <a:pt x="4772831" y="273565"/>
                    <a:pt x="4771672" y="274046"/>
                    <a:pt x="4770463" y="274046"/>
                  </a:cubicBezTo>
                  <a:lnTo>
                    <a:pt x="4557" y="274046"/>
                  </a:lnTo>
                  <a:cubicBezTo>
                    <a:pt x="3348" y="274046"/>
                    <a:pt x="2189" y="273565"/>
                    <a:pt x="1335" y="272711"/>
                  </a:cubicBezTo>
                  <a:cubicBezTo>
                    <a:pt x="480" y="271856"/>
                    <a:pt x="0" y="270697"/>
                    <a:pt x="0" y="269489"/>
                  </a:cubicBezTo>
                  <a:lnTo>
                    <a:pt x="0" y="4557"/>
                  </a:lnTo>
                  <a:cubicBezTo>
                    <a:pt x="0" y="3348"/>
                    <a:pt x="480" y="2189"/>
                    <a:pt x="1335" y="1335"/>
                  </a:cubicBezTo>
                  <a:cubicBezTo>
                    <a:pt x="2189" y="480"/>
                    <a:pt x="3348" y="0"/>
                    <a:pt x="4557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4"/>
            <p:cNvSpPr txBox="1"/>
            <p:nvPr/>
          </p:nvSpPr>
          <p:spPr>
            <a:xfrm>
              <a:off x="0" y="-47625"/>
              <a:ext cx="4775020" cy="321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248284" lvl="1" marL="496567" marR="0" rtl="0" algn="l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99"/>
                <a:buFont typeface="Arial"/>
                <a:buChar char="•"/>
              </a:pPr>
              <a:r>
                <a:rPr b="0" i="0" lang="en-US" sz="2299" u="none" cap="none" strike="noStrik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Diseñar la solución basada en la metodología Scrum++ con el propósito de asegurar la trazabilidad del sistema.</a:t>
              </a:r>
              <a:endParaRPr/>
            </a:p>
          </p:txBody>
        </p:sp>
      </p:grpSp>
      <p:grpSp>
        <p:nvGrpSpPr>
          <p:cNvPr id="410" name="Google Shape;410;p14"/>
          <p:cNvGrpSpPr/>
          <p:nvPr/>
        </p:nvGrpSpPr>
        <p:grpSpPr>
          <a:xfrm>
            <a:off x="636120" y="4887557"/>
            <a:ext cx="16989089" cy="744424"/>
            <a:chOff x="0" y="-47625"/>
            <a:chExt cx="4775020" cy="209231"/>
          </a:xfrm>
        </p:grpSpPr>
        <p:sp>
          <p:nvSpPr>
            <p:cNvPr id="411" name="Google Shape;411;p14"/>
            <p:cNvSpPr/>
            <p:nvPr/>
          </p:nvSpPr>
          <p:spPr>
            <a:xfrm>
              <a:off x="0" y="0"/>
              <a:ext cx="4775020" cy="161606"/>
            </a:xfrm>
            <a:custGeom>
              <a:rect b="b" l="l" r="r" t="t"/>
              <a:pathLst>
                <a:path extrusionOk="0" h="161606" w="4775020">
                  <a:moveTo>
                    <a:pt x="4557" y="0"/>
                  </a:moveTo>
                  <a:lnTo>
                    <a:pt x="4770463" y="0"/>
                  </a:lnTo>
                  <a:cubicBezTo>
                    <a:pt x="4771672" y="0"/>
                    <a:pt x="4772831" y="480"/>
                    <a:pt x="4773685" y="1335"/>
                  </a:cubicBezTo>
                  <a:cubicBezTo>
                    <a:pt x="4774540" y="2189"/>
                    <a:pt x="4775020" y="3348"/>
                    <a:pt x="4775020" y="4557"/>
                  </a:cubicBezTo>
                  <a:lnTo>
                    <a:pt x="4775020" y="157049"/>
                  </a:lnTo>
                  <a:cubicBezTo>
                    <a:pt x="4775020" y="158258"/>
                    <a:pt x="4774540" y="159417"/>
                    <a:pt x="4773685" y="160271"/>
                  </a:cubicBezTo>
                  <a:cubicBezTo>
                    <a:pt x="4772831" y="161126"/>
                    <a:pt x="4771672" y="161606"/>
                    <a:pt x="4770463" y="161606"/>
                  </a:cubicBezTo>
                  <a:lnTo>
                    <a:pt x="4557" y="161606"/>
                  </a:lnTo>
                  <a:cubicBezTo>
                    <a:pt x="3348" y="161606"/>
                    <a:pt x="2189" y="161126"/>
                    <a:pt x="1335" y="160271"/>
                  </a:cubicBezTo>
                  <a:cubicBezTo>
                    <a:pt x="480" y="159417"/>
                    <a:pt x="0" y="158258"/>
                    <a:pt x="0" y="157049"/>
                  </a:cubicBezTo>
                  <a:lnTo>
                    <a:pt x="0" y="4557"/>
                  </a:lnTo>
                  <a:cubicBezTo>
                    <a:pt x="0" y="3348"/>
                    <a:pt x="480" y="2189"/>
                    <a:pt x="1335" y="1335"/>
                  </a:cubicBezTo>
                  <a:cubicBezTo>
                    <a:pt x="2189" y="480"/>
                    <a:pt x="3348" y="0"/>
                    <a:pt x="4557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4"/>
            <p:cNvSpPr txBox="1"/>
            <p:nvPr/>
          </p:nvSpPr>
          <p:spPr>
            <a:xfrm>
              <a:off x="0" y="-47625"/>
              <a:ext cx="4775020" cy="209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248284" lvl="1" marL="496567" marR="0" rtl="0" algn="l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99"/>
                <a:buFont typeface="Arial"/>
                <a:buChar char="•"/>
              </a:pPr>
              <a:r>
                <a:rPr b="0" i="0" lang="en-US" sz="2299" u="none" cap="none" strike="noStrik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Verificar el sistema con el propósito de demostrar la trazabilidad basada en ISO 25001.</a:t>
              </a:r>
              <a:endParaRPr/>
            </a:p>
          </p:txBody>
        </p:sp>
      </p:grpSp>
      <p:grpSp>
        <p:nvGrpSpPr>
          <p:cNvPr id="413" name="Google Shape;413;p14"/>
          <p:cNvGrpSpPr/>
          <p:nvPr/>
        </p:nvGrpSpPr>
        <p:grpSpPr>
          <a:xfrm>
            <a:off x="636120" y="5576836"/>
            <a:ext cx="16989089" cy="744424"/>
            <a:chOff x="0" y="-47625"/>
            <a:chExt cx="4775020" cy="209231"/>
          </a:xfrm>
        </p:grpSpPr>
        <p:sp>
          <p:nvSpPr>
            <p:cNvPr id="414" name="Google Shape;414;p14"/>
            <p:cNvSpPr/>
            <p:nvPr/>
          </p:nvSpPr>
          <p:spPr>
            <a:xfrm>
              <a:off x="0" y="0"/>
              <a:ext cx="4775020" cy="161606"/>
            </a:xfrm>
            <a:custGeom>
              <a:rect b="b" l="l" r="r" t="t"/>
              <a:pathLst>
                <a:path extrusionOk="0" h="161606" w="4775020">
                  <a:moveTo>
                    <a:pt x="4557" y="0"/>
                  </a:moveTo>
                  <a:lnTo>
                    <a:pt x="4770463" y="0"/>
                  </a:lnTo>
                  <a:cubicBezTo>
                    <a:pt x="4771672" y="0"/>
                    <a:pt x="4772831" y="480"/>
                    <a:pt x="4773685" y="1335"/>
                  </a:cubicBezTo>
                  <a:cubicBezTo>
                    <a:pt x="4774540" y="2189"/>
                    <a:pt x="4775020" y="3348"/>
                    <a:pt x="4775020" y="4557"/>
                  </a:cubicBezTo>
                  <a:lnTo>
                    <a:pt x="4775020" y="157049"/>
                  </a:lnTo>
                  <a:cubicBezTo>
                    <a:pt x="4775020" y="158258"/>
                    <a:pt x="4774540" y="159417"/>
                    <a:pt x="4773685" y="160271"/>
                  </a:cubicBezTo>
                  <a:cubicBezTo>
                    <a:pt x="4772831" y="161126"/>
                    <a:pt x="4771672" y="161606"/>
                    <a:pt x="4770463" y="161606"/>
                  </a:cubicBezTo>
                  <a:lnTo>
                    <a:pt x="4557" y="161606"/>
                  </a:lnTo>
                  <a:cubicBezTo>
                    <a:pt x="3348" y="161606"/>
                    <a:pt x="2189" y="161126"/>
                    <a:pt x="1335" y="160271"/>
                  </a:cubicBezTo>
                  <a:cubicBezTo>
                    <a:pt x="480" y="159417"/>
                    <a:pt x="0" y="158258"/>
                    <a:pt x="0" y="157049"/>
                  </a:cubicBezTo>
                  <a:lnTo>
                    <a:pt x="0" y="4557"/>
                  </a:lnTo>
                  <a:cubicBezTo>
                    <a:pt x="0" y="3348"/>
                    <a:pt x="480" y="2189"/>
                    <a:pt x="1335" y="1335"/>
                  </a:cubicBezTo>
                  <a:cubicBezTo>
                    <a:pt x="2189" y="480"/>
                    <a:pt x="3348" y="0"/>
                    <a:pt x="4557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4"/>
            <p:cNvSpPr txBox="1"/>
            <p:nvPr/>
          </p:nvSpPr>
          <p:spPr>
            <a:xfrm>
              <a:off x="0" y="-47625"/>
              <a:ext cx="4775020" cy="209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248284" lvl="1" marL="496567" marR="0" rtl="0" algn="l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99"/>
                <a:buFont typeface="Arial"/>
                <a:buChar char="•"/>
              </a:pPr>
              <a:r>
                <a:rPr b="0" i="0" lang="en-US" sz="2299" u="none" cap="none" strike="noStrik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Validar el sistema con el propósito de demostrar la satisfacción de la organización.</a:t>
              </a:r>
              <a:endParaRPr/>
            </a:p>
          </p:txBody>
        </p:sp>
      </p:grpSp>
      <p:grpSp>
        <p:nvGrpSpPr>
          <p:cNvPr id="416" name="Google Shape;416;p14"/>
          <p:cNvGrpSpPr/>
          <p:nvPr/>
        </p:nvGrpSpPr>
        <p:grpSpPr>
          <a:xfrm>
            <a:off x="662791" y="6266115"/>
            <a:ext cx="16989089" cy="744424"/>
            <a:chOff x="0" y="-47625"/>
            <a:chExt cx="4775020" cy="209231"/>
          </a:xfrm>
        </p:grpSpPr>
        <p:sp>
          <p:nvSpPr>
            <p:cNvPr id="417" name="Google Shape;417;p14"/>
            <p:cNvSpPr/>
            <p:nvPr/>
          </p:nvSpPr>
          <p:spPr>
            <a:xfrm>
              <a:off x="0" y="0"/>
              <a:ext cx="4775020" cy="161606"/>
            </a:xfrm>
            <a:custGeom>
              <a:rect b="b" l="l" r="r" t="t"/>
              <a:pathLst>
                <a:path extrusionOk="0" h="161606" w="4775020">
                  <a:moveTo>
                    <a:pt x="4557" y="0"/>
                  </a:moveTo>
                  <a:lnTo>
                    <a:pt x="4770463" y="0"/>
                  </a:lnTo>
                  <a:cubicBezTo>
                    <a:pt x="4771672" y="0"/>
                    <a:pt x="4772831" y="480"/>
                    <a:pt x="4773685" y="1335"/>
                  </a:cubicBezTo>
                  <a:cubicBezTo>
                    <a:pt x="4774540" y="2189"/>
                    <a:pt x="4775020" y="3348"/>
                    <a:pt x="4775020" y="4557"/>
                  </a:cubicBezTo>
                  <a:lnTo>
                    <a:pt x="4775020" y="157049"/>
                  </a:lnTo>
                  <a:cubicBezTo>
                    <a:pt x="4775020" y="158258"/>
                    <a:pt x="4774540" y="159417"/>
                    <a:pt x="4773685" y="160271"/>
                  </a:cubicBezTo>
                  <a:cubicBezTo>
                    <a:pt x="4772831" y="161126"/>
                    <a:pt x="4771672" y="161606"/>
                    <a:pt x="4770463" y="161606"/>
                  </a:cubicBezTo>
                  <a:lnTo>
                    <a:pt x="4557" y="161606"/>
                  </a:lnTo>
                  <a:cubicBezTo>
                    <a:pt x="3348" y="161606"/>
                    <a:pt x="2189" y="161126"/>
                    <a:pt x="1335" y="160271"/>
                  </a:cubicBezTo>
                  <a:cubicBezTo>
                    <a:pt x="480" y="159417"/>
                    <a:pt x="0" y="158258"/>
                    <a:pt x="0" y="157049"/>
                  </a:cubicBezTo>
                  <a:lnTo>
                    <a:pt x="0" y="4557"/>
                  </a:lnTo>
                  <a:cubicBezTo>
                    <a:pt x="0" y="3348"/>
                    <a:pt x="480" y="2189"/>
                    <a:pt x="1335" y="1335"/>
                  </a:cubicBezTo>
                  <a:cubicBezTo>
                    <a:pt x="2189" y="480"/>
                    <a:pt x="3348" y="0"/>
                    <a:pt x="4557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4"/>
            <p:cNvSpPr txBox="1"/>
            <p:nvPr/>
          </p:nvSpPr>
          <p:spPr>
            <a:xfrm>
              <a:off x="0" y="-47625"/>
              <a:ext cx="4775020" cy="209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248284" lvl="1" marL="496567" marR="0" rtl="0" algn="l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99"/>
                <a:buFont typeface="Arial"/>
                <a:buChar char="•"/>
              </a:pPr>
              <a:r>
                <a:rPr b="0" i="0" lang="en-US" sz="2299" u="none" cap="none" strike="noStrik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Establecer la evaluación de costos y beneficio con el propósito de establecer el aporte de la solución.</a:t>
              </a:r>
              <a:endParaRPr/>
            </a:p>
          </p:txBody>
        </p:sp>
      </p:grpSp>
      <p:grpSp>
        <p:nvGrpSpPr>
          <p:cNvPr id="419" name="Google Shape;419;p14"/>
          <p:cNvGrpSpPr/>
          <p:nvPr/>
        </p:nvGrpSpPr>
        <p:grpSpPr>
          <a:xfrm>
            <a:off x="662791" y="6955395"/>
            <a:ext cx="16989089" cy="1144474"/>
            <a:chOff x="0" y="-47625"/>
            <a:chExt cx="4775020" cy="321671"/>
          </a:xfrm>
        </p:grpSpPr>
        <p:sp>
          <p:nvSpPr>
            <p:cNvPr id="420" name="Google Shape;420;p14"/>
            <p:cNvSpPr/>
            <p:nvPr/>
          </p:nvSpPr>
          <p:spPr>
            <a:xfrm>
              <a:off x="0" y="0"/>
              <a:ext cx="4775020" cy="274046"/>
            </a:xfrm>
            <a:custGeom>
              <a:rect b="b" l="l" r="r" t="t"/>
              <a:pathLst>
                <a:path extrusionOk="0" h="274046" w="4775020">
                  <a:moveTo>
                    <a:pt x="4557" y="0"/>
                  </a:moveTo>
                  <a:lnTo>
                    <a:pt x="4770463" y="0"/>
                  </a:lnTo>
                  <a:cubicBezTo>
                    <a:pt x="4771672" y="0"/>
                    <a:pt x="4772831" y="480"/>
                    <a:pt x="4773685" y="1335"/>
                  </a:cubicBezTo>
                  <a:cubicBezTo>
                    <a:pt x="4774540" y="2189"/>
                    <a:pt x="4775020" y="3348"/>
                    <a:pt x="4775020" y="4557"/>
                  </a:cubicBezTo>
                  <a:lnTo>
                    <a:pt x="4775020" y="269489"/>
                  </a:lnTo>
                  <a:cubicBezTo>
                    <a:pt x="4775020" y="270697"/>
                    <a:pt x="4774540" y="271856"/>
                    <a:pt x="4773685" y="272711"/>
                  </a:cubicBezTo>
                  <a:cubicBezTo>
                    <a:pt x="4772831" y="273565"/>
                    <a:pt x="4771672" y="274046"/>
                    <a:pt x="4770463" y="274046"/>
                  </a:cubicBezTo>
                  <a:lnTo>
                    <a:pt x="4557" y="274046"/>
                  </a:lnTo>
                  <a:cubicBezTo>
                    <a:pt x="3348" y="274046"/>
                    <a:pt x="2189" y="273565"/>
                    <a:pt x="1335" y="272711"/>
                  </a:cubicBezTo>
                  <a:cubicBezTo>
                    <a:pt x="480" y="271856"/>
                    <a:pt x="0" y="270697"/>
                    <a:pt x="0" y="269489"/>
                  </a:cubicBezTo>
                  <a:lnTo>
                    <a:pt x="0" y="4557"/>
                  </a:lnTo>
                  <a:cubicBezTo>
                    <a:pt x="0" y="3348"/>
                    <a:pt x="480" y="2189"/>
                    <a:pt x="1335" y="1335"/>
                  </a:cubicBezTo>
                  <a:cubicBezTo>
                    <a:pt x="2189" y="480"/>
                    <a:pt x="3348" y="0"/>
                    <a:pt x="4557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4"/>
            <p:cNvSpPr txBox="1"/>
            <p:nvPr/>
          </p:nvSpPr>
          <p:spPr>
            <a:xfrm>
              <a:off x="0" y="-47625"/>
              <a:ext cx="4775020" cy="321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248284" lvl="1" marL="496567" marR="0" rtl="0" algn="l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99"/>
                <a:buFont typeface="Arial"/>
                <a:buChar char="•"/>
              </a:pPr>
              <a:r>
                <a:rPr b="0" i="0" lang="en-US" sz="2299" u="none" cap="none" strike="noStrik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Construir el levantamiento de procesos finales con el propósito de determinar el aporte de la solución a la organización.</a:t>
              </a:r>
              <a:endParaRPr/>
            </a:p>
          </p:txBody>
        </p:sp>
      </p:grpSp>
      <p:grpSp>
        <p:nvGrpSpPr>
          <p:cNvPr id="422" name="Google Shape;422;p14"/>
          <p:cNvGrpSpPr/>
          <p:nvPr/>
        </p:nvGrpSpPr>
        <p:grpSpPr>
          <a:xfrm>
            <a:off x="636120" y="2017686"/>
            <a:ext cx="16989089" cy="1144474"/>
            <a:chOff x="0" y="-47625"/>
            <a:chExt cx="4775020" cy="321671"/>
          </a:xfrm>
        </p:grpSpPr>
        <p:sp>
          <p:nvSpPr>
            <p:cNvPr id="423" name="Google Shape;423;p14"/>
            <p:cNvSpPr/>
            <p:nvPr/>
          </p:nvSpPr>
          <p:spPr>
            <a:xfrm>
              <a:off x="0" y="0"/>
              <a:ext cx="4775020" cy="274046"/>
            </a:xfrm>
            <a:custGeom>
              <a:rect b="b" l="l" r="r" t="t"/>
              <a:pathLst>
                <a:path extrusionOk="0" h="274046" w="4775020">
                  <a:moveTo>
                    <a:pt x="4557" y="0"/>
                  </a:moveTo>
                  <a:lnTo>
                    <a:pt x="4770463" y="0"/>
                  </a:lnTo>
                  <a:cubicBezTo>
                    <a:pt x="4771672" y="0"/>
                    <a:pt x="4772831" y="480"/>
                    <a:pt x="4773685" y="1335"/>
                  </a:cubicBezTo>
                  <a:cubicBezTo>
                    <a:pt x="4774540" y="2189"/>
                    <a:pt x="4775020" y="3348"/>
                    <a:pt x="4775020" y="4557"/>
                  </a:cubicBezTo>
                  <a:lnTo>
                    <a:pt x="4775020" y="269489"/>
                  </a:lnTo>
                  <a:cubicBezTo>
                    <a:pt x="4775020" y="270697"/>
                    <a:pt x="4774540" y="271856"/>
                    <a:pt x="4773685" y="272711"/>
                  </a:cubicBezTo>
                  <a:cubicBezTo>
                    <a:pt x="4772831" y="273565"/>
                    <a:pt x="4771672" y="274046"/>
                    <a:pt x="4770463" y="274046"/>
                  </a:cubicBezTo>
                  <a:lnTo>
                    <a:pt x="4557" y="274046"/>
                  </a:lnTo>
                  <a:cubicBezTo>
                    <a:pt x="3348" y="274046"/>
                    <a:pt x="2189" y="273565"/>
                    <a:pt x="1335" y="272711"/>
                  </a:cubicBezTo>
                  <a:cubicBezTo>
                    <a:pt x="480" y="271856"/>
                    <a:pt x="0" y="270697"/>
                    <a:pt x="0" y="269489"/>
                  </a:cubicBezTo>
                  <a:lnTo>
                    <a:pt x="0" y="4557"/>
                  </a:lnTo>
                  <a:cubicBezTo>
                    <a:pt x="0" y="3348"/>
                    <a:pt x="480" y="2189"/>
                    <a:pt x="1335" y="1335"/>
                  </a:cubicBezTo>
                  <a:cubicBezTo>
                    <a:pt x="2189" y="480"/>
                    <a:pt x="3348" y="0"/>
                    <a:pt x="4557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4"/>
            <p:cNvSpPr txBox="1"/>
            <p:nvPr/>
          </p:nvSpPr>
          <p:spPr>
            <a:xfrm>
              <a:off x="0" y="-47625"/>
              <a:ext cx="4775020" cy="321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248284" lvl="1" marL="496567" marR="0" rtl="0" algn="l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99"/>
                <a:buFont typeface="Arial"/>
                <a:buChar char="•"/>
              </a:pPr>
              <a:r>
                <a:rPr b="0" i="0" lang="en-US" sz="2299" u="none" cap="none" strike="noStrike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Plantear los requerimientos de usuario con el fin de representar las necesidades y expectativas de los distintos perfiles de usuarios del sistema.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15"/>
          <p:cNvGrpSpPr/>
          <p:nvPr/>
        </p:nvGrpSpPr>
        <p:grpSpPr>
          <a:xfrm>
            <a:off x="0" y="-144661"/>
            <a:ext cx="18288000" cy="1583907"/>
            <a:chOff x="0" y="-38100"/>
            <a:chExt cx="4816593" cy="417161"/>
          </a:xfrm>
        </p:grpSpPr>
        <p:sp>
          <p:nvSpPr>
            <p:cNvPr id="430" name="Google Shape;430;p15"/>
            <p:cNvSpPr/>
            <p:nvPr/>
          </p:nvSpPr>
          <p:spPr>
            <a:xfrm>
              <a:off x="0" y="0"/>
              <a:ext cx="4816592" cy="379061"/>
            </a:xfrm>
            <a:custGeom>
              <a:rect b="b" l="l" r="r" t="t"/>
              <a:pathLst>
                <a:path extrusionOk="0" h="37906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9061"/>
                  </a:lnTo>
                  <a:lnTo>
                    <a:pt x="0" y="379061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431" name="Google Shape;431;p15"/>
            <p:cNvSpPr txBox="1"/>
            <p:nvPr/>
          </p:nvSpPr>
          <p:spPr>
            <a:xfrm>
              <a:off x="0" y="-38100"/>
              <a:ext cx="4816593" cy="417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2" name="Google Shape;432;p15"/>
          <p:cNvSpPr/>
          <p:nvPr/>
        </p:nvSpPr>
        <p:spPr>
          <a:xfrm>
            <a:off x="16667374" y="101426"/>
            <a:ext cx="1482029" cy="1236420"/>
          </a:xfrm>
          <a:custGeom>
            <a:rect b="b" l="l" r="r" t="t"/>
            <a:pathLst>
              <a:path extrusionOk="0" h="1200023" w="1438402">
                <a:moveTo>
                  <a:pt x="0" y="0"/>
                </a:moveTo>
                <a:lnTo>
                  <a:pt x="1438402" y="0"/>
                </a:lnTo>
                <a:lnTo>
                  <a:pt x="1438402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-2" t="0"/>
            </a:stretch>
          </a:blipFill>
          <a:ln>
            <a:noFill/>
          </a:ln>
        </p:spPr>
      </p:sp>
      <p:sp>
        <p:nvSpPr>
          <p:cNvPr id="433" name="Google Shape;433;p15"/>
          <p:cNvSpPr txBox="1"/>
          <p:nvPr/>
        </p:nvSpPr>
        <p:spPr>
          <a:xfrm>
            <a:off x="318043" y="348369"/>
            <a:ext cx="12277358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6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Requerimientos</a:t>
            </a:r>
            <a:endParaRPr/>
          </a:p>
        </p:txBody>
      </p:sp>
      <p:grpSp>
        <p:nvGrpSpPr>
          <p:cNvPr id="434" name="Google Shape;434;p15"/>
          <p:cNvGrpSpPr/>
          <p:nvPr/>
        </p:nvGrpSpPr>
        <p:grpSpPr>
          <a:xfrm>
            <a:off x="542730" y="2183476"/>
            <a:ext cx="11003462" cy="2060542"/>
            <a:chOff x="0" y="-28575"/>
            <a:chExt cx="2034601" cy="381006"/>
          </a:xfrm>
        </p:grpSpPr>
        <p:sp>
          <p:nvSpPr>
            <p:cNvPr id="435" name="Google Shape;435;p15"/>
            <p:cNvSpPr/>
            <p:nvPr/>
          </p:nvSpPr>
          <p:spPr>
            <a:xfrm>
              <a:off x="0" y="0"/>
              <a:ext cx="2034601" cy="352431"/>
            </a:xfrm>
            <a:custGeom>
              <a:rect b="b" l="l" r="r" t="t"/>
              <a:pathLst>
                <a:path extrusionOk="0" h="352431" w="2034601">
                  <a:moveTo>
                    <a:pt x="7036" y="0"/>
                  </a:moveTo>
                  <a:lnTo>
                    <a:pt x="2027565" y="0"/>
                  </a:lnTo>
                  <a:cubicBezTo>
                    <a:pt x="2031451" y="0"/>
                    <a:pt x="2034601" y="3150"/>
                    <a:pt x="2034601" y="7036"/>
                  </a:cubicBezTo>
                  <a:lnTo>
                    <a:pt x="2034601" y="345395"/>
                  </a:lnTo>
                  <a:cubicBezTo>
                    <a:pt x="2034601" y="349281"/>
                    <a:pt x="2031451" y="352431"/>
                    <a:pt x="2027565" y="352431"/>
                  </a:cubicBezTo>
                  <a:lnTo>
                    <a:pt x="7036" y="352431"/>
                  </a:lnTo>
                  <a:cubicBezTo>
                    <a:pt x="3150" y="352431"/>
                    <a:pt x="0" y="349281"/>
                    <a:pt x="0" y="345395"/>
                  </a:cubicBezTo>
                  <a:lnTo>
                    <a:pt x="0" y="7036"/>
                  </a:lnTo>
                  <a:cubicBezTo>
                    <a:pt x="0" y="3150"/>
                    <a:pt x="3150" y="0"/>
                    <a:pt x="7036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5"/>
            <p:cNvSpPr txBox="1"/>
            <p:nvPr/>
          </p:nvSpPr>
          <p:spPr>
            <a:xfrm>
              <a:off x="0" y="-28575"/>
              <a:ext cx="2034601" cy="381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7" name="Google Shape;437;p15"/>
          <p:cNvSpPr txBox="1"/>
          <p:nvPr/>
        </p:nvSpPr>
        <p:spPr>
          <a:xfrm>
            <a:off x="734978" y="2865782"/>
            <a:ext cx="10618965" cy="850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8" u="none" cap="none" strike="noStrike">
                <a:solidFill>
                  <a:srgbClr val="D4D4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Los requerimientos definen las funcionalidades y condiciones necesarias que debe cumplir el sistema</a:t>
            </a:r>
            <a:endParaRPr/>
          </a:p>
        </p:txBody>
      </p:sp>
      <p:grpSp>
        <p:nvGrpSpPr>
          <p:cNvPr id="438" name="Google Shape;438;p15"/>
          <p:cNvGrpSpPr/>
          <p:nvPr/>
        </p:nvGrpSpPr>
        <p:grpSpPr>
          <a:xfrm>
            <a:off x="562140" y="5527598"/>
            <a:ext cx="5270202" cy="3955010"/>
            <a:chOff x="0" y="-28575"/>
            <a:chExt cx="974489" cy="731303"/>
          </a:xfrm>
        </p:grpSpPr>
        <p:sp>
          <p:nvSpPr>
            <p:cNvPr id="439" name="Google Shape;439;p15"/>
            <p:cNvSpPr/>
            <p:nvPr/>
          </p:nvSpPr>
          <p:spPr>
            <a:xfrm>
              <a:off x="0" y="0"/>
              <a:ext cx="974489" cy="702728"/>
            </a:xfrm>
            <a:custGeom>
              <a:rect b="b" l="l" r="r" t="t"/>
              <a:pathLst>
                <a:path extrusionOk="0" h="702728" w="974489">
                  <a:moveTo>
                    <a:pt x="14690" y="0"/>
                  </a:moveTo>
                  <a:lnTo>
                    <a:pt x="959799" y="0"/>
                  </a:lnTo>
                  <a:cubicBezTo>
                    <a:pt x="967912" y="0"/>
                    <a:pt x="974489" y="6577"/>
                    <a:pt x="974489" y="14690"/>
                  </a:cubicBezTo>
                  <a:lnTo>
                    <a:pt x="974489" y="688038"/>
                  </a:lnTo>
                  <a:cubicBezTo>
                    <a:pt x="974489" y="691934"/>
                    <a:pt x="972942" y="695671"/>
                    <a:pt x="970187" y="698426"/>
                  </a:cubicBezTo>
                  <a:cubicBezTo>
                    <a:pt x="967432" y="701181"/>
                    <a:pt x="963695" y="702728"/>
                    <a:pt x="959799" y="702728"/>
                  </a:cubicBezTo>
                  <a:lnTo>
                    <a:pt x="14690" y="702728"/>
                  </a:lnTo>
                  <a:cubicBezTo>
                    <a:pt x="6577" y="702728"/>
                    <a:pt x="0" y="696151"/>
                    <a:pt x="0" y="688038"/>
                  </a:cubicBezTo>
                  <a:lnTo>
                    <a:pt x="0" y="14690"/>
                  </a:lnTo>
                  <a:cubicBezTo>
                    <a:pt x="0" y="6577"/>
                    <a:pt x="6577" y="0"/>
                    <a:pt x="14690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5"/>
            <p:cNvSpPr txBox="1"/>
            <p:nvPr/>
          </p:nvSpPr>
          <p:spPr>
            <a:xfrm>
              <a:off x="0" y="-28575"/>
              <a:ext cx="974489" cy="7313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1" name="Google Shape;441;p15"/>
          <p:cNvSpPr txBox="1"/>
          <p:nvPr/>
        </p:nvSpPr>
        <p:spPr>
          <a:xfrm>
            <a:off x="1028588" y="7935544"/>
            <a:ext cx="4187758" cy="868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8" u="none" cap="none" strike="noStrike">
                <a:solidFill>
                  <a:srgbClr val="D4D4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Describen lo que el sistema debe hacer</a:t>
            </a:r>
            <a:endParaRPr/>
          </a:p>
        </p:txBody>
      </p:sp>
      <p:sp>
        <p:nvSpPr>
          <p:cNvPr id="442" name="Google Shape;442;p15"/>
          <p:cNvSpPr txBox="1"/>
          <p:nvPr/>
        </p:nvSpPr>
        <p:spPr>
          <a:xfrm>
            <a:off x="1028588" y="6236033"/>
            <a:ext cx="3816796" cy="1061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1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Requerimientos funcionales (RF)</a:t>
            </a:r>
            <a:endParaRPr/>
          </a:p>
        </p:txBody>
      </p:sp>
      <p:grpSp>
        <p:nvGrpSpPr>
          <p:cNvPr id="443" name="Google Shape;443;p15"/>
          <p:cNvGrpSpPr/>
          <p:nvPr/>
        </p:nvGrpSpPr>
        <p:grpSpPr>
          <a:xfrm>
            <a:off x="6275990" y="5527598"/>
            <a:ext cx="5270202" cy="3955010"/>
            <a:chOff x="0" y="-28575"/>
            <a:chExt cx="974489" cy="731303"/>
          </a:xfrm>
        </p:grpSpPr>
        <p:sp>
          <p:nvSpPr>
            <p:cNvPr id="444" name="Google Shape;444;p15"/>
            <p:cNvSpPr/>
            <p:nvPr/>
          </p:nvSpPr>
          <p:spPr>
            <a:xfrm>
              <a:off x="0" y="0"/>
              <a:ext cx="974489" cy="702728"/>
            </a:xfrm>
            <a:custGeom>
              <a:rect b="b" l="l" r="r" t="t"/>
              <a:pathLst>
                <a:path extrusionOk="0" h="702728" w="974489">
                  <a:moveTo>
                    <a:pt x="14690" y="0"/>
                  </a:moveTo>
                  <a:lnTo>
                    <a:pt x="959799" y="0"/>
                  </a:lnTo>
                  <a:cubicBezTo>
                    <a:pt x="967912" y="0"/>
                    <a:pt x="974489" y="6577"/>
                    <a:pt x="974489" y="14690"/>
                  </a:cubicBezTo>
                  <a:lnTo>
                    <a:pt x="974489" y="688038"/>
                  </a:lnTo>
                  <a:cubicBezTo>
                    <a:pt x="974489" y="691934"/>
                    <a:pt x="972942" y="695671"/>
                    <a:pt x="970187" y="698426"/>
                  </a:cubicBezTo>
                  <a:cubicBezTo>
                    <a:pt x="967432" y="701181"/>
                    <a:pt x="963695" y="702728"/>
                    <a:pt x="959799" y="702728"/>
                  </a:cubicBezTo>
                  <a:lnTo>
                    <a:pt x="14690" y="702728"/>
                  </a:lnTo>
                  <a:cubicBezTo>
                    <a:pt x="6577" y="702728"/>
                    <a:pt x="0" y="696151"/>
                    <a:pt x="0" y="688038"/>
                  </a:cubicBezTo>
                  <a:lnTo>
                    <a:pt x="0" y="14690"/>
                  </a:lnTo>
                  <a:cubicBezTo>
                    <a:pt x="0" y="6577"/>
                    <a:pt x="6577" y="0"/>
                    <a:pt x="14690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5"/>
            <p:cNvSpPr txBox="1"/>
            <p:nvPr/>
          </p:nvSpPr>
          <p:spPr>
            <a:xfrm>
              <a:off x="0" y="-28575"/>
              <a:ext cx="974489" cy="7313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6" name="Google Shape;446;p15"/>
          <p:cNvSpPr txBox="1"/>
          <p:nvPr/>
        </p:nvSpPr>
        <p:spPr>
          <a:xfrm>
            <a:off x="6780805" y="7588751"/>
            <a:ext cx="4376681" cy="1561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70" u="none" cap="none" strike="noStrike">
                <a:solidFill>
                  <a:srgbClr val="D4D4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Establecen condiciones de funcionamiento (rendimiento, seguridad, etc.)</a:t>
            </a:r>
            <a:endParaRPr/>
          </a:p>
        </p:txBody>
      </p:sp>
      <p:sp>
        <p:nvSpPr>
          <p:cNvPr id="447" name="Google Shape;447;p15"/>
          <p:cNvSpPr txBox="1"/>
          <p:nvPr/>
        </p:nvSpPr>
        <p:spPr>
          <a:xfrm>
            <a:off x="6742437" y="6236033"/>
            <a:ext cx="4415049" cy="1061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1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Requerimientos no funcionales (RNF)</a:t>
            </a:r>
            <a:endParaRPr/>
          </a:p>
        </p:txBody>
      </p:sp>
      <p:sp>
        <p:nvSpPr>
          <p:cNvPr id="448" name="Google Shape;448;p15"/>
          <p:cNvSpPr txBox="1"/>
          <p:nvPr/>
        </p:nvSpPr>
        <p:spPr>
          <a:xfrm>
            <a:off x="4136063" y="4866298"/>
            <a:ext cx="3816796" cy="530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1" u="none" cap="none" strike="noStrike">
                <a:solidFill>
                  <a:srgbClr val="10458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 clasifican en:</a:t>
            </a:r>
            <a:endParaRPr/>
          </a:p>
        </p:txBody>
      </p:sp>
      <p:grpSp>
        <p:nvGrpSpPr>
          <p:cNvPr id="449" name="Google Shape;449;p15"/>
          <p:cNvGrpSpPr/>
          <p:nvPr/>
        </p:nvGrpSpPr>
        <p:grpSpPr>
          <a:xfrm>
            <a:off x="12603467" y="2197959"/>
            <a:ext cx="4776268" cy="3584339"/>
            <a:chOff x="0" y="-28575"/>
            <a:chExt cx="974489" cy="731303"/>
          </a:xfrm>
        </p:grpSpPr>
        <p:sp>
          <p:nvSpPr>
            <p:cNvPr id="450" name="Google Shape;450;p15"/>
            <p:cNvSpPr/>
            <p:nvPr/>
          </p:nvSpPr>
          <p:spPr>
            <a:xfrm>
              <a:off x="0" y="0"/>
              <a:ext cx="974489" cy="702728"/>
            </a:xfrm>
            <a:custGeom>
              <a:rect b="b" l="l" r="r" t="t"/>
              <a:pathLst>
                <a:path extrusionOk="0" h="702728" w="974489">
                  <a:moveTo>
                    <a:pt x="16209" y="0"/>
                  </a:moveTo>
                  <a:lnTo>
                    <a:pt x="958280" y="0"/>
                  </a:lnTo>
                  <a:cubicBezTo>
                    <a:pt x="967232" y="0"/>
                    <a:pt x="974489" y="7257"/>
                    <a:pt x="974489" y="16209"/>
                  </a:cubicBezTo>
                  <a:lnTo>
                    <a:pt x="974489" y="686519"/>
                  </a:lnTo>
                  <a:cubicBezTo>
                    <a:pt x="974489" y="690818"/>
                    <a:pt x="972782" y="694941"/>
                    <a:pt x="969742" y="697981"/>
                  </a:cubicBezTo>
                  <a:cubicBezTo>
                    <a:pt x="966702" y="701020"/>
                    <a:pt x="962579" y="702728"/>
                    <a:pt x="958280" y="702728"/>
                  </a:cubicBezTo>
                  <a:lnTo>
                    <a:pt x="16209" y="702728"/>
                  </a:lnTo>
                  <a:cubicBezTo>
                    <a:pt x="11910" y="702728"/>
                    <a:pt x="7787" y="701020"/>
                    <a:pt x="4748" y="697981"/>
                  </a:cubicBezTo>
                  <a:cubicBezTo>
                    <a:pt x="1708" y="694941"/>
                    <a:pt x="0" y="690818"/>
                    <a:pt x="0" y="686519"/>
                  </a:cubicBezTo>
                  <a:lnTo>
                    <a:pt x="0" y="16209"/>
                  </a:lnTo>
                  <a:cubicBezTo>
                    <a:pt x="0" y="11910"/>
                    <a:pt x="1708" y="7787"/>
                    <a:pt x="4748" y="4748"/>
                  </a:cubicBezTo>
                  <a:cubicBezTo>
                    <a:pt x="7787" y="1708"/>
                    <a:pt x="11910" y="0"/>
                    <a:pt x="16209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5"/>
            <p:cNvSpPr txBox="1"/>
            <p:nvPr/>
          </p:nvSpPr>
          <p:spPr>
            <a:xfrm>
              <a:off x="0" y="-28575"/>
              <a:ext cx="974489" cy="7313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2" name="Google Shape;452;p15"/>
          <p:cNvGrpSpPr/>
          <p:nvPr/>
        </p:nvGrpSpPr>
        <p:grpSpPr>
          <a:xfrm>
            <a:off x="12603467" y="5884609"/>
            <a:ext cx="4776268" cy="3584339"/>
            <a:chOff x="0" y="-28575"/>
            <a:chExt cx="974489" cy="731303"/>
          </a:xfrm>
        </p:grpSpPr>
        <p:sp>
          <p:nvSpPr>
            <p:cNvPr id="453" name="Google Shape;453;p15"/>
            <p:cNvSpPr/>
            <p:nvPr/>
          </p:nvSpPr>
          <p:spPr>
            <a:xfrm>
              <a:off x="0" y="0"/>
              <a:ext cx="974489" cy="702728"/>
            </a:xfrm>
            <a:custGeom>
              <a:rect b="b" l="l" r="r" t="t"/>
              <a:pathLst>
                <a:path extrusionOk="0" h="702728" w="974489">
                  <a:moveTo>
                    <a:pt x="16209" y="0"/>
                  </a:moveTo>
                  <a:lnTo>
                    <a:pt x="958280" y="0"/>
                  </a:lnTo>
                  <a:cubicBezTo>
                    <a:pt x="967232" y="0"/>
                    <a:pt x="974489" y="7257"/>
                    <a:pt x="974489" y="16209"/>
                  </a:cubicBezTo>
                  <a:lnTo>
                    <a:pt x="974489" y="686519"/>
                  </a:lnTo>
                  <a:cubicBezTo>
                    <a:pt x="974489" y="690818"/>
                    <a:pt x="972782" y="694941"/>
                    <a:pt x="969742" y="697981"/>
                  </a:cubicBezTo>
                  <a:cubicBezTo>
                    <a:pt x="966702" y="701020"/>
                    <a:pt x="962579" y="702728"/>
                    <a:pt x="958280" y="702728"/>
                  </a:cubicBezTo>
                  <a:lnTo>
                    <a:pt x="16209" y="702728"/>
                  </a:lnTo>
                  <a:cubicBezTo>
                    <a:pt x="11910" y="702728"/>
                    <a:pt x="7787" y="701020"/>
                    <a:pt x="4748" y="697981"/>
                  </a:cubicBezTo>
                  <a:cubicBezTo>
                    <a:pt x="1708" y="694941"/>
                    <a:pt x="0" y="690818"/>
                    <a:pt x="0" y="686519"/>
                  </a:cubicBezTo>
                  <a:lnTo>
                    <a:pt x="0" y="16209"/>
                  </a:lnTo>
                  <a:cubicBezTo>
                    <a:pt x="0" y="11910"/>
                    <a:pt x="1708" y="7787"/>
                    <a:pt x="4748" y="4748"/>
                  </a:cubicBezTo>
                  <a:cubicBezTo>
                    <a:pt x="7787" y="1708"/>
                    <a:pt x="11910" y="0"/>
                    <a:pt x="16209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5"/>
            <p:cNvSpPr txBox="1"/>
            <p:nvPr/>
          </p:nvSpPr>
          <p:spPr>
            <a:xfrm>
              <a:off x="0" y="-28575"/>
              <a:ext cx="974489" cy="7313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5" name="Google Shape;455;p15"/>
          <p:cNvSpPr txBox="1"/>
          <p:nvPr/>
        </p:nvSpPr>
        <p:spPr>
          <a:xfrm>
            <a:off x="14009596" y="2973539"/>
            <a:ext cx="1964009" cy="80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02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63</a:t>
            </a:r>
            <a:endParaRPr/>
          </a:p>
        </p:txBody>
      </p:sp>
      <p:sp>
        <p:nvSpPr>
          <p:cNvPr id="456" name="Google Shape;456;p15"/>
          <p:cNvSpPr txBox="1"/>
          <p:nvPr/>
        </p:nvSpPr>
        <p:spPr>
          <a:xfrm>
            <a:off x="14009596" y="6567524"/>
            <a:ext cx="1964009" cy="80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02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53</a:t>
            </a:r>
            <a:endParaRPr/>
          </a:p>
        </p:txBody>
      </p:sp>
      <p:sp>
        <p:nvSpPr>
          <p:cNvPr id="457" name="Google Shape;457;p15"/>
          <p:cNvSpPr txBox="1"/>
          <p:nvPr/>
        </p:nvSpPr>
        <p:spPr>
          <a:xfrm>
            <a:off x="13083203" y="4244018"/>
            <a:ext cx="3816796" cy="1061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1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Requerimientos funcionales (RF)</a:t>
            </a:r>
            <a:endParaRPr/>
          </a:p>
        </p:txBody>
      </p:sp>
      <p:sp>
        <p:nvSpPr>
          <p:cNvPr id="458" name="Google Shape;458;p15"/>
          <p:cNvSpPr txBox="1"/>
          <p:nvPr/>
        </p:nvSpPr>
        <p:spPr>
          <a:xfrm>
            <a:off x="12844251" y="7741988"/>
            <a:ext cx="4415049" cy="10618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1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Requerimientos no funcionales (RNF)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" name="Google Shape;463;p16"/>
          <p:cNvGrpSpPr/>
          <p:nvPr/>
        </p:nvGrpSpPr>
        <p:grpSpPr>
          <a:xfrm>
            <a:off x="0" y="-144661"/>
            <a:ext cx="18288000" cy="1583907"/>
            <a:chOff x="0" y="-38100"/>
            <a:chExt cx="4816593" cy="417161"/>
          </a:xfrm>
        </p:grpSpPr>
        <p:sp>
          <p:nvSpPr>
            <p:cNvPr id="464" name="Google Shape;464;p16"/>
            <p:cNvSpPr/>
            <p:nvPr/>
          </p:nvSpPr>
          <p:spPr>
            <a:xfrm>
              <a:off x="0" y="0"/>
              <a:ext cx="4816592" cy="379061"/>
            </a:xfrm>
            <a:custGeom>
              <a:rect b="b" l="l" r="r" t="t"/>
              <a:pathLst>
                <a:path extrusionOk="0" h="37906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9061"/>
                  </a:lnTo>
                  <a:lnTo>
                    <a:pt x="0" y="379061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465" name="Google Shape;465;p16"/>
            <p:cNvSpPr txBox="1"/>
            <p:nvPr/>
          </p:nvSpPr>
          <p:spPr>
            <a:xfrm>
              <a:off x="0" y="-38100"/>
              <a:ext cx="4816593" cy="417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6" name="Google Shape;466;p16"/>
          <p:cNvSpPr/>
          <p:nvPr/>
        </p:nvSpPr>
        <p:spPr>
          <a:xfrm>
            <a:off x="16667374" y="101426"/>
            <a:ext cx="1482029" cy="1236420"/>
          </a:xfrm>
          <a:custGeom>
            <a:rect b="b" l="l" r="r" t="t"/>
            <a:pathLst>
              <a:path extrusionOk="0" h="1200023" w="1438402">
                <a:moveTo>
                  <a:pt x="0" y="0"/>
                </a:moveTo>
                <a:lnTo>
                  <a:pt x="1438402" y="0"/>
                </a:lnTo>
                <a:lnTo>
                  <a:pt x="1438402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-2" t="0"/>
            </a:stretch>
          </a:blipFill>
          <a:ln>
            <a:noFill/>
          </a:ln>
        </p:spPr>
      </p:sp>
      <p:grpSp>
        <p:nvGrpSpPr>
          <p:cNvPr id="467" name="Google Shape;467;p16"/>
          <p:cNvGrpSpPr/>
          <p:nvPr/>
        </p:nvGrpSpPr>
        <p:grpSpPr>
          <a:xfrm>
            <a:off x="1856324" y="2027503"/>
            <a:ext cx="5270202" cy="1924955"/>
            <a:chOff x="0" y="-28575"/>
            <a:chExt cx="974489" cy="355935"/>
          </a:xfrm>
        </p:grpSpPr>
        <p:sp>
          <p:nvSpPr>
            <p:cNvPr id="468" name="Google Shape;468;p16"/>
            <p:cNvSpPr/>
            <p:nvPr/>
          </p:nvSpPr>
          <p:spPr>
            <a:xfrm>
              <a:off x="0" y="0"/>
              <a:ext cx="974489" cy="327360"/>
            </a:xfrm>
            <a:custGeom>
              <a:rect b="b" l="l" r="r" t="t"/>
              <a:pathLst>
                <a:path extrusionOk="0" h="327360" w="974489">
                  <a:moveTo>
                    <a:pt x="14690" y="0"/>
                  </a:moveTo>
                  <a:lnTo>
                    <a:pt x="959799" y="0"/>
                  </a:lnTo>
                  <a:cubicBezTo>
                    <a:pt x="967912" y="0"/>
                    <a:pt x="974489" y="6577"/>
                    <a:pt x="974489" y="14690"/>
                  </a:cubicBezTo>
                  <a:lnTo>
                    <a:pt x="974489" y="312670"/>
                  </a:lnTo>
                  <a:cubicBezTo>
                    <a:pt x="974489" y="316566"/>
                    <a:pt x="972942" y="320302"/>
                    <a:pt x="970187" y="323057"/>
                  </a:cubicBezTo>
                  <a:cubicBezTo>
                    <a:pt x="967432" y="325812"/>
                    <a:pt x="963695" y="327360"/>
                    <a:pt x="959799" y="327360"/>
                  </a:cubicBezTo>
                  <a:lnTo>
                    <a:pt x="14690" y="327360"/>
                  </a:lnTo>
                  <a:cubicBezTo>
                    <a:pt x="6577" y="327360"/>
                    <a:pt x="0" y="320783"/>
                    <a:pt x="0" y="312670"/>
                  </a:cubicBezTo>
                  <a:lnTo>
                    <a:pt x="0" y="14690"/>
                  </a:lnTo>
                  <a:cubicBezTo>
                    <a:pt x="0" y="6577"/>
                    <a:pt x="6577" y="0"/>
                    <a:pt x="14690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6"/>
            <p:cNvSpPr txBox="1"/>
            <p:nvPr/>
          </p:nvSpPr>
          <p:spPr>
            <a:xfrm>
              <a:off x="0" y="-28575"/>
              <a:ext cx="974489" cy="355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0" name="Google Shape;470;p16"/>
          <p:cNvGrpSpPr/>
          <p:nvPr/>
        </p:nvGrpSpPr>
        <p:grpSpPr>
          <a:xfrm>
            <a:off x="11161474" y="2029975"/>
            <a:ext cx="5270202" cy="1924955"/>
            <a:chOff x="0" y="-28575"/>
            <a:chExt cx="974489" cy="355935"/>
          </a:xfrm>
        </p:grpSpPr>
        <p:sp>
          <p:nvSpPr>
            <p:cNvPr id="471" name="Google Shape;471;p16"/>
            <p:cNvSpPr/>
            <p:nvPr/>
          </p:nvSpPr>
          <p:spPr>
            <a:xfrm>
              <a:off x="0" y="0"/>
              <a:ext cx="974489" cy="327360"/>
            </a:xfrm>
            <a:custGeom>
              <a:rect b="b" l="l" r="r" t="t"/>
              <a:pathLst>
                <a:path extrusionOk="0" h="327360" w="974489">
                  <a:moveTo>
                    <a:pt x="14690" y="0"/>
                  </a:moveTo>
                  <a:lnTo>
                    <a:pt x="959799" y="0"/>
                  </a:lnTo>
                  <a:cubicBezTo>
                    <a:pt x="967912" y="0"/>
                    <a:pt x="974489" y="6577"/>
                    <a:pt x="974489" y="14690"/>
                  </a:cubicBezTo>
                  <a:lnTo>
                    <a:pt x="974489" y="312670"/>
                  </a:lnTo>
                  <a:cubicBezTo>
                    <a:pt x="974489" y="316566"/>
                    <a:pt x="972942" y="320302"/>
                    <a:pt x="970187" y="323057"/>
                  </a:cubicBezTo>
                  <a:cubicBezTo>
                    <a:pt x="967432" y="325812"/>
                    <a:pt x="963695" y="327360"/>
                    <a:pt x="959799" y="327360"/>
                  </a:cubicBezTo>
                  <a:lnTo>
                    <a:pt x="14690" y="327360"/>
                  </a:lnTo>
                  <a:cubicBezTo>
                    <a:pt x="6577" y="327360"/>
                    <a:pt x="0" y="320783"/>
                    <a:pt x="0" y="312670"/>
                  </a:cubicBezTo>
                  <a:lnTo>
                    <a:pt x="0" y="14690"/>
                  </a:lnTo>
                  <a:cubicBezTo>
                    <a:pt x="0" y="6577"/>
                    <a:pt x="6577" y="0"/>
                    <a:pt x="14690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6"/>
            <p:cNvSpPr txBox="1"/>
            <p:nvPr/>
          </p:nvSpPr>
          <p:spPr>
            <a:xfrm>
              <a:off x="0" y="-28575"/>
              <a:ext cx="974489" cy="355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3" name="Google Shape;473;p16"/>
          <p:cNvGrpSpPr/>
          <p:nvPr/>
        </p:nvGrpSpPr>
        <p:grpSpPr>
          <a:xfrm>
            <a:off x="277786" y="4278758"/>
            <a:ext cx="8507791" cy="1924955"/>
            <a:chOff x="0" y="-28575"/>
            <a:chExt cx="1573137" cy="355935"/>
          </a:xfrm>
        </p:grpSpPr>
        <p:sp>
          <p:nvSpPr>
            <p:cNvPr id="474" name="Google Shape;474;p16"/>
            <p:cNvSpPr/>
            <p:nvPr/>
          </p:nvSpPr>
          <p:spPr>
            <a:xfrm>
              <a:off x="0" y="0"/>
              <a:ext cx="1573137" cy="327360"/>
            </a:xfrm>
            <a:custGeom>
              <a:rect b="b" l="l" r="r" t="t"/>
              <a:pathLst>
                <a:path extrusionOk="0" h="327360" w="1573137">
                  <a:moveTo>
                    <a:pt x="9100" y="0"/>
                  </a:moveTo>
                  <a:lnTo>
                    <a:pt x="1564037" y="0"/>
                  </a:lnTo>
                  <a:cubicBezTo>
                    <a:pt x="1569063" y="0"/>
                    <a:pt x="1573137" y="4074"/>
                    <a:pt x="1573137" y="9100"/>
                  </a:cubicBezTo>
                  <a:lnTo>
                    <a:pt x="1573137" y="318260"/>
                  </a:lnTo>
                  <a:cubicBezTo>
                    <a:pt x="1573137" y="323286"/>
                    <a:pt x="1569063" y="327360"/>
                    <a:pt x="1564037" y="327360"/>
                  </a:cubicBezTo>
                  <a:lnTo>
                    <a:pt x="9100" y="327360"/>
                  </a:lnTo>
                  <a:cubicBezTo>
                    <a:pt x="4074" y="327360"/>
                    <a:pt x="0" y="323286"/>
                    <a:pt x="0" y="318260"/>
                  </a:cubicBezTo>
                  <a:lnTo>
                    <a:pt x="0" y="9100"/>
                  </a:lnTo>
                  <a:cubicBezTo>
                    <a:pt x="0" y="4074"/>
                    <a:pt x="4074" y="0"/>
                    <a:pt x="9100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6"/>
            <p:cNvSpPr txBox="1"/>
            <p:nvPr/>
          </p:nvSpPr>
          <p:spPr>
            <a:xfrm>
              <a:off x="0" y="-28575"/>
              <a:ext cx="1573137" cy="355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6" name="Google Shape;476;p16"/>
          <p:cNvGrpSpPr/>
          <p:nvPr/>
        </p:nvGrpSpPr>
        <p:grpSpPr>
          <a:xfrm>
            <a:off x="9502423" y="4278758"/>
            <a:ext cx="8507791" cy="1924955"/>
            <a:chOff x="0" y="-28575"/>
            <a:chExt cx="1573137" cy="355935"/>
          </a:xfrm>
        </p:grpSpPr>
        <p:sp>
          <p:nvSpPr>
            <p:cNvPr id="477" name="Google Shape;477;p16"/>
            <p:cNvSpPr/>
            <p:nvPr/>
          </p:nvSpPr>
          <p:spPr>
            <a:xfrm>
              <a:off x="0" y="0"/>
              <a:ext cx="1573137" cy="327360"/>
            </a:xfrm>
            <a:custGeom>
              <a:rect b="b" l="l" r="r" t="t"/>
              <a:pathLst>
                <a:path extrusionOk="0" h="327360" w="1573137">
                  <a:moveTo>
                    <a:pt x="9100" y="0"/>
                  </a:moveTo>
                  <a:lnTo>
                    <a:pt x="1564037" y="0"/>
                  </a:lnTo>
                  <a:cubicBezTo>
                    <a:pt x="1569063" y="0"/>
                    <a:pt x="1573137" y="4074"/>
                    <a:pt x="1573137" y="9100"/>
                  </a:cubicBezTo>
                  <a:lnTo>
                    <a:pt x="1573137" y="318260"/>
                  </a:lnTo>
                  <a:cubicBezTo>
                    <a:pt x="1573137" y="323286"/>
                    <a:pt x="1569063" y="327360"/>
                    <a:pt x="1564037" y="327360"/>
                  </a:cubicBezTo>
                  <a:lnTo>
                    <a:pt x="9100" y="327360"/>
                  </a:lnTo>
                  <a:cubicBezTo>
                    <a:pt x="4074" y="327360"/>
                    <a:pt x="0" y="323286"/>
                    <a:pt x="0" y="318260"/>
                  </a:cubicBezTo>
                  <a:lnTo>
                    <a:pt x="0" y="9100"/>
                  </a:lnTo>
                  <a:cubicBezTo>
                    <a:pt x="0" y="4074"/>
                    <a:pt x="4074" y="0"/>
                    <a:pt x="9100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6"/>
            <p:cNvSpPr txBox="1"/>
            <p:nvPr/>
          </p:nvSpPr>
          <p:spPr>
            <a:xfrm>
              <a:off x="0" y="-28575"/>
              <a:ext cx="1573137" cy="355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p16"/>
          <p:cNvGrpSpPr/>
          <p:nvPr/>
        </p:nvGrpSpPr>
        <p:grpSpPr>
          <a:xfrm>
            <a:off x="277786" y="6525425"/>
            <a:ext cx="8507791" cy="1924955"/>
            <a:chOff x="0" y="-28575"/>
            <a:chExt cx="1573137" cy="355935"/>
          </a:xfrm>
        </p:grpSpPr>
        <p:sp>
          <p:nvSpPr>
            <p:cNvPr id="480" name="Google Shape;480;p16"/>
            <p:cNvSpPr/>
            <p:nvPr/>
          </p:nvSpPr>
          <p:spPr>
            <a:xfrm>
              <a:off x="0" y="0"/>
              <a:ext cx="1573137" cy="327360"/>
            </a:xfrm>
            <a:custGeom>
              <a:rect b="b" l="l" r="r" t="t"/>
              <a:pathLst>
                <a:path extrusionOk="0" h="327360" w="1573137">
                  <a:moveTo>
                    <a:pt x="9100" y="0"/>
                  </a:moveTo>
                  <a:lnTo>
                    <a:pt x="1564037" y="0"/>
                  </a:lnTo>
                  <a:cubicBezTo>
                    <a:pt x="1569063" y="0"/>
                    <a:pt x="1573137" y="4074"/>
                    <a:pt x="1573137" y="9100"/>
                  </a:cubicBezTo>
                  <a:lnTo>
                    <a:pt x="1573137" y="318260"/>
                  </a:lnTo>
                  <a:cubicBezTo>
                    <a:pt x="1573137" y="323286"/>
                    <a:pt x="1569063" y="327360"/>
                    <a:pt x="1564037" y="327360"/>
                  </a:cubicBezTo>
                  <a:lnTo>
                    <a:pt x="9100" y="327360"/>
                  </a:lnTo>
                  <a:cubicBezTo>
                    <a:pt x="4074" y="327360"/>
                    <a:pt x="0" y="323286"/>
                    <a:pt x="0" y="318260"/>
                  </a:cubicBezTo>
                  <a:lnTo>
                    <a:pt x="0" y="9100"/>
                  </a:lnTo>
                  <a:cubicBezTo>
                    <a:pt x="0" y="4074"/>
                    <a:pt x="4074" y="0"/>
                    <a:pt x="9100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6"/>
            <p:cNvSpPr txBox="1"/>
            <p:nvPr/>
          </p:nvSpPr>
          <p:spPr>
            <a:xfrm>
              <a:off x="0" y="-28575"/>
              <a:ext cx="1573137" cy="355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2" name="Google Shape;482;p16"/>
          <p:cNvGrpSpPr/>
          <p:nvPr/>
        </p:nvGrpSpPr>
        <p:grpSpPr>
          <a:xfrm>
            <a:off x="9542680" y="6525425"/>
            <a:ext cx="8507791" cy="1924955"/>
            <a:chOff x="0" y="-28575"/>
            <a:chExt cx="1573137" cy="355935"/>
          </a:xfrm>
        </p:grpSpPr>
        <p:sp>
          <p:nvSpPr>
            <p:cNvPr id="483" name="Google Shape;483;p16"/>
            <p:cNvSpPr/>
            <p:nvPr/>
          </p:nvSpPr>
          <p:spPr>
            <a:xfrm>
              <a:off x="0" y="0"/>
              <a:ext cx="1573137" cy="327360"/>
            </a:xfrm>
            <a:custGeom>
              <a:rect b="b" l="l" r="r" t="t"/>
              <a:pathLst>
                <a:path extrusionOk="0" h="327360" w="1573137">
                  <a:moveTo>
                    <a:pt x="9100" y="0"/>
                  </a:moveTo>
                  <a:lnTo>
                    <a:pt x="1564037" y="0"/>
                  </a:lnTo>
                  <a:cubicBezTo>
                    <a:pt x="1569063" y="0"/>
                    <a:pt x="1573137" y="4074"/>
                    <a:pt x="1573137" y="9100"/>
                  </a:cubicBezTo>
                  <a:lnTo>
                    <a:pt x="1573137" y="318260"/>
                  </a:lnTo>
                  <a:cubicBezTo>
                    <a:pt x="1573137" y="323286"/>
                    <a:pt x="1569063" y="327360"/>
                    <a:pt x="1564037" y="327360"/>
                  </a:cubicBezTo>
                  <a:lnTo>
                    <a:pt x="9100" y="327360"/>
                  </a:lnTo>
                  <a:cubicBezTo>
                    <a:pt x="4074" y="327360"/>
                    <a:pt x="0" y="323286"/>
                    <a:pt x="0" y="318260"/>
                  </a:cubicBezTo>
                  <a:lnTo>
                    <a:pt x="0" y="9100"/>
                  </a:lnTo>
                  <a:cubicBezTo>
                    <a:pt x="0" y="4074"/>
                    <a:pt x="4074" y="0"/>
                    <a:pt x="9100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6"/>
            <p:cNvSpPr txBox="1"/>
            <p:nvPr/>
          </p:nvSpPr>
          <p:spPr>
            <a:xfrm>
              <a:off x="0" y="-28575"/>
              <a:ext cx="1573137" cy="355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5" name="Google Shape;485;p16"/>
          <p:cNvGrpSpPr/>
          <p:nvPr/>
        </p:nvGrpSpPr>
        <p:grpSpPr>
          <a:xfrm>
            <a:off x="8138542" y="2251236"/>
            <a:ext cx="2010917" cy="1737235"/>
            <a:chOff x="0" y="0"/>
            <a:chExt cx="812800" cy="702180"/>
          </a:xfrm>
        </p:grpSpPr>
        <p:sp>
          <p:nvSpPr>
            <p:cNvPr id="486" name="Google Shape;486;p16"/>
            <p:cNvSpPr/>
            <p:nvPr/>
          </p:nvSpPr>
          <p:spPr>
            <a:xfrm>
              <a:off x="0" y="0"/>
              <a:ext cx="812800" cy="702180"/>
            </a:xfrm>
            <a:custGeom>
              <a:rect b="b" l="l" r="r" t="t"/>
              <a:pathLst>
                <a:path extrusionOk="0" h="702180" w="812800">
                  <a:moveTo>
                    <a:pt x="812800" y="35109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498980"/>
                  </a:lnTo>
                  <a:lnTo>
                    <a:pt x="406400" y="498980"/>
                  </a:lnTo>
                  <a:lnTo>
                    <a:pt x="406400" y="702180"/>
                  </a:lnTo>
                  <a:lnTo>
                    <a:pt x="812800" y="351090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487" name="Google Shape;487;p16"/>
            <p:cNvSpPr txBox="1"/>
            <p:nvPr/>
          </p:nvSpPr>
          <p:spPr>
            <a:xfrm>
              <a:off x="0" y="174625"/>
              <a:ext cx="711200" cy="3243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8" name="Google Shape;488;p16"/>
          <p:cNvSpPr txBox="1"/>
          <p:nvPr/>
        </p:nvSpPr>
        <p:spPr>
          <a:xfrm>
            <a:off x="318043" y="348369"/>
            <a:ext cx="1665359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6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Requerimientos (RF) a estándar ESA (UR)</a:t>
            </a:r>
            <a:endParaRPr/>
          </a:p>
        </p:txBody>
      </p:sp>
      <p:sp>
        <p:nvSpPr>
          <p:cNvPr id="489" name="Google Shape;489;p16"/>
          <p:cNvSpPr txBox="1"/>
          <p:nvPr/>
        </p:nvSpPr>
        <p:spPr>
          <a:xfrm>
            <a:off x="2583027" y="2536321"/>
            <a:ext cx="3816796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1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Requerimientos del sistema (RF)</a:t>
            </a:r>
            <a:endParaRPr/>
          </a:p>
        </p:txBody>
      </p:sp>
      <p:sp>
        <p:nvSpPr>
          <p:cNvPr id="490" name="Google Shape;490;p16"/>
          <p:cNvSpPr txBox="1"/>
          <p:nvPr/>
        </p:nvSpPr>
        <p:spPr>
          <a:xfrm>
            <a:off x="11888177" y="2538794"/>
            <a:ext cx="3816796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1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Requerimientos del usuario (UR)</a:t>
            </a:r>
            <a:endParaRPr/>
          </a:p>
        </p:txBody>
      </p:sp>
      <p:sp>
        <p:nvSpPr>
          <p:cNvPr id="491" name="Google Shape;491;p16"/>
          <p:cNvSpPr txBox="1"/>
          <p:nvPr/>
        </p:nvSpPr>
        <p:spPr>
          <a:xfrm>
            <a:off x="481243" y="4550965"/>
            <a:ext cx="8100877" cy="1544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1" u="none" cap="none" strike="noStrike">
                <a:solidFill>
                  <a:srgbClr val="D4D4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RF-06: El sistema debe permitir a los usuarios de rol “Administrador”, “Gerente” que tengan los permisos necesarios o “Secretaría”, la búsqueda de usuarios mediante coincidencias alfanuméricas asociadas al RUT o al nombre de este, también debe permitir la aplicación de filtros de búsqueda por medio de los atributos de “Rol” y de “Estado de cuenta”. </a:t>
            </a:r>
            <a:endParaRPr/>
          </a:p>
        </p:txBody>
      </p:sp>
      <p:sp>
        <p:nvSpPr>
          <p:cNvPr id="492" name="Google Shape;492;p16"/>
          <p:cNvSpPr txBox="1"/>
          <p:nvPr/>
        </p:nvSpPr>
        <p:spPr>
          <a:xfrm>
            <a:off x="9705880" y="4809987"/>
            <a:ext cx="8100877" cy="102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1" u="none" cap="none" strike="noStrike">
                <a:solidFill>
                  <a:srgbClr val="D4D4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UR 2.1 Buscar y filtrar de usuarios: Como Administrador, Gerente o Secretaría, quiero buscar usuarios por RUT o nombre y aplicar filtros por rol y estado de cuenta, para encontrar rápidamente la información de los usuarios en el sistema.</a:t>
            </a:r>
            <a:endParaRPr/>
          </a:p>
        </p:txBody>
      </p:sp>
      <p:sp>
        <p:nvSpPr>
          <p:cNvPr id="493" name="Google Shape;493;p16"/>
          <p:cNvSpPr txBox="1"/>
          <p:nvPr/>
        </p:nvSpPr>
        <p:spPr>
          <a:xfrm>
            <a:off x="481243" y="6927143"/>
            <a:ext cx="8100877" cy="1285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1" u="none" cap="none" strike="noStrike">
                <a:solidFill>
                  <a:srgbClr val="D4D4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RF-21: El sistema debe permitir al usuario con rol de "Administrador" o “Gerente” con los permisos necesarios, agregar una puerta adicional a una obra existente, indicando el modelo de este. Los cambios deben tener incluidos un registro de una estampa de tiempo que incluya la fecha y hora de la actualización. </a:t>
            </a:r>
            <a:endParaRPr/>
          </a:p>
        </p:txBody>
      </p:sp>
      <p:sp>
        <p:nvSpPr>
          <p:cNvPr id="494" name="Google Shape;494;p16"/>
          <p:cNvSpPr txBox="1"/>
          <p:nvPr/>
        </p:nvSpPr>
        <p:spPr>
          <a:xfrm>
            <a:off x="9746137" y="7056653"/>
            <a:ext cx="8100877" cy="102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1" u="none" cap="none" strike="noStrike">
                <a:solidFill>
                  <a:srgbClr val="D4D4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UR 4.6 Añadir puerta adicional a obra existente: Como Administrador o Gerente, quiero agregar puertas adicionales a una obra existente indicando su modelo, para expandir los requerimientos del cliente registrando la fecha y hora de la actualización.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" name="Google Shape;499;p17"/>
          <p:cNvGrpSpPr/>
          <p:nvPr/>
        </p:nvGrpSpPr>
        <p:grpSpPr>
          <a:xfrm>
            <a:off x="0" y="-144661"/>
            <a:ext cx="18288000" cy="1583907"/>
            <a:chOff x="0" y="-38100"/>
            <a:chExt cx="4816593" cy="417161"/>
          </a:xfrm>
        </p:grpSpPr>
        <p:sp>
          <p:nvSpPr>
            <p:cNvPr id="500" name="Google Shape;500;p17"/>
            <p:cNvSpPr/>
            <p:nvPr/>
          </p:nvSpPr>
          <p:spPr>
            <a:xfrm>
              <a:off x="0" y="0"/>
              <a:ext cx="4816592" cy="379061"/>
            </a:xfrm>
            <a:custGeom>
              <a:rect b="b" l="l" r="r" t="t"/>
              <a:pathLst>
                <a:path extrusionOk="0" h="37906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9061"/>
                  </a:lnTo>
                  <a:lnTo>
                    <a:pt x="0" y="379061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501" name="Google Shape;501;p17"/>
            <p:cNvSpPr txBox="1"/>
            <p:nvPr/>
          </p:nvSpPr>
          <p:spPr>
            <a:xfrm>
              <a:off x="0" y="-38100"/>
              <a:ext cx="4816593" cy="417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2" name="Google Shape;502;p17"/>
          <p:cNvSpPr/>
          <p:nvPr/>
        </p:nvSpPr>
        <p:spPr>
          <a:xfrm>
            <a:off x="16667374" y="101426"/>
            <a:ext cx="1482029" cy="1236420"/>
          </a:xfrm>
          <a:custGeom>
            <a:rect b="b" l="l" r="r" t="t"/>
            <a:pathLst>
              <a:path extrusionOk="0" h="1200023" w="1438402">
                <a:moveTo>
                  <a:pt x="0" y="0"/>
                </a:moveTo>
                <a:lnTo>
                  <a:pt x="1438402" y="0"/>
                </a:lnTo>
                <a:lnTo>
                  <a:pt x="1438402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-2" t="0"/>
            </a:stretch>
          </a:blipFill>
          <a:ln>
            <a:noFill/>
          </a:ln>
        </p:spPr>
      </p:sp>
      <p:sp>
        <p:nvSpPr>
          <p:cNvPr id="503" name="Google Shape;503;p17"/>
          <p:cNvSpPr txBox="1"/>
          <p:nvPr/>
        </p:nvSpPr>
        <p:spPr>
          <a:xfrm>
            <a:off x="318043" y="348369"/>
            <a:ext cx="16109963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6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Estándar ESA (UR) a casos de uso (CU)</a:t>
            </a:r>
            <a:endParaRPr/>
          </a:p>
        </p:txBody>
      </p:sp>
      <p:grpSp>
        <p:nvGrpSpPr>
          <p:cNvPr id="504" name="Google Shape;504;p17"/>
          <p:cNvGrpSpPr/>
          <p:nvPr/>
        </p:nvGrpSpPr>
        <p:grpSpPr>
          <a:xfrm>
            <a:off x="1856324" y="2027503"/>
            <a:ext cx="5270202" cy="1924955"/>
            <a:chOff x="0" y="-28575"/>
            <a:chExt cx="974489" cy="355935"/>
          </a:xfrm>
        </p:grpSpPr>
        <p:sp>
          <p:nvSpPr>
            <p:cNvPr id="505" name="Google Shape;505;p17"/>
            <p:cNvSpPr/>
            <p:nvPr/>
          </p:nvSpPr>
          <p:spPr>
            <a:xfrm>
              <a:off x="0" y="0"/>
              <a:ext cx="974489" cy="327360"/>
            </a:xfrm>
            <a:custGeom>
              <a:rect b="b" l="l" r="r" t="t"/>
              <a:pathLst>
                <a:path extrusionOk="0" h="327360" w="974489">
                  <a:moveTo>
                    <a:pt x="14690" y="0"/>
                  </a:moveTo>
                  <a:lnTo>
                    <a:pt x="959799" y="0"/>
                  </a:lnTo>
                  <a:cubicBezTo>
                    <a:pt x="967912" y="0"/>
                    <a:pt x="974489" y="6577"/>
                    <a:pt x="974489" y="14690"/>
                  </a:cubicBezTo>
                  <a:lnTo>
                    <a:pt x="974489" y="312670"/>
                  </a:lnTo>
                  <a:cubicBezTo>
                    <a:pt x="974489" y="316566"/>
                    <a:pt x="972942" y="320302"/>
                    <a:pt x="970187" y="323057"/>
                  </a:cubicBezTo>
                  <a:cubicBezTo>
                    <a:pt x="967432" y="325812"/>
                    <a:pt x="963695" y="327360"/>
                    <a:pt x="959799" y="327360"/>
                  </a:cubicBezTo>
                  <a:lnTo>
                    <a:pt x="14690" y="327360"/>
                  </a:lnTo>
                  <a:cubicBezTo>
                    <a:pt x="6577" y="327360"/>
                    <a:pt x="0" y="320783"/>
                    <a:pt x="0" y="312670"/>
                  </a:cubicBezTo>
                  <a:lnTo>
                    <a:pt x="0" y="14690"/>
                  </a:lnTo>
                  <a:cubicBezTo>
                    <a:pt x="0" y="6577"/>
                    <a:pt x="6577" y="0"/>
                    <a:pt x="14690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7"/>
            <p:cNvSpPr txBox="1"/>
            <p:nvPr/>
          </p:nvSpPr>
          <p:spPr>
            <a:xfrm>
              <a:off x="0" y="-28575"/>
              <a:ext cx="974489" cy="355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7" name="Google Shape;507;p17"/>
          <p:cNvGrpSpPr/>
          <p:nvPr/>
        </p:nvGrpSpPr>
        <p:grpSpPr>
          <a:xfrm>
            <a:off x="11161474" y="2029975"/>
            <a:ext cx="5270202" cy="1924955"/>
            <a:chOff x="0" y="-28575"/>
            <a:chExt cx="974489" cy="355935"/>
          </a:xfrm>
        </p:grpSpPr>
        <p:sp>
          <p:nvSpPr>
            <p:cNvPr id="508" name="Google Shape;508;p17"/>
            <p:cNvSpPr/>
            <p:nvPr/>
          </p:nvSpPr>
          <p:spPr>
            <a:xfrm>
              <a:off x="0" y="0"/>
              <a:ext cx="974489" cy="327360"/>
            </a:xfrm>
            <a:custGeom>
              <a:rect b="b" l="l" r="r" t="t"/>
              <a:pathLst>
                <a:path extrusionOk="0" h="327360" w="974489">
                  <a:moveTo>
                    <a:pt x="14690" y="0"/>
                  </a:moveTo>
                  <a:lnTo>
                    <a:pt x="959799" y="0"/>
                  </a:lnTo>
                  <a:cubicBezTo>
                    <a:pt x="967912" y="0"/>
                    <a:pt x="974489" y="6577"/>
                    <a:pt x="974489" y="14690"/>
                  </a:cubicBezTo>
                  <a:lnTo>
                    <a:pt x="974489" y="312670"/>
                  </a:lnTo>
                  <a:cubicBezTo>
                    <a:pt x="974489" y="316566"/>
                    <a:pt x="972942" y="320302"/>
                    <a:pt x="970187" y="323057"/>
                  </a:cubicBezTo>
                  <a:cubicBezTo>
                    <a:pt x="967432" y="325812"/>
                    <a:pt x="963695" y="327360"/>
                    <a:pt x="959799" y="327360"/>
                  </a:cubicBezTo>
                  <a:lnTo>
                    <a:pt x="14690" y="327360"/>
                  </a:lnTo>
                  <a:cubicBezTo>
                    <a:pt x="6577" y="327360"/>
                    <a:pt x="0" y="320783"/>
                    <a:pt x="0" y="312670"/>
                  </a:cubicBezTo>
                  <a:lnTo>
                    <a:pt x="0" y="14690"/>
                  </a:lnTo>
                  <a:cubicBezTo>
                    <a:pt x="0" y="6577"/>
                    <a:pt x="6577" y="0"/>
                    <a:pt x="14690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7"/>
            <p:cNvSpPr txBox="1"/>
            <p:nvPr/>
          </p:nvSpPr>
          <p:spPr>
            <a:xfrm>
              <a:off x="0" y="-28575"/>
              <a:ext cx="974489" cy="355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0" name="Google Shape;510;p17"/>
          <p:cNvGrpSpPr/>
          <p:nvPr/>
        </p:nvGrpSpPr>
        <p:grpSpPr>
          <a:xfrm>
            <a:off x="277786" y="4278758"/>
            <a:ext cx="8507791" cy="1924955"/>
            <a:chOff x="0" y="-28575"/>
            <a:chExt cx="1573137" cy="355935"/>
          </a:xfrm>
        </p:grpSpPr>
        <p:sp>
          <p:nvSpPr>
            <p:cNvPr id="511" name="Google Shape;511;p17"/>
            <p:cNvSpPr/>
            <p:nvPr/>
          </p:nvSpPr>
          <p:spPr>
            <a:xfrm>
              <a:off x="0" y="0"/>
              <a:ext cx="1573137" cy="327360"/>
            </a:xfrm>
            <a:custGeom>
              <a:rect b="b" l="l" r="r" t="t"/>
              <a:pathLst>
                <a:path extrusionOk="0" h="327360" w="1573137">
                  <a:moveTo>
                    <a:pt x="9100" y="0"/>
                  </a:moveTo>
                  <a:lnTo>
                    <a:pt x="1564037" y="0"/>
                  </a:lnTo>
                  <a:cubicBezTo>
                    <a:pt x="1569063" y="0"/>
                    <a:pt x="1573137" y="4074"/>
                    <a:pt x="1573137" y="9100"/>
                  </a:cubicBezTo>
                  <a:lnTo>
                    <a:pt x="1573137" y="318260"/>
                  </a:lnTo>
                  <a:cubicBezTo>
                    <a:pt x="1573137" y="323286"/>
                    <a:pt x="1569063" y="327360"/>
                    <a:pt x="1564037" y="327360"/>
                  </a:cubicBezTo>
                  <a:lnTo>
                    <a:pt x="9100" y="327360"/>
                  </a:lnTo>
                  <a:cubicBezTo>
                    <a:pt x="4074" y="327360"/>
                    <a:pt x="0" y="323286"/>
                    <a:pt x="0" y="318260"/>
                  </a:cubicBezTo>
                  <a:lnTo>
                    <a:pt x="0" y="9100"/>
                  </a:lnTo>
                  <a:cubicBezTo>
                    <a:pt x="0" y="4074"/>
                    <a:pt x="4074" y="0"/>
                    <a:pt x="9100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7"/>
            <p:cNvSpPr txBox="1"/>
            <p:nvPr/>
          </p:nvSpPr>
          <p:spPr>
            <a:xfrm>
              <a:off x="0" y="-28575"/>
              <a:ext cx="1573137" cy="355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" name="Google Shape;513;p17"/>
          <p:cNvGrpSpPr/>
          <p:nvPr/>
        </p:nvGrpSpPr>
        <p:grpSpPr>
          <a:xfrm>
            <a:off x="9502423" y="4278758"/>
            <a:ext cx="8507791" cy="1924955"/>
            <a:chOff x="0" y="-28575"/>
            <a:chExt cx="1573137" cy="355935"/>
          </a:xfrm>
        </p:grpSpPr>
        <p:sp>
          <p:nvSpPr>
            <p:cNvPr id="514" name="Google Shape;514;p17"/>
            <p:cNvSpPr/>
            <p:nvPr/>
          </p:nvSpPr>
          <p:spPr>
            <a:xfrm>
              <a:off x="0" y="0"/>
              <a:ext cx="1573137" cy="327360"/>
            </a:xfrm>
            <a:custGeom>
              <a:rect b="b" l="l" r="r" t="t"/>
              <a:pathLst>
                <a:path extrusionOk="0" h="327360" w="1573137">
                  <a:moveTo>
                    <a:pt x="9100" y="0"/>
                  </a:moveTo>
                  <a:lnTo>
                    <a:pt x="1564037" y="0"/>
                  </a:lnTo>
                  <a:cubicBezTo>
                    <a:pt x="1569063" y="0"/>
                    <a:pt x="1573137" y="4074"/>
                    <a:pt x="1573137" y="9100"/>
                  </a:cubicBezTo>
                  <a:lnTo>
                    <a:pt x="1573137" y="318260"/>
                  </a:lnTo>
                  <a:cubicBezTo>
                    <a:pt x="1573137" y="323286"/>
                    <a:pt x="1569063" y="327360"/>
                    <a:pt x="1564037" y="327360"/>
                  </a:cubicBezTo>
                  <a:lnTo>
                    <a:pt x="9100" y="327360"/>
                  </a:lnTo>
                  <a:cubicBezTo>
                    <a:pt x="4074" y="327360"/>
                    <a:pt x="0" y="323286"/>
                    <a:pt x="0" y="318260"/>
                  </a:cubicBezTo>
                  <a:lnTo>
                    <a:pt x="0" y="9100"/>
                  </a:lnTo>
                  <a:cubicBezTo>
                    <a:pt x="0" y="4074"/>
                    <a:pt x="4074" y="0"/>
                    <a:pt x="9100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7"/>
            <p:cNvSpPr txBox="1"/>
            <p:nvPr/>
          </p:nvSpPr>
          <p:spPr>
            <a:xfrm>
              <a:off x="0" y="-28575"/>
              <a:ext cx="1573137" cy="355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6" name="Google Shape;516;p17"/>
          <p:cNvGrpSpPr/>
          <p:nvPr/>
        </p:nvGrpSpPr>
        <p:grpSpPr>
          <a:xfrm>
            <a:off x="277786" y="6525425"/>
            <a:ext cx="8507791" cy="1924955"/>
            <a:chOff x="0" y="-28575"/>
            <a:chExt cx="1573137" cy="355935"/>
          </a:xfrm>
        </p:grpSpPr>
        <p:sp>
          <p:nvSpPr>
            <p:cNvPr id="517" name="Google Shape;517;p17"/>
            <p:cNvSpPr/>
            <p:nvPr/>
          </p:nvSpPr>
          <p:spPr>
            <a:xfrm>
              <a:off x="0" y="0"/>
              <a:ext cx="1573137" cy="327360"/>
            </a:xfrm>
            <a:custGeom>
              <a:rect b="b" l="l" r="r" t="t"/>
              <a:pathLst>
                <a:path extrusionOk="0" h="327360" w="1573137">
                  <a:moveTo>
                    <a:pt x="9100" y="0"/>
                  </a:moveTo>
                  <a:lnTo>
                    <a:pt x="1564037" y="0"/>
                  </a:lnTo>
                  <a:cubicBezTo>
                    <a:pt x="1569063" y="0"/>
                    <a:pt x="1573137" y="4074"/>
                    <a:pt x="1573137" y="9100"/>
                  </a:cubicBezTo>
                  <a:lnTo>
                    <a:pt x="1573137" y="318260"/>
                  </a:lnTo>
                  <a:cubicBezTo>
                    <a:pt x="1573137" y="323286"/>
                    <a:pt x="1569063" y="327360"/>
                    <a:pt x="1564037" y="327360"/>
                  </a:cubicBezTo>
                  <a:lnTo>
                    <a:pt x="9100" y="327360"/>
                  </a:lnTo>
                  <a:cubicBezTo>
                    <a:pt x="4074" y="327360"/>
                    <a:pt x="0" y="323286"/>
                    <a:pt x="0" y="318260"/>
                  </a:cubicBezTo>
                  <a:lnTo>
                    <a:pt x="0" y="9100"/>
                  </a:lnTo>
                  <a:cubicBezTo>
                    <a:pt x="0" y="4074"/>
                    <a:pt x="4074" y="0"/>
                    <a:pt x="9100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7"/>
            <p:cNvSpPr txBox="1"/>
            <p:nvPr/>
          </p:nvSpPr>
          <p:spPr>
            <a:xfrm>
              <a:off x="0" y="-28575"/>
              <a:ext cx="1573137" cy="355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9" name="Google Shape;519;p17"/>
          <p:cNvGrpSpPr/>
          <p:nvPr/>
        </p:nvGrpSpPr>
        <p:grpSpPr>
          <a:xfrm>
            <a:off x="9542680" y="6525425"/>
            <a:ext cx="8507791" cy="1924955"/>
            <a:chOff x="0" y="-28575"/>
            <a:chExt cx="1573137" cy="355935"/>
          </a:xfrm>
        </p:grpSpPr>
        <p:sp>
          <p:nvSpPr>
            <p:cNvPr id="520" name="Google Shape;520;p17"/>
            <p:cNvSpPr/>
            <p:nvPr/>
          </p:nvSpPr>
          <p:spPr>
            <a:xfrm>
              <a:off x="0" y="0"/>
              <a:ext cx="1573137" cy="327360"/>
            </a:xfrm>
            <a:custGeom>
              <a:rect b="b" l="l" r="r" t="t"/>
              <a:pathLst>
                <a:path extrusionOk="0" h="327360" w="1573137">
                  <a:moveTo>
                    <a:pt x="9100" y="0"/>
                  </a:moveTo>
                  <a:lnTo>
                    <a:pt x="1564037" y="0"/>
                  </a:lnTo>
                  <a:cubicBezTo>
                    <a:pt x="1569063" y="0"/>
                    <a:pt x="1573137" y="4074"/>
                    <a:pt x="1573137" y="9100"/>
                  </a:cubicBezTo>
                  <a:lnTo>
                    <a:pt x="1573137" y="318260"/>
                  </a:lnTo>
                  <a:cubicBezTo>
                    <a:pt x="1573137" y="323286"/>
                    <a:pt x="1569063" y="327360"/>
                    <a:pt x="1564037" y="327360"/>
                  </a:cubicBezTo>
                  <a:lnTo>
                    <a:pt x="9100" y="327360"/>
                  </a:lnTo>
                  <a:cubicBezTo>
                    <a:pt x="4074" y="327360"/>
                    <a:pt x="0" y="323286"/>
                    <a:pt x="0" y="318260"/>
                  </a:cubicBezTo>
                  <a:lnTo>
                    <a:pt x="0" y="9100"/>
                  </a:lnTo>
                  <a:cubicBezTo>
                    <a:pt x="0" y="4074"/>
                    <a:pt x="4074" y="0"/>
                    <a:pt x="9100" y="0"/>
                  </a:cubicBez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7"/>
            <p:cNvSpPr txBox="1"/>
            <p:nvPr/>
          </p:nvSpPr>
          <p:spPr>
            <a:xfrm>
              <a:off x="0" y="-28575"/>
              <a:ext cx="1573137" cy="3559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2" name="Google Shape;522;p17"/>
          <p:cNvGrpSpPr/>
          <p:nvPr/>
        </p:nvGrpSpPr>
        <p:grpSpPr>
          <a:xfrm>
            <a:off x="8138542" y="2251236"/>
            <a:ext cx="2010917" cy="1737235"/>
            <a:chOff x="0" y="0"/>
            <a:chExt cx="812800" cy="702180"/>
          </a:xfrm>
        </p:grpSpPr>
        <p:sp>
          <p:nvSpPr>
            <p:cNvPr id="523" name="Google Shape;523;p17"/>
            <p:cNvSpPr/>
            <p:nvPr/>
          </p:nvSpPr>
          <p:spPr>
            <a:xfrm>
              <a:off x="0" y="0"/>
              <a:ext cx="812800" cy="702180"/>
            </a:xfrm>
            <a:custGeom>
              <a:rect b="b" l="l" r="r" t="t"/>
              <a:pathLst>
                <a:path extrusionOk="0" h="702180" w="812800">
                  <a:moveTo>
                    <a:pt x="812800" y="35109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498980"/>
                  </a:lnTo>
                  <a:lnTo>
                    <a:pt x="406400" y="498980"/>
                  </a:lnTo>
                  <a:lnTo>
                    <a:pt x="406400" y="702180"/>
                  </a:lnTo>
                  <a:lnTo>
                    <a:pt x="812800" y="351090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524" name="Google Shape;524;p17"/>
            <p:cNvSpPr txBox="1"/>
            <p:nvPr/>
          </p:nvSpPr>
          <p:spPr>
            <a:xfrm>
              <a:off x="0" y="174625"/>
              <a:ext cx="711200" cy="3243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5" name="Google Shape;525;p17"/>
          <p:cNvSpPr txBox="1"/>
          <p:nvPr/>
        </p:nvSpPr>
        <p:spPr>
          <a:xfrm>
            <a:off x="2583027" y="2536321"/>
            <a:ext cx="3816796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1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Requerimientos del usuario (UR)</a:t>
            </a:r>
            <a:endParaRPr/>
          </a:p>
        </p:txBody>
      </p:sp>
      <p:sp>
        <p:nvSpPr>
          <p:cNvPr id="526" name="Google Shape;526;p17"/>
          <p:cNvSpPr txBox="1"/>
          <p:nvPr/>
        </p:nvSpPr>
        <p:spPr>
          <a:xfrm>
            <a:off x="11888177" y="2538794"/>
            <a:ext cx="3816796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1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Casos de uso</a:t>
            </a:r>
            <a:endParaRPr/>
          </a:p>
          <a:p>
            <a:pPr indent="0" lvl="0" marL="0" marR="0" rtl="0" algn="ctr">
              <a:lnSpc>
                <a:spcPct val="12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1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(CU)</a:t>
            </a:r>
            <a:endParaRPr/>
          </a:p>
        </p:txBody>
      </p:sp>
      <p:sp>
        <p:nvSpPr>
          <p:cNvPr id="527" name="Google Shape;527;p17"/>
          <p:cNvSpPr txBox="1"/>
          <p:nvPr/>
        </p:nvSpPr>
        <p:spPr>
          <a:xfrm>
            <a:off x="481243" y="7056653"/>
            <a:ext cx="8100877" cy="102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1" u="none" cap="none" strike="noStrike">
                <a:solidFill>
                  <a:srgbClr val="D4D4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UR 4.6 Añadir puerta adicional a obra existente: Como Administrador o Gerente, quiero agregar puertas adicionales a una obra existente indicando su modelo, para expandir los requerimientos del cliente registrando la fecha y hora de la actualización.</a:t>
            </a:r>
            <a:endParaRPr/>
          </a:p>
        </p:txBody>
      </p:sp>
      <p:sp>
        <p:nvSpPr>
          <p:cNvPr id="528" name="Google Shape;528;p17"/>
          <p:cNvSpPr txBox="1"/>
          <p:nvPr/>
        </p:nvSpPr>
        <p:spPr>
          <a:xfrm>
            <a:off x="481243" y="4825699"/>
            <a:ext cx="8100877" cy="1026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1" u="none" cap="none" strike="noStrike">
                <a:solidFill>
                  <a:srgbClr val="D4D4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UR 2.1 Buscar y filtrar de usuarios: Como Administrador, Gerente o Secretaría, quiero buscar usuarios por RUT o nombre y aplicar filtros por rol y estado de cuenta, para encontrar rápidamente la información de los usuarios en el sistema.</a:t>
            </a:r>
            <a:endParaRPr/>
          </a:p>
        </p:txBody>
      </p:sp>
      <p:sp>
        <p:nvSpPr>
          <p:cNvPr id="529" name="Google Shape;529;p17"/>
          <p:cNvSpPr txBox="1"/>
          <p:nvPr/>
        </p:nvSpPr>
        <p:spPr>
          <a:xfrm>
            <a:off x="9746137" y="4580317"/>
            <a:ext cx="8100877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9533" lvl="1" marL="419065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941"/>
              <a:buFont typeface="Arial"/>
              <a:buChar char="•"/>
            </a:pPr>
            <a:r>
              <a:rPr b="0" i="0" lang="en-US" sz="1941" u="none" cap="none" strike="noStrike">
                <a:solidFill>
                  <a:srgbClr val="D4D4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CU-11: Buscando usuarios mediante coincidencias alfanuméricas</a:t>
            </a:r>
            <a:endParaRPr/>
          </a:p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41" u="none" cap="none" strike="noStrike">
              <a:solidFill>
                <a:srgbClr val="D4D4D4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indent="-209533" lvl="1" marL="419065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941"/>
              <a:buFont typeface="Arial"/>
              <a:buChar char="•"/>
            </a:pPr>
            <a:r>
              <a:rPr b="0" i="0" lang="en-US" sz="1941" u="none" cap="none" strike="noStrike">
                <a:solidFill>
                  <a:srgbClr val="D4D4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CU-12: Filtrando el listado de usuarios por atributos específicos</a:t>
            </a:r>
            <a:endParaRPr/>
          </a:p>
        </p:txBody>
      </p:sp>
      <p:sp>
        <p:nvSpPr>
          <p:cNvPr id="530" name="Google Shape;530;p17"/>
          <p:cNvSpPr txBox="1"/>
          <p:nvPr/>
        </p:nvSpPr>
        <p:spPr>
          <a:xfrm>
            <a:off x="9746137" y="7269897"/>
            <a:ext cx="810087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9533" lvl="1" marL="419065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941"/>
              <a:buFont typeface="Arial"/>
              <a:buChar char="•"/>
            </a:pPr>
            <a:r>
              <a:rPr b="0" i="0" lang="en-US" sz="1941" u="none" cap="none" strike="noStrike">
                <a:solidFill>
                  <a:srgbClr val="D4D4D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CU-41: Agregando una puerta adicional a una obra existente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535;p18"/>
          <p:cNvGrpSpPr/>
          <p:nvPr/>
        </p:nvGrpSpPr>
        <p:grpSpPr>
          <a:xfrm>
            <a:off x="0" y="-144661"/>
            <a:ext cx="18288000" cy="1583907"/>
            <a:chOff x="0" y="-38100"/>
            <a:chExt cx="4816593" cy="417161"/>
          </a:xfrm>
        </p:grpSpPr>
        <p:sp>
          <p:nvSpPr>
            <p:cNvPr id="536" name="Google Shape;536;p18"/>
            <p:cNvSpPr/>
            <p:nvPr/>
          </p:nvSpPr>
          <p:spPr>
            <a:xfrm>
              <a:off x="0" y="0"/>
              <a:ext cx="4816592" cy="379061"/>
            </a:xfrm>
            <a:custGeom>
              <a:rect b="b" l="l" r="r" t="t"/>
              <a:pathLst>
                <a:path extrusionOk="0" h="37906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9061"/>
                  </a:lnTo>
                  <a:lnTo>
                    <a:pt x="0" y="379061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537" name="Google Shape;537;p18"/>
            <p:cNvSpPr txBox="1"/>
            <p:nvPr/>
          </p:nvSpPr>
          <p:spPr>
            <a:xfrm>
              <a:off x="0" y="-38100"/>
              <a:ext cx="4816593" cy="417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8" name="Google Shape;538;p18"/>
          <p:cNvSpPr/>
          <p:nvPr/>
        </p:nvSpPr>
        <p:spPr>
          <a:xfrm>
            <a:off x="16667374" y="101426"/>
            <a:ext cx="1482029" cy="1236420"/>
          </a:xfrm>
          <a:custGeom>
            <a:rect b="b" l="l" r="r" t="t"/>
            <a:pathLst>
              <a:path extrusionOk="0" h="1200023" w="1438402">
                <a:moveTo>
                  <a:pt x="0" y="0"/>
                </a:moveTo>
                <a:lnTo>
                  <a:pt x="1438402" y="0"/>
                </a:lnTo>
                <a:lnTo>
                  <a:pt x="1438402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-2" t="0"/>
            </a:stretch>
          </a:blipFill>
          <a:ln>
            <a:noFill/>
          </a:ln>
        </p:spPr>
      </p:sp>
      <p:sp>
        <p:nvSpPr>
          <p:cNvPr id="539" name="Google Shape;539;p18"/>
          <p:cNvSpPr/>
          <p:nvPr/>
        </p:nvSpPr>
        <p:spPr>
          <a:xfrm>
            <a:off x="2793305" y="1977975"/>
            <a:ext cx="12701390" cy="7890739"/>
          </a:xfrm>
          <a:custGeom>
            <a:rect b="b" l="l" r="r" t="t"/>
            <a:pathLst>
              <a:path extrusionOk="0" h="7890739" w="12701390">
                <a:moveTo>
                  <a:pt x="0" y="0"/>
                </a:moveTo>
                <a:lnTo>
                  <a:pt x="12701390" y="0"/>
                </a:lnTo>
                <a:lnTo>
                  <a:pt x="12701390" y="7890739"/>
                </a:lnTo>
                <a:lnTo>
                  <a:pt x="0" y="78907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0" name="Google Shape;540;p18"/>
          <p:cNvSpPr txBox="1"/>
          <p:nvPr/>
        </p:nvSpPr>
        <p:spPr>
          <a:xfrm>
            <a:off x="318043" y="348369"/>
            <a:ext cx="12277358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6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Diagramas de casos de uso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5" name="Google Shape;545;p19"/>
          <p:cNvGrpSpPr/>
          <p:nvPr/>
        </p:nvGrpSpPr>
        <p:grpSpPr>
          <a:xfrm>
            <a:off x="0" y="-144661"/>
            <a:ext cx="18288000" cy="1583907"/>
            <a:chOff x="0" y="-38100"/>
            <a:chExt cx="4816593" cy="417161"/>
          </a:xfrm>
        </p:grpSpPr>
        <p:sp>
          <p:nvSpPr>
            <p:cNvPr id="546" name="Google Shape;546;p19"/>
            <p:cNvSpPr/>
            <p:nvPr/>
          </p:nvSpPr>
          <p:spPr>
            <a:xfrm>
              <a:off x="0" y="0"/>
              <a:ext cx="4816592" cy="379061"/>
            </a:xfrm>
            <a:custGeom>
              <a:rect b="b" l="l" r="r" t="t"/>
              <a:pathLst>
                <a:path extrusionOk="0" h="37906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9061"/>
                  </a:lnTo>
                  <a:lnTo>
                    <a:pt x="0" y="379061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547" name="Google Shape;547;p19"/>
            <p:cNvSpPr txBox="1"/>
            <p:nvPr/>
          </p:nvSpPr>
          <p:spPr>
            <a:xfrm>
              <a:off x="0" y="-38100"/>
              <a:ext cx="4816593" cy="417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8" name="Google Shape;548;p19"/>
          <p:cNvSpPr/>
          <p:nvPr/>
        </p:nvSpPr>
        <p:spPr>
          <a:xfrm>
            <a:off x="16667374" y="101426"/>
            <a:ext cx="1482029" cy="1236420"/>
          </a:xfrm>
          <a:custGeom>
            <a:rect b="b" l="l" r="r" t="t"/>
            <a:pathLst>
              <a:path extrusionOk="0" h="1200023" w="1438402">
                <a:moveTo>
                  <a:pt x="0" y="0"/>
                </a:moveTo>
                <a:lnTo>
                  <a:pt x="1438402" y="0"/>
                </a:lnTo>
                <a:lnTo>
                  <a:pt x="1438402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-2" t="0"/>
            </a:stretch>
          </a:blipFill>
          <a:ln>
            <a:noFill/>
          </a:ln>
        </p:spPr>
      </p:sp>
      <p:sp>
        <p:nvSpPr>
          <p:cNvPr id="549" name="Google Shape;549;p19"/>
          <p:cNvSpPr/>
          <p:nvPr/>
        </p:nvSpPr>
        <p:spPr>
          <a:xfrm>
            <a:off x="1991944" y="1932323"/>
            <a:ext cx="14304112" cy="7688460"/>
          </a:xfrm>
          <a:custGeom>
            <a:rect b="b" l="l" r="r" t="t"/>
            <a:pathLst>
              <a:path extrusionOk="0" h="7688460" w="14304112">
                <a:moveTo>
                  <a:pt x="0" y="0"/>
                </a:moveTo>
                <a:lnTo>
                  <a:pt x="14304112" y="0"/>
                </a:lnTo>
                <a:lnTo>
                  <a:pt x="14304112" y="7688460"/>
                </a:lnTo>
                <a:lnTo>
                  <a:pt x="0" y="7688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0" name="Google Shape;550;p19"/>
          <p:cNvSpPr txBox="1"/>
          <p:nvPr/>
        </p:nvSpPr>
        <p:spPr>
          <a:xfrm>
            <a:off x="318043" y="348369"/>
            <a:ext cx="12277358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66" u="none" cap="none" strike="noStrik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Diagramas de casos de uso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5" name="Google Shape;555;p20"/>
          <p:cNvGrpSpPr/>
          <p:nvPr/>
        </p:nvGrpSpPr>
        <p:grpSpPr>
          <a:xfrm>
            <a:off x="0" y="-144661"/>
            <a:ext cx="18288000" cy="1583907"/>
            <a:chOff x="0" y="-38100"/>
            <a:chExt cx="4816593" cy="417161"/>
          </a:xfrm>
        </p:grpSpPr>
        <p:sp>
          <p:nvSpPr>
            <p:cNvPr id="556" name="Google Shape;556;p20"/>
            <p:cNvSpPr/>
            <p:nvPr/>
          </p:nvSpPr>
          <p:spPr>
            <a:xfrm>
              <a:off x="0" y="0"/>
              <a:ext cx="4816592" cy="379061"/>
            </a:xfrm>
            <a:custGeom>
              <a:rect b="b" l="l" r="r" t="t"/>
              <a:pathLst>
                <a:path extrusionOk="0" h="37906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9061"/>
                  </a:lnTo>
                  <a:lnTo>
                    <a:pt x="0" y="379061"/>
                  </a:lnTo>
                  <a:close/>
                </a:path>
              </a:pathLst>
            </a:custGeom>
            <a:solidFill>
              <a:srgbClr val="10458B"/>
            </a:solidFill>
            <a:ln>
              <a:noFill/>
            </a:ln>
          </p:spPr>
        </p:sp>
        <p:sp>
          <p:nvSpPr>
            <p:cNvPr id="557" name="Google Shape;557;p20"/>
            <p:cNvSpPr txBox="1"/>
            <p:nvPr/>
          </p:nvSpPr>
          <p:spPr>
            <a:xfrm>
              <a:off x="0" y="-38100"/>
              <a:ext cx="4816593" cy="417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8" name="Google Shape;558;p20"/>
          <p:cNvSpPr/>
          <p:nvPr/>
        </p:nvSpPr>
        <p:spPr>
          <a:xfrm>
            <a:off x="16667374" y="101426"/>
            <a:ext cx="1482029" cy="1236420"/>
          </a:xfrm>
          <a:custGeom>
            <a:rect b="b" l="l" r="r" t="t"/>
            <a:pathLst>
              <a:path extrusionOk="0" h="1200023" w="1438402">
                <a:moveTo>
                  <a:pt x="0" y="0"/>
                </a:moveTo>
                <a:lnTo>
                  <a:pt x="1438402" y="0"/>
                </a:lnTo>
                <a:lnTo>
                  <a:pt x="1438402" y="1200023"/>
                </a:lnTo>
                <a:lnTo>
                  <a:pt x="0" y="1200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2" l="0" r="-2" t="0"/>
            </a:stretch>
          </a:blipFill>
          <a:ln>
            <a:noFill/>
          </a:ln>
        </p:spPr>
      </p:sp>
      <p:sp>
        <p:nvSpPr>
          <p:cNvPr id="559" name="Google Shape;559;p20"/>
          <p:cNvSpPr/>
          <p:nvPr/>
        </p:nvSpPr>
        <p:spPr>
          <a:xfrm>
            <a:off x="993297" y="3720534"/>
            <a:ext cx="3336634" cy="1240870"/>
          </a:xfrm>
          <a:custGeom>
            <a:rect b="b" l="l" r="r" t="t"/>
            <a:pathLst>
              <a:path extrusionOk="0" h="2395855" w="6442329">
                <a:moveTo>
                  <a:pt x="0" y="0"/>
                </a:moveTo>
                <a:lnTo>
                  <a:pt x="6442329" y="0"/>
                </a:lnTo>
                <a:lnTo>
                  <a:pt x="6442329" y="2395855"/>
                </a:lnTo>
                <a:lnTo>
                  <a:pt x="0" y="23958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" l="0" r="0" t="0"/>
            </a:stretch>
          </a:blipFill>
          <a:ln>
            <a:noFill/>
          </a:ln>
        </p:spPr>
      </p:sp>
      <p:cxnSp>
        <p:nvCxnSpPr>
          <p:cNvPr id="560" name="Google Shape;560;p20"/>
          <p:cNvCxnSpPr/>
          <p:nvPr/>
        </p:nvCxnSpPr>
        <p:spPr>
          <a:xfrm>
            <a:off x="725160" y="6156855"/>
            <a:ext cx="16837681" cy="0"/>
          </a:xfrm>
          <a:prstGeom prst="straightConnector1">
            <a:avLst/>
          </a:prstGeom>
          <a:noFill/>
          <a:ln cap="rnd" cmpd="sng" w="57150">
            <a:solidFill>
              <a:srgbClr val="1045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1" name="Google Shape;561;p20"/>
          <p:cNvCxnSpPr/>
          <p:nvPr/>
        </p:nvCxnSpPr>
        <p:spPr>
          <a:xfrm>
            <a:off x="4730457" y="3602875"/>
            <a:ext cx="0" cy="2079973"/>
          </a:xfrm>
          <a:prstGeom prst="straightConnector1">
            <a:avLst/>
          </a:prstGeom>
          <a:noFill/>
          <a:ln cap="rnd" cmpd="sng" w="57150">
            <a:solidFill>
              <a:srgbClr val="1045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2" name="Google Shape;562;p20"/>
          <p:cNvSpPr txBox="1"/>
          <p:nvPr/>
        </p:nvSpPr>
        <p:spPr>
          <a:xfrm>
            <a:off x="5131030" y="3720534"/>
            <a:ext cx="12277358" cy="1807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66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Presentación de documento 0 Grupo 16 Sistema de Terreno</a:t>
            </a:r>
            <a:endParaRPr/>
          </a:p>
        </p:txBody>
      </p:sp>
      <p:sp>
        <p:nvSpPr>
          <p:cNvPr id="563" name="Google Shape;563;p20"/>
          <p:cNvSpPr txBox="1"/>
          <p:nvPr/>
        </p:nvSpPr>
        <p:spPr>
          <a:xfrm>
            <a:off x="726582" y="5243336"/>
            <a:ext cx="3870077" cy="284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1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80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Empresa Puertas Blindadas</a:t>
            </a:r>
            <a:endParaRPr/>
          </a:p>
        </p:txBody>
      </p:sp>
      <p:sp>
        <p:nvSpPr>
          <p:cNvPr id="564" name="Google Shape;564;p20"/>
          <p:cNvSpPr txBox="1"/>
          <p:nvPr/>
        </p:nvSpPr>
        <p:spPr>
          <a:xfrm>
            <a:off x="3005321" y="6633105"/>
            <a:ext cx="12277358" cy="903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66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Gracias por su atención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