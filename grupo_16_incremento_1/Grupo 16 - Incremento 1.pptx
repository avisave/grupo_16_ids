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League Spartan"/>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iXnnbCbFl9UmmQ6KxKN1s8tejF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02423A-5F98-4DA9-9D82-D4D68A08E185}">
  <a:tblStyle styleId="{AA02423A-5F98-4DA9-9D82-D4D68A08E1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eagueSpartan-bold.fntdata"/><Relationship Id="rId23" Type="http://schemas.openxmlformats.org/officeDocument/2006/relationships/font" Target="fonts/LeagueSpartan-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c036fd8a9_21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3ec036fd8a9_21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bf7e5dc66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ebf7e5dc66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bf7e5dc6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ebf7e5dc6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bf7e5dc66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ebf7e5dc66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c036fd8a9_2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ec036fd8a9_2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bf7e5dc66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ebf7e5dc66_0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bf7e5dc66_0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ebf7e5dc66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bf7e5dc66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ebf7e5dc66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bf7e5dc66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3ebf7e5dc66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bf7e5dc66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ebf7e5dc66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bf7e5dc66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3ebf7e5dc66_0_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c036fd8a9_2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3ec036fd8a9_2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bf7e5dc6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ebf7e5dc6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c036fd8a9_21_4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c036fd8a9_21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c036fd8a9_2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3ec036fd8a9_2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0" y="-144603"/>
            <a:ext cx="18287996" cy="8291230"/>
            <a:chOff x="0" y="-38085"/>
            <a:chExt cx="4816592" cy="2183700"/>
          </a:xfrm>
        </p:grpSpPr>
        <p:sp>
          <p:nvSpPr>
            <p:cNvPr id="85" name="Google Shape;85;p1"/>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lt1"/>
            </a:solidFill>
            <a:ln>
              <a:noFill/>
            </a:ln>
          </p:spPr>
        </p:sp>
        <p:sp>
          <p:nvSpPr>
            <p:cNvPr id="86" name="Google Shape;86;p1"/>
            <p:cNvSpPr txBox="1"/>
            <p:nvPr/>
          </p:nvSpPr>
          <p:spPr>
            <a:xfrm>
              <a:off x="0" y="-38085"/>
              <a:ext cx="4816500" cy="2183700"/>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p:nvPr/>
        </p:nvSpPr>
        <p:spPr>
          <a:xfrm>
            <a:off x="16667374" y="101426"/>
            <a:ext cx="1482029" cy="1236420"/>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2" l="0" r="-2" t="0"/>
            </a:stretch>
          </a:blipFill>
          <a:ln>
            <a:noFill/>
          </a:ln>
        </p:spPr>
      </p:sp>
      <p:sp>
        <p:nvSpPr>
          <p:cNvPr id="88" name="Google Shape;88;p1"/>
          <p:cNvSpPr/>
          <p:nvPr/>
        </p:nvSpPr>
        <p:spPr>
          <a:xfrm>
            <a:off x="993297" y="3720534"/>
            <a:ext cx="3333905" cy="1239855"/>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4">
              <a:alphaModFix/>
            </a:blip>
            <a:stretch>
              <a:fillRect b="-2" l="0" r="0" t="0"/>
            </a:stretch>
          </a:blipFill>
          <a:ln>
            <a:noFill/>
          </a:ln>
        </p:spPr>
      </p:sp>
      <p:cxnSp>
        <p:nvCxnSpPr>
          <p:cNvPr id="89" name="Google Shape;89;p1"/>
          <p:cNvCxnSpPr/>
          <p:nvPr/>
        </p:nvCxnSpPr>
        <p:spPr>
          <a:xfrm>
            <a:off x="725160" y="6156855"/>
            <a:ext cx="16837681" cy="0"/>
          </a:xfrm>
          <a:prstGeom prst="straightConnector1">
            <a:avLst/>
          </a:prstGeom>
          <a:noFill/>
          <a:ln cap="rnd" cmpd="sng" w="57150">
            <a:solidFill>
              <a:schemeClr val="dk1"/>
            </a:solidFill>
            <a:prstDash val="solid"/>
            <a:round/>
            <a:headEnd len="sm" w="sm" type="none"/>
            <a:tailEnd len="sm" w="sm" type="none"/>
          </a:ln>
        </p:spPr>
      </p:cxnSp>
      <p:cxnSp>
        <p:nvCxnSpPr>
          <p:cNvPr id="90" name="Google Shape;90;p1"/>
          <p:cNvCxnSpPr/>
          <p:nvPr/>
        </p:nvCxnSpPr>
        <p:spPr>
          <a:xfrm>
            <a:off x="4730457" y="3602875"/>
            <a:ext cx="0" cy="2079973"/>
          </a:xfrm>
          <a:prstGeom prst="straightConnector1">
            <a:avLst/>
          </a:prstGeom>
          <a:noFill/>
          <a:ln cap="rnd" cmpd="sng" w="57150">
            <a:solidFill>
              <a:schemeClr val="dk1"/>
            </a:solidFill>
            <a:prstDash val="solid"/>
            <a:round/>
            <a:headEnd len="sm" w="sm" type="none"/>
            <a:tailEnd len="sm" w="sm" type="none"/>
          </a:ln>
        </p:spPr>
      </p:cxnSp>
      <p:grpSp>
        <p:nvGrpSpPr>
          <p:cNvPr id="91" name="Google Shape;91;p1"/>
          <p:cNvGrpSpPr/>
          <p:nvPr/>
        </p:nvGrpSpPr>
        <p:grpSpPr>
          <a:xfrm>
            <a:off x="0" y="7914450"/>
            <a:ext cx="18288122" cy="2372558"/>
            <a:chOff x="0" y="-38100"/>
            <a:chExt cx="4816593" cy="624867"/>
          </a:xfrm>
        </p:grpSpPr>
        <p:sp>
          <p:nvSpPr>
            <p:cNvPr id="92" name="Google Shape;92;p1"/>
            <p:cNvSpPr/>
            <p:nvPr/>
          </p:nvSpPr>
          <p:spPr>
            <a:xfrm>
              <a:off x="0" y="0"/>
              <a:ext cx="4816592" cy="586767"/>
            </a:xfrm>
            <a:custGeom>
              <a:rect b="b" l="l" r="r" t="t"/>
              <a:pathLst>
                <a:path extrusionOk="0" h="586767" w="4816592">
                  <a:moveTo>
                    <a:pt x="0" y="0"/>
                  </a:moveTo>
                  <a:lnTo>
                    <a:pt x="4816592" y="0"/>
                  </a:lnTo>
                  <a:lnTo>
                    <a:pt x="4816592" y="586767"/>
                  </a:lnTo>
                  <a:lnTo>
                    <a:pt x="0" y="586767"/>
                  </a:lnTo>
                  <a:close/>
                </a:path>
              </a:pathLst>
            </a:custGeom>
            <a:solidFill>
              <a:schemeClr val="accent6"/>
            </a:solidFill>
            <a:ln>
              <a:noFill/>
            </a:ln>
          </p:spPr>
        </p:sp>
        <p:sp>
          <p:nvSpPr>
            <p:cNvPr id="93" name="Google Shape;93;p1"/>
            <p:cNvSpPr txBox="1"/>
            <p:nvPr/>
          </p:nvSpPr>
          <p:spPr>
            <a:xfrm>
              <a:off x="0" y="-38100"/>
              <a:ext cx="4816593" cy="624867"/>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4" name="Google Shape;94;p1"/>
          <p:cNvSpPr txBox="1"/>
          <p:nvPr/>
        </p:nvSpPr>
        <p:spPr>
          <a:xfrm>
            <a:off x="5133700" y="2875850"/>
            <a:ext cx="9444000" cy="3122400"/>
          </a:xfrm>
          <a:prstGeom prst="rect">
            <a:avLst/>
          </a:prstGeom>
          <a:noFill/>
          <a:ln>
            <a:noFill/>
          </a:ln>
        </p:spPr>
        <p:txBody>
          <a:bodyPr anchorCtr="0" anchor="t" bIns="0" lIns="0" spcFirstLastPara="1" rIns="0" wrap="square" tIns="0">
            <a:spAutoFit/>
          </a:bodyPr>
          <a:lstStyle/>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PROYECTO INGENIERÍA</a:t>
            </a:r>
            <a:endParaRPr sz="5966">
              <a:latin typeface="League Spartan"/>
              <a:ea typeface="League Spartan"/>
              <a:cs typeface="League Spartan"/>
              <a:sym typeface="League Spartan"/>
            </a:endParaRPr>
          </a:p>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DE SOFTWARE I</a:t>
            </a:r>
            <a:endParaRPr sz="5966">
              <a:latin typeface="League Spartan"/>
              <a:ea typeface="League Spartan"/>
              <a:cs typeface="League Spartan"/>
              <a:sym typeface="League Spartan"/>
            </a:endParaRPr>
          </a:p>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INCREMENTO 1 GRUPO 16</a:t>
            </a:r>
            <a:endParaRPr sz="5966">
              <a:latin typeface="League Spartan"/>
              <a:ea typeface="League Spartan"/>
              <a:cs typeface="League Spartan"/>
              <a:sym typeface="League Spartan"/>
            </a:endParaRPr>
          </a:p>
        </p:txBody>
      </p:sp>
      <p:sp>
        <p:nvSpPr>
          <p:cNvPr id="95" name="Google Shape;95;p1"/>
          <p:cNvSpPr txBox="1"/>
          <p:nvPr/>
        </p:nvSpPr>
        <p:spPr>
          <a:xfrm>
            <a:off x="726582" y="5243336"/>
            <a:ext cx="3870077" cy="284915"/>
          </a:xfrm>
          <a:prstGeom prst="rect">
            <a:avLst/>
          </a:prstGeom>
          <a:noFill/>
          <a:ln>
            <a:noFill/>
          </a:ln>
        </p:spPr>
        <p:txBody>
          <a:bodyPr anchorCtr="0" anchor="t" bIns="0" lIns="0" spcFirstLastPara="1" rIns="0" wrap="square" tIns="0">
            <a:spAutoFit/>
          </a:bodyPr>
          <a:lstStyle/>
          <a:p>
            <a:pPr indent="0" lvl="0" marL="0" marR="0" rtl="0" algn="ctr">
              <a:lnSpc>
                <a:spcPct val="120117"/>
              </a:lnSpc>
              <a:spcBef>
                <a:spcPts val="0"/>
              </a:spcBef>
              <a:spcAft>
                <a:spcPts val="0"/>
              </a:spcAft>
              <a:buClr>
                <a:srgbClr val="000000"/>
              </a:buClr>
              <a:buSzPts val="1879"/>
              <a:buFont typeface="Arial"/>
              <a:buNone/>
            </a:pPr>
            <a:r>
              <a:rPr b="0" i="0" lang="en-US" sz="1880" u="none" cap="none" strike="noStrike">
                <a:solidFill>
                  <a:srgbClr val="000000"/>
                </a:solidFill>
                <a:latin typeface="League Spartan"/>
                <a:ea typeface="League Spartan"/>
                <a:cs typeface="League Spartan"/>
                <a:sym typeface="League Spartan"/>
              </a:rPr>
              <a:t>Empresa Puertas Blindadas</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725160" y="8112087"/>
            <a:ext cx="3540300" cy="1977300"/>
          </a:xfrm>
          <a:prstGeom prst="rect">
            <a:avLst/>
          </a:prstGeom>
          <a:noFill/>
          <a:ln>
            <a:noFill/>
          </a:ln>
        </p:spPr>
        <p:txBody>
          <a:bodyPr anchorCtr="0" anchor="t" bIns="0" lIns="0" spcFirstLastPara="1" rIns="0" wrap="square" tIns="0">
            <a:spAutoFit/>
          </a:bodyPr>
          <a:lstStyle/>
          <a:p>
            <a:pPr indent="0" lvl="0" marL="0" marR="0" rtl="0" algn="l">
              <a:lnSpc>
                <a:spcPct val="120048"/>
              </a:lnSpc>
              <a:spcBef>
                <a:spcPts val="0"/>
              </a:spcBef>
              <a:spcAft>
                <a:spcPts val="0"/>
              </a:spcAft>
              <a:buClr>
                <a:srgbClr val="000000"/>
              </a:buClr>
              <a:buSzPts val="1466"/>
              <a:buFont typeface="Arial"/>
              <a:buNone/>
            </a:pPr>
            <a:r>
              <a:rPr i="0" lang="en-US" sz="1566" u="none" cap="none" strike="noStrike">
                <a:solidFill>
                  <a:srgbClr val="FFFFFF"/>
                </a:solidFill>
                <a:latin typeface="League Spartan"/>
                <a:ea typeface="League Spartan"/>
                <a:cs typeface="League Spartan"/>
                <a:sym typeface="League Spartan"/>
              </a:rPr>
              <a:t>Integrantes: </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Barrera Matus, Josué Ezequiel</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Escobar Bravo, Sebastián Patricio</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Hanke Coray, Alexander Andres </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Munizaga Yañez, Ignacio Javier</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Reyes Gomez, Lenin Andres </a:t>
            </a:r>
            <a:endParaRPr i="0" sz="1300" u="none" cap="none" strike="noStrike">
              <a:solidFill>
                <a:srgbClr val="000000"/>
              </a:solidFill>
              <a:latin typeface="League Spartan"/>
              <a:ea typeface="League Spartan"/>
              <a:cs typeface="League Spartan"/>
              <a:sym typeface="League Spartan"/>
            </a:endParaRPr>
          </a:p>
          <a:p>
            <a:pPr indent="-173587" lvl="1" marL="359873"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Seguel Novoa, Roberto Andrés</a:t>
            </a:r>
            <a:endParaRPr i="0" sz="1300" u="none" cap="none" strike="noStrike">
              <a:solidFill>
                <a:srgbClr val="000000"/>
              </a:solidFill>
              <a:latin typeface="League Spartan"/>
              <a:ea typeface="League Spartan"/>
              <a:cs typeface="League Spartan"/>
              <a:sym typeface="League Spartan"/>
            </a:endParaRPr>
          </a:p>
        </p:txBody>
      </p:sp>
      <p:sp>
        <p:nvSpPr>
          <p:cNvPr id="97" name="Google Shape;97;p1"/>
          <p:cNvSpPr txBox="1"/>
          <p:nvPr/>
        </p:nvSpPr>
        <p:spPr>
          <a:xfrm>
            <a:off x="4596657" y="8146637"/>
            <a:ext cx="3540300" cy="598200"/>
          </a:xfrm>
          <a:prstGeom prst="rect">
            <a:avLst/>
          </a:prstGeom>
          <a:noFill/>
          <a:ln>
            <a:noFill/>
          </a:ln>
        </p:spPr>
        <p:txBody>
          <a:bodyPr anchorCtr="0" anchor="t" bIns="0" lIns="0" spcFirstLastPara="1" rIns="0" wrap="square" tIns="0">
            <a:spAutoFit/>
          </a:bodyPr>
          <a:lstStyle/>
          <a:p>
            <a:pPr indent="0" lvl="0" marL="0" marR="0" rtl="0" algn="l">
              <a:lnSpc>
                <a:spcPct val="120048"/>
              </a:lnSpc>
              <a:spcBef>
                <a:spcPts val="0"/>
              </a:spcBef>
              <a:spcAft>
                <a:spcPts val="0"/>
              </a:spcAft>
              <a:buClr>
                <a:srgbClr val="000000"/>
              </a:buClr>
              <a:buSzPts val="1666"/>
              <a:buFont typeface="Arial"/>
              <a:buNone/>
            </a:pPr>
            <a:r>
              <a:rPr i="0" lang="en-US" sz="1766" u="none" cap="none" strike="noStrike">
                <a:solidFill>
                  <a:srgbClr val="FFFFFF"/>
                </a:solidFill>
                <a:latin typeface="League Spartan"/>
                <a:ea typeface="League Spartan"/>
                <a:cs typeface="League Spartan"/>
                <a:sym typeface="League Spartan"/>
              </a:rPr>
              <a:t>Profesor: Paulo Quinsacara</a:t>
            </a:r>
            <a:endParaRPr i="0" sz="1500" u="none" cap="none" strike="noStrike">
              <a:solidFill>
                <a:srgbClr val="000000"/>
              </a:solidFill>
              <a:latin typeface="League Spartan"/>
              <a:ea typeface="League Spartan"/>
              <a:cs typeface="League Spartan"/>
              <a:sym typeface="League Spartan"/>
            </a:endParaRPr>
          </a:p>
          <a:p>
            <a:pPr indent="0" lvl="0" marL="0" marR="0" rtl="0" algn="l">
              <a:lnSpc>
                <a:spcPct val="120048"/>
              </a:lnSpc>
              <a:spcBef>
                <a:spcPts val="0"/>
              </a:spcBef>
              <a:spcAft>
                <a:spcPts val="0"/>
              </a:spcAft>
              <a:buClr>
                <a:srgbClr val="000000"/>
              </a:buClr>
              <a:buSzPts val="1666"/>
              <a:buFont typeface="Arial"/>
              <a:buNone/>
            </a:pPr>
            <a:r>
              <a:rPr i="0" lang="en-US" sz="1766" u="none" cap="none" strike="noStrike">
                <a:solidFill>
                  <a:srgbClr val="FFFFFF"/>
                </a:solidFill>
                <a:latin typeface="League Spartan"/>
                <a:ea typeface="League Spartan"/>
                <a:cs typeface="League Spartan"/>
                <a:sym typeface="League Spartan"/>
              </a:rPr>
              <a:t>Curso: Ingeniería de software I </a:t>
            </a:r>
            <a:endParaRPr i="0" sz="1500" u="none" cap="none" strike="noStrike">
              <a:solidFill>
                <a:srgbClr val="000000"/>
              </a:solidFill>
              <a:latin typeface="League Spartan"/>
              <a:ea typeface="League Spartan"/>
              <a:cs typeface="League Spartan"/>
              <a:sym typeface="League Spartan"/>
            </a:endParaRPr>
          </a:p>
        </p:txBody>
      </p:sp>
      <p:grpSp>
        <p:nvGrpSpPr>
          <p:cNvPr id="98" name="Google Shape;98;p1"/>
          <p:cNvGrpSpPr/>
          <p:nvPr/>
        </p:nvGrpSpPr>
        <p:grpSpPr>
          <a:xfrm>
            <a:off x="0" y="-144662"/>
            <a:ext cx="18288118" cy="1584446"/>
            <a:chOff x="0" y="-38100"/>
            <a:chExt cx="4816592" cy="417300"/>
          </a:xfrm>
        </p:grpSpPr>
        <p:sp>
          <p:nvSpPr>
            <p:cNvPr id="99" name="Google Shape;99;p1"/>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rgbClr val="E69138"/>
            </a:solidFill>
            <a:ln>
              <a:noFill/>
            </a:ln>
          </p:spPr>
        </p:sp>
        <p:sp>
          <p:nvSpPr>
            <p:cNvPr id="100" name="Google Shape;100;p1"/>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102" name="Google Shape;102;p1"/>
          <p:cNvSpPr txBox="1"/>
          <p:nvPr/>
        </p:nvSpPr>
        <p:spPr>
          <a:xfrm>
            <a:off x="464900" y="2945850"/>
            <a:ext cx="4060800" cy="79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sz="2200">
                <a:solidFill>
                  <a:schemeClr val="accent6"/>
                </a:solidFill>
                <a:latin typeface="Calibri"/>
                <a:ea typeface="Calibri"/>
                <a:cs typeface="Calibri"/>
                <a:sym typeface="Calibri"/>
              </a:rPr>
              <a:t>S</a:t>
            </a:r>
            <a:r>
              <a:rPr b="1" lang="en-US" sz="2200">
                <a:solidFill>
                  <a:schemeClr val="accent6"/>
                </a:solidFill>
                <a:latin typeface="Calibri"/>
                <a:ea typeface="Calibri"/>
                <a:cs typeface="Calibri"/>
                <a:sym typeface="Calibri"/>
              </a:rPr>
              <a:t>ISTEMA DE TERRENO</a:t>
            </a:r>
            <a:endParaRPr sz="3200">
              <a:solidFill>
                <a:schemeClr val="accent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g3ec036fd8a9_21_141"/>
          <p:cNvSpPr/>
          <p:nvPr/>
        </p:nvSpPr>
        <p:spPr>
          <a:xfrm>
            <a:off x="0" y="0"/>
            <a:ext cx="18288000" cy="1428900"/>
          </a:xfrm>
          <a:prstGeom prst="rect">
            <a:avLst/>
          </a:prstGeom>
          <a:solidFill>
            <a:srgbClr val="F4792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8" name="Google Shape;108;g3ec036fd8a9_21_141"/>
          <p:cNvPicPr preferRelativeResize="0"/>
          <p:nvPr/>
        </p:nvPicPr>
        <p:blipFill rotWithShape="1">
          <a:blip r:embed="rId4">
            <a:alphaModFix/>
          </a:blip>
          <a:srcRect b="169" l="0" r="0" t="169"/>
          <a:stretch/>
        </p:blipFill>
        <p:spPr>
          <a:xfrm>
            <a:off x="16668750" y="95250"/>
            <a:ext cx="1481700" cy="1236000"/>
          </a:xfrm>
          <a:prstGeom prst="rect">
            <a:avLst/>
          </a:prstGeom>
          <a:noFill/>
          <a:ln>
            <a:noFill/>
          </a:ln>
        </p:spPr>
      </p:pic>
      <p:sp>
        <p:nvSpPr>
          <p:cNvPr id="109" name="Google Shape;109;g3ec036fd8a9_21_141"/>
          <p:cNvSpPr txBox="1"/>
          <p:nvPr/>
        </p:nvSpPr>
        <p:spPr>
          <a:xfrm>
            <a:off x="571500" y="285750"/>
            <a:ext cx="7620000" cy="95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5400">
                <a:solidFill>
                  <a:schemeClr val="lt1"/>
                </a:solidFill>
                <a:latin typeface="League Spartan"/>
                <a:ea typeface="League Spartan"/>
                <a:cs typeface="League Spartan"/>
                <a:sym typeface="League Spartan"/>
              </a:rPr>
              <a:t>Contexto</a:t>
            </a:r>
            <a:endParaRPr b="1" sz="5400">
              <a:solidFill>
                <a:schemeClr val="lt1"/>
              </a:solidFill>
              <a:latin typeface="League Spartan"/>
              <a:ea typeface="League Spartan"/>
              <a:cs typeface="League Spartan"/>
              <a:sym typeface="League Spartan"/>
            </a:endParaRPr>
          </a:p>
        </p:txBody>
      </p:sp>
      <p:grpSp>
        <p:nvGrpSpPr>
          <p:cNvPr id="110" name="Google Shape;110;g3ec036fd8a9_21_141"/>
          <p:cNvGrpSpPr/>
          <p:nvPr/>
        </p:nvGrpSpPr>
        <p:grpSpPr>
          <a:xfrm>
            <a:off x="561125" y="3368825"/>
            <a:ext cx="8286900" cy="4000500"/>
            <a:chOff x="571500" y="1809750"/>
            <a:chExt cx="8286900" cy="4000500"/>
          </a:xfrm>
        </p:grpSpPr>
        <p:sp>
          <p:nvSpPr>
            <p:cNvPr id="111" name="Google Shape;111;g3ec036fd8a9_21_141"/>
            <p:cNvSpPr/>
            <p:nvPr/>
          </p:nvSpPr>
          <p:spPr>
            <a:xfrm>
              <a:off x="571500" y="1809750"/>
              <a:ext cx="8286900" cy="4000500"/>
            </a:xfrm>
            <a:prstGeom prst="roundRect">
              <a:avLst>
                <a:gd fmla="val 3571"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2" name="Google Shape;112;g3ec036fd8a9_21_141"/>
            <p:cNvPicPr preferRelativeResize="0"/>
            <p:nvPr/>
          </p:nvPicPr>
          <p:blipFill rotWithShape="1">
            <a:blip r:embed="rId5">
              <a:alphaModFix/>
            </a:blip>
            <a:srcRect b="0" l="0" r="0" t="0"/>
            <a:stretch/>
          </p:blipFill>
          <p:spPr>
            <a:xfrm>
              <a:off x="571500" y="1809750"/>
              <a:ext cx="8286900" cy="762000"/>
            </a:xfrm>
            <a:prstGeom prst="rect">
              <a:avLst/>
            </a:prstGeom>
            <a:noFill/>
            <a:ln>
              <a:noFill/>
            </a:ln>
          </p:spPr>
        </p:pic>
        <p:sp>
          <p:nvSpPr>
            <p:cNvPr id="113" name="Google Shape;113;g3ec036fd8a9_21_141"/>
            <p:cNvSpPr txBox="1"/>
            <p:nvPr/>
          </p:nvSpPr>
          <p:spPr>
            <a:xfrm>
              <a:off x="857250" y="1905000"/>
              <a:ext cx="7715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FFFFFF"/>
                  </a:solidFill>
                  <a:latin typeface="League Spartan"/>
                  <a:ea typeface="League Spartan"/>
                  <a:cs typeface="League Spartan"/>
                  <a:sym typeface="League Spartan"/>
                </a:rPr>
                <a:t>Puertas Blindadas</a:t>
              </a:r>
              <a:endParaRPr b="1" sz="2800">
                <a:solidFill>
                  <a:srgbClr val="FFFFFF"/>
                </a:solidFill>
                <a:latin typeface="League Spartan"/>
                <a:ea typeface="League Spartan"/>
                <a:cs typeface="League Spartan"/>
                <a:sym typeface="League Spartan"/>
              </a:endParaRPr>
            </a:p>
          </p:txBody>
        </p:sp>
        <p:sp>
          <p:nvSpPr>
            <p:cNvPr id="114" name="Google Shape;114;g3ec036fd8a9_21_141"/>
            <p:cNvSpPr txBox="1"/>
            <p:nvPr/>
          </p:nvSpPr>
          <p:spPr>
            <a:xfrm>
              <a:off x="857250" y="2762250"/>
              <a:ext cx="77154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334155"/>
                  </a:solidFill>
                  <a:latin typeface="League Spartan"/>
                  <a:ea typeface="League Spartan"/>
                  <a:cs typeface="League Spartan"/>
                  <a:sym typeface="League Spartan"/>
                </a:rPr>
                <a:t>Empresa con 20 años de trayectoria dedicada a la fabricación, venta e instalación de puertas blindadas atiende a clientes residenciales (B2C) y empresariales (B2B).</a:t>
              </a:r>
              <a:endParaRPr b="0" sz="2000">
                <a:solidFill>
                  <a:srgbClr val="334155"/>
                </a:solidFill>
                <a:latin typeface="League Spartan"/>
                <a:ea typeface="League Spartan"/>
                <a:cs typeface="League Spartan"/>
                <a:sym typeface="League Spartan"/>
              </a:endParaRPr>
            </a:p>
            <a:p>
              <a:pPr indent="0" lvl="0" marL="0" rtl="0" algn="l">
                <a:spcBef>
                  <a:spcPts val="1500"/>
                </a:spcBef>
                <a:spcAft>
                  <a:spcPts val="0"/>
                </a:spcAft>
                <a:buNone/>
              </a:pPr>
              <a:r>
                <a:rPr b="0" lang="en-US" sz="2000">
                  <a:solidFill>
                    <a:srgbClr val="334155"/>
                  </a:solidFill>
                  <a:latin typeface="League Spartan"/>
                  <a:ea typeface="League Spartan"/>
                  <a:cs typeface="League Spartan"/>
                  <a:sym typeface="League Spartan"/>
                </a:rPr>
                <a:t>Ha experimentado un crecimiento sostenido, aumentando la complejidad operativa.</a:t>
              </a:r>
              <a:endParaRPr b="0" sz="2000">
                <a:solidFill>
                  <a:srgbClr val="334155"/>
                </a:solidFill>
                <a:latin typeface="League Spartan"/>
                <a:ea typeface="League Spartan"/>
                <a:cs typeface="League Spartan"/>
                <a:sym typeface="League Spartan"/>
              </a:endParaRPr>
            </a:p>
            <a:p>
              <a:pPr indent="0" lvl="0" marL="0" rtl="0" algn="l">
                <a:spcBef>
                  <a:spcPts val="1500"/>
                </a:spcBef>
                <a:spcAft>
                  <a:spcPts val="0"/>
                </a:spcAft>
                <a:buNone/>
              </a:pPr>
              <a:r>
                <a:rPr b="0" lang="en-US" sz="2000">
                  <a:solidFill>
                    <a:srgbClr val="334155"/>
                  </a:solidFill>
                  <a:latin typeface="League Spartan"/>
                  <a:ea typeface="League Spartan"/>
                  <a:cs typeface="League Spartan"/>
                  <a:sym typeface="League Spartan"/>
                </a:rPr>
                <a:t>Empresa con necesidad de implementar una solución tecnológica que permita integrar las distintas áreas de la empresa, optimizar la gestión de la información y mejorar la eficiencia operativa.</a:t>
              </a:r>
              <a:endParaRPr b="0" sz="2000">
                <a:solidFill>
                  <a:srgbClr val="334155"/>
                </a:solidFill>
                <a:latin typeface="League Spartan"/>
                <a:ea typeface="League Spartan"/>
                <a:cs typeface="League Spartan"/>
                <a:sym typeface="League Spartan"/>
              </a:endParaRPr>
            </a:p>
          </p:txBody>
        </p:sp>
      </p:grpSp>
      <p:grpSp>
        <p:nvGrpSpPr>
          <p:cNvPr id="115" name="Google Shape;115;g3ec036fd8a9_21_141"/>
          <p:cNvGrpSpPr/>
          <p:nvPr/>
        </p:nvGrpSpPr>
        <p:grpSpPr>
          <a:xfrm>
            <a:off x="8872650" y="3368825"/>
            <a:ext cx="8286900" cy="1905000"/>
            <a:chOff x="9429750" y="1809750"/>
            <a:chExt cx="8286900" cy="1905000"/>
          </a:xfrm>
        </p:grpSpPr>
        <p:sp>
          <p:nvSpPr>
            <p:cNvPr id="116" name="Google Shape;116;g3ec036fd8a9_21_141"/>
            <p:cNvSpPr/>
            <p:nvPr/>
          </p:nvSpPr>
          <p:spPr>
            <a:xfrm>
              <a:off x="10096650" y="1809750"/>
              <a:ext cx="7620000" cy="1905000"/>
            </a:xfrm>
            <a:prstGeom prst="roundRect">
              <a:avLst>
                <a:gd fmla="val 750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g3ec036fd8a9_21_141"/>
            <p:cNvSpPr txBox="1"/>
            <p:nvPr/>
          </p:nvSpPr>
          <p:spPr>
            <a:xfrm>
              <a:off x="9429750" y="1999361"/>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80">
                  <a:solidFill>
                    <a:srgbClr val="10458B"/>
                  </a:solidFill>
                  <a:latin typeface="Material Icons"/>
                  <a:ea typeface="Material Icons"/>
                  <a:cs typeface="Material Icons"/>
                  <a:sym typeface="Material Icons"/>
                </a:rPr>
                <a:t>y</a:t>
              </a:r>
              <a:endParaRPr sz="2480">
                <a:solidFill>
                  <a:srgbClr val="10458B"/>
                </a:solidFill>
                <a:latin typeface="Material Icons"/>
                <a:ea typeface="Material Icons"/>
                <a:cs typeface="Material Icons"/>
                <a:sym typeface="Material Icons"/>
              </a:endParaRPr>
            </a:p>
          </p:txBody>
        </p:sp>
        <p:sp>
          <p:nvSpPr>
            <p:cNvPr id="118" name="Google Shape;118;g3ec036fd8a9_21_141"/>
            <p:cNvSpPr txBox="1"/>
            <p:nvPr/>
          </p:nvSpPr>
          <p:spPr>
            <a:xfrm>
              <a:off x="10477500" y="1952625"/>
              <a:ext cx="6953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B45F06"/>
                  </a:solidFill>
                  <a:latin typeface="League Spartan"/>
                  <a:ea typeface="League Spartan"/>
                  <a:cs typeface="League Spartan"/>
                  <a:sym typeface="League Spartan"/>
                </a:rPr>
                <a:t>Visión</a:t>
              </a:r>
              <a:endParaRPr b="1" sz="2400">
                <a:solidFill>
                  <a:srgbClr val="B45F06"/>
                </a:solidFill>
                <a:latin typeface="League Spartan"/>
                <a:ea typeface="League Spartan"/>
                <a:cs typeface="League Spartan"/>
                <a:sym typeface="League Spartan"/>
              </a:endParaRPr>
            </a:p>
          </p:txBody>
        </p:sp>
        <p:sp>
          <p:nvSpPr>
            <p:cNvPr id="119" name="Google Shape;119;g3ec036fd8a9_21_141"/>
            <p:cNvSpPr txBox="1"/>
            <p:nvPr/>
          </p:nvSpPr>
          <p:spPr>
            <a:xfrm>
              <a:off x="10477500" y="2428875"/>
              <a:ext cx="6953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900">
                  <a:solidFill>
                    <a:srgbClr val="475569"/>
                  </a:solidFill>
                  <a:latin typeface="League Spartan"/>
                  <a:ea typeface="League Spartan"/>
                  <a:cs typeface="League Spartan"/>
                  <a:sym typeface="League Spartan"/>
                </a:rPr>
                <a:t>“Convertirnos en la marca de referencia en seguridad para hogares y proyectos en Latinoamérica, reconocida por nuestra innovación, diseño y compromiso con nuestros clientes”.</a:t>
              </a:r>
              <a:endParaRPr i="1" sz="1900">
                <a:solidFill>
                  <a:srgbClr val="475569"/>
                </a:solidFill>
                <a:latin typeface="League Spartan"/>
                <a:ea typeface="League Spartan"/>
                <a:cs typeface="League Spartan"/>
                <a:sym typeface="League Spartan"/>
              </a:endParaRPr>
            </a:p>
          </p:txBody>
        </p:sp>
      </p:grpSp>
      <p:grpSp>
        <p:nvGrpSpPr>
          <p:cNvPr id="120" name="Google Shape;120;g3ec036fd8a9_21_141"/>
          <p:cNvGrpSpPr/>
          <p:nvPr/>
        </p:nvGrpSpPr>
        <p:grpSpPr>
          <a:xfrm>
            <a:off x="8872650" y="5464325"/>
            <a:ext cx="8286600" cy="1905000"/>
            <a:chOff x="9429750" y="3905250"/>
            <a:chExt cx="8286600" cy="1905000"/>
          </a:xfrm>
        </p:grpSpPr>
        <p:sp>
          <p:nvSpPr>
            <p:cNvPr id="121" name="Google Shape;121;g3ec036fd8a9_21_141"/>
            <p:cNvSpPr/>
            <p:nvPr/>
          </p:nvSpPr>
          <p:spPr>
            <a:xfrm>
              <a:off x="10096650" y="3905250"/>
              <a:ext cx="7619700" cy="1905000"/>
            </a:xfrm>
            <a:prstGeom prst="roundRect">
              <a:avLst>
                <a:gd fmla="val 750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g3ec036fd8a9_21_141"/>
            <p:cNvSpPr txBox="1"/>
            <p:nvPr/>
          </p:nvSpPr>
          <p:spPr>
            <a:xfrm>
              <a:off x="9429750" y="4094861"/>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sz="2480">
                <a:solidFill>
                  <a:srgbClr val="10458B"/>
                </a:solidFill>
                <a:latin typeface="Material Icons"/>
                <a:ea typeface="Material Icons"/>
                <a:cs typeface="Material Icons"/>
                <a:sym typeface="Material Icons"/>
              </a:endParaRPr>
            </a:p>
          </p:txBody>
        </p:sp>
        <p:sp>
          <p:nvSpPr>
            <p:cNvPr id="123" name="Google Shape;123;g3ec036fd8a9_21_141"/>
            <p:cNvSpPr txBox="1"/>
            <p:nvPr/>
          </p:nvSpPr>
          <p:spPr>
            <a:xfrm>
              <a:off x="10477500" y="4048125"/>
              <a:ext cx="6953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B45F06"/>
                  </a:solidFill>
                  <a:latin typeface="League Spartan"/>
                  <a:ea typeface="League Spartan"/>
                  <a:cs typeface="League Spartan"/>
                  <a:sym typeface="League Spartan"/>
                </a:rPr>
                <a:t>Misión</a:t>
              </a:r>
              <a:endParaRPr b="1" sz="2400">
                <a:solidFill>
                  <a:srgbClr val="B45F06"/>
                </a:solidFill>
                <a:latin typeface="League Spartan"/>
                <a:ea typeface="League Spartan"/>
                <a:cs typeface="League Spartan"/>
                <a:sym typeface="League Spartan"/>
              </a:endParaRPr>
            </a:p>
          </p:txBody>
        </p:sp>
        <p:sp>
          <p:nvSpPr>
            <p:cNvPr id="124" name="Google Shape;124;g3ec036fd8a9_21_141"/>
            <p:cNvSpPr txBox="1"/>
            <p:nvPr/>
          </p:nvSpPr>
          <p:spPr>
            <a:xfrm>
              <a:off x="10477500" y="4524375"/>
              <a:ext cx="6953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900">
                  <a:solidFill>
                    <a:srgbClr val="475569"/>
                  </a:solidFill>
                  <a:latin typeface="League Spartan"/>
                  <a:ea typeface="League Spartan"/>
                  <a:cs typeface="League Spartan"/>
                  <a:sym typeface="League Spartan"/>
                </a:rPr>
                <a:t>“Proteger lo que más importa, entregando puertas de seguridad de alta calidad, diseñadas para brindar tranquilidad, confianza y durabilidad en cada proyecto”.</a:t>
              </a:r>
              <a:endParaRPr i="1" sz="1900">
                <a:solidFill>
                  <a:srgbClr val="475569"/>
                </a:solidFill>
                <a:latin typeface="League Spartan"/>
                <a:ea typeface="League Spartan"/>
                <a:cs typeface="League Spartan"/>
                <a:sym typeface="League Spartan"/>
              </a:endParaRPr>
            </a:p>
          </p:txBody>
        </p:sp>
      </p:grpSp>
      <p:sp>
        <p:nvSpPr>
          <p:cNvPr id="125" name="Google Shape;125;g3ec036fd8a9_21_141"/>
          <p:cNvSpPr/>
          <p:nvPr/>
        </p:nvSpPr>
        <p:spPr>
          <a:xfrm>
            <a:off x="196275" y="9236923"/>
            <a:ext cx="3350011" cy="952352"/>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6">
              <a:alphaModFix/>
            </a:blip>
            <a:stretch>
              <a:fillRect b="0" l="0" r="0" t="0"/>
            </a:stretch>
          </a:blipFill>
          <a:ln>
            <a:noFill/>
          </a:ln>
        </p:spPr>
      </p:sp>
      <p:sp>
        <p:nvSpPr>
          <p:cNvPr id="126" name="Google Shape;126;g3ec036fd8a9_21_141"/>
          <p:cNvSpPr txBox="1"/>
          <p:nvPr/>
        </p:nvSpPr>
        <p:spPr>
          <a:xfrm>
            <a:off x="1831700" y="2536600"/>
            <a:ext cx="9891900" cy="677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g3ebf7e5dc66_0_108"/>
          <p:cNvSpPr/>
          <p:nvPr/>
        </p:nvSpPr>
        <p:spPr>
          <a:xfrm>
            <a:off x="0" y="0"/>
            <a:ext cx="18288000" cy="1428900"/>
          </a:xfrm>
          <a:prstGeom prst="rect">
            <a:avLst/>
          </a:prstGeom>
          <a:solidFill>
            <a:srgbClr val="F4792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g3ebf7e5dc66_0_108"/>
          <p:cNvSpPr txBox="1"/>
          <p:nvPr/>
        </p:nvSpPr>
        <p:spPr>
          <a:xfrm>
            <a:off x="571500" y="238125"/>
            <a:ext cx="762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5400">
                <a:solidFill>
                  <a:srgbClr val="FFFFFF"/>
                </a:solidFill>
                <a:latin typeface="League Spartan"/>
                <a:ea typeface="League Spartan"/>
                <a:cs typeface="League Spartan"/>
                <a:sym typeface="League Spartan"/>
              </a:rPr>
              <a:t>Incremento 1</a:t>
            </a:r>
            <a:endParaRPr b="1" sz="5400">
              <a:solidFill>
                <a:srgbClr val="FFFFFF"/>
              </a:solidFill>
              <a:latin typeface="League Spartan"/>
              <a:ea typeface="League Spartan"/>
              <a:cs typeface="League Spartan"/>
              <a:sym typeface="League Spartan"/>
            </a:endParaRPr>
          </a:p>
        </p:txBody>
      </p:sp>
      <p:pic>
        <p:nvPicPr>
          <p:cNvPr id="133" name="Google Shape;133;g3ebf7e5dc66_0_108"/>
          <p:cNvPicPr preferRelativeResize="0"/>
          <p:nvPr/>
        </p:nvPicPr>
        <p:blipFill rotWithShape="1">
          <a:blip r:embed="rId4">
            <a:alphaModFix/>
          </a:blip>
          <a:srcRect b="0" l="0" r="0" t="10"/>
          <a:stretch/>
        </p:blipFill>
        <p:spPr>
          <a:xfrm>
            <a:off x="16668750" y="95250"/>
            <a:ext cx="1481700" cy="1240200"/>
          </a:xfrm>
          <a:prstGeom prst="rect">
            <a:avLst/>
          </a:prstGeom>
          <a:noFill/>
          <a:ln>
            <a:noFill/>
          </a:ln>
        </p:spPr>
      </p:pic>
      <p:grpSp>
        <p:nvGrpSpPr>
          <p:cNvPr id="134" name="Google Shape;134;g3ebf7e5dc66_0_108"/>
          <p:cNvGrpSpPr/>
          <p:nvPr/>
        </p:nvGrpSpPr>
        <p:grpSpPr>
          <a:xfrm>
            <a:off x="952500" y="2381250"/>
            <a:ext cx="16383000" cy="6191250"/>
            <a:chOff x="952500" y="2381250"/>
            <a:chExt cx="16383000" cy="6191250"/>
          </a:xfrm>
        </p:grpSpPr>
        <p:sp>
          <p:nvSpPr>
            <p:cNvPr id="135" name="Google Shape;135;g3ebf7e5dc66_0_108"/>
            <p:cNvSpPr/>
            <p:nvPr/>
          </p:nvSpPr>
          <p:spPr>
            <a:xfrm>
              <a:off x="952500" y="238125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g3ebf7e5dc66_0_108"/>
            <p:cNvSpPr txBox="1"/>
            <p:nvPr/>
          </p:nvSpPr>
          <p:spPr>
            <a:xfrm>
              <a:off x="1143000" y="257175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F47920"/>
                  </a:solidFill>
                  <a:latin typeface="League Spartan"/>
                  <a:ea typeface="League Spartan"/>
                  <a:cs typeface="League Spartan"/>
                  <a:sym typeface="League Spartan"/>
                </a:rPr>
                <a:t>64</a:t>
              </a:r>
              <a:endParaRPr b="1" sz="7200">
                <a:solidFill>
                  <a:srgbClr val="F47920"/>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Requerimientos Funcionales</a:t>
              </a:r>
              <a:endParaRPr b="0" sz="2400">
                <a:solidFill>
                  <a:srgbClr val="475569"/>
                </a:solidFill>
                <a:latin typeface="League Spartan"/>
                <a:ea typeface="League Spartan"/>
                <a:cs typeface="League Spartan"/>
                <a:sym typeface="League Spartan"/>
              </a:endParaRPr>
            </a:p>
          </p:txBody>
        </p:sp>
        <p:sp>
          <p:nvSpPr>
            <p:cNvPr id="137" name="Google Shape;137;g3ebf7e5dc66_0_108"/>
            <p:cNvSpPr/>
            <p:nvPr/>
          </p:nvSpPr>
          <p:spPr>
            <a:xfrm>
              <a:off x="6572250" y="238125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g3ebf7e5dc66_0_108"/>
            <p:cNvSpPr txBox="1"/>
            <p:nvPr/>
          </p:nvSpPr>
          <p:spPr>
            <a:xfrm>
              <a:off x="6762750" y="257175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F47920"/>
                  </a:solidFill>
                  <a:latin typeface="League Spartan"/>
                  <a:ea typeface="League Spartan"/>
                  <a:cs typeface="League Spartan"/>
                  <a:sym typeface="League Spartan"/>
                </a:rPr>
                <a:t>19</a:t>
              </a:r>
              <a:endParaRPr b="1" sz="7200">
                <a:solidFill>
                  <a:srgbClr val="F47920"/>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RF contemplados en Incremento 1</a:t>
              </a:r>
              <a:endParaRPr b="0" sz="2400">
                <a:solidFill>
                  <a:srgbClr val="475569"/>
                </a:solidFill>
                <a:latin typeface="League Spartan"/>
                <a:ea typeface="League Spartan"/>
                <a:cs typeface="League Spartan"/>
                <a:sym typeface="League Spartan"/>
              </a:endParaRPr>
            </a:p>
          </p:txBody>
        </p:sp>
        <p:sp>
          <p:nvSpPr>
            <p:cNvPr id="139" name="Google Shape;139;g3ebf7e5dc66_0_108"/>
            <p:cNvSpPr/>
            <p:nvPr/>
          </p:nvSpPr>
          <p:spPr>
            <a:xfrm>
              <a:off x="12192000" y="238125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g3ebf7e5dc66_0_108"/>
            <p:cNvSpPr txBox="1"/>
            <p:nvPr/>
          </p:nvSpPr>
          <p:spPr>
            <a:xfrm>
              <a:off x="12382500" y="257175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F47920"/>
                  </a:solidFill>
                  <a:latin typeface="League Spartan"/>
                  <a:ea typeface="League Spartan"/>
                  <a:cs typeface="League Spartan"/>
                  <a:sym typeface="League Spartan"/>
                </a:rPr>
                <a:t>30%</a:t>
              </a:r>
              <a:endParaRPr b="1" sz="7200">
                <a:solidFill>
                  <a:srgbClr val="F47920"/>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Total de RF cubiertos</a:t>
              </a:r>
              <a:endParaRPr b="0" sz="2400">
                <a:solidFill>
                  <a:srgbClr val="475569"/>
                </a:solidFill>
                <a:latin typeface="League Spartan"/>
                <a:ea typeface="League Spartan"/>
                <a:cs typeface="League Spartan"/>
                <a:sym typeface="League Spartan"/>
              </a:endParaRPr>
            </a:p>
          </p:txBody>
        </p:sp>
        <p:sp>
          <p:nvSpPr>
            <p:cNvPr id="141" name="Google Shape;141;g3ebf7e5dc66_0_108"/>
            <p:cNvSpPr/>
            <p:nvPr/>
          </p:nvSpPr>
          <p:spPr>
            <a:xfrm>
              <a:off x="952500" y="571500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g3ebf7e5dc66_0_108"/>
            <p:cNvSpPr txBox="1"/>
            <p:nvPr/>
          </p:nvSpPr>
          <p:spPr>
            <a:xfrm>
              <a:off x="1143000" y="590550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334155"/>
                  </a:solidFill>
                  <a:latin typeface="League Spartan"/>
                  <a:ea typeface="League Spartan"/>
                  <a:cs typeface="League Spartan"/>
                  <a:sym typeface="League Spartan"/>
                </a:rPr>
                <a:t>19</a:t>
              </a:r>
              <a:endParaRPr b="1" sz="7200">
                <a:solidFill>
                  <a:srgbClr val="334155"/>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Requerimientos de Usuario (UR)</a:t>
              </a:r>
              <a:endParaRPr b="0" sz="2400">
                <a:solidFill>
                  <a:srgbClr val="475569"/>
                </a:solidFill>
                <a:latin typeface="League Spartan"/>
                <a:ea typeface="League Spartan"/>
                <a:cs typeface="League Spartan"/>
                <a:sym typeface="League Spartan"/>
              </a:endParaRPr>
            </a:p>
          </p:txBody>
        </p:sp>
        <p:sp>
          <p:nvSpPr>
            <p:cNvPr id="143" name="Google Shape;143;g3ebf7e5dc66_0_108"/>
            <p:cNvSpPr/>
            <p:nvPr/>
          </p:nvSpPr>
          <p:spPr>
            <a:xfrm>
              <a:off x="6572250" y="571500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g3ebf7e5dc66_0_108"/>
            <p:cNvSpPr txBox="1"/>
            <p:nvPr/>
          </p:nvSpPr>
          <p:spPr>
            <a:xfrm>
              <a:off x="6762750" y="590550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334155"/>
                  </a:solidFill>
                  <a:latin typeface="League Spartan"/>
                  <a:ea typeface="League Spartan"/>
                  <a:cs typeface="League Spartan"/>
                  <a:sym typeface="League Spartan"/>
                </a:rPr>
                <a:t>33</a:t>
              </a:r>
              <a:endParaRPr b="1" sz="7200">
                <a:solidFill>
                  <a:srgbClr val="334155"/>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Casos de Uso</a:t>
              </a:r>
              <a:endParaRPr b="0" sz="2400">
                <a:solidFill>
                  <a:srgbClr val="475569"/>
                </a:solidFill>
                <a:latin typeface="League Spartan"/>
                <a:ea typeface="League Spartan"/>
                <a:cs typeface="League Spartan"/>
                <a:sym typeface="League Spartan"/>
              </a:endParaRPr>
            </a:p>
          </p:txBody>
        </p:sp>
        <p:sp>
          <p:nvSpPr>
            <p:cNvPr id="145" name="Google Shape;145;g3ebf7e5dc66_0_108"/>
            <p:cNvSpPr/>
            <p:nvPr/>
          </p:nvSpPr>
          <p:spPr>
            <a:xfrm>
              <a:off x="12192000" y="5715000"/>
              <a:ext cx="5143500" cy="2857500"/>
            </a:xfrm>
            <a:prstGeom prst="roundRect">
              <a:avLst>
                <a:gd fmla="val 5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g3ebf7e5dc66_0_108"/>
            <p:cNvSpPr txBox="1"/>
            <p:nvPr/>
          </p:nvSpPr>
          <p:spPr>
            <a:xfrm>
              <a:off x="12382500" y="5905500"/>
              <a:ext cx="4762500" cy="2476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200">
                  <a:solidFill>
                    <a:srgbClr val="334155"/>
                  </a:solidFill>
                  <a:latin typeface="League Spartan"/>
                  <a:ea typeface="League Spartan"/>
                  <a:cs typeface="League Spartan"/>
                  <a:sym typeface="League Spartan"/>
                </a:rPr>
                <a:t>67</a:t>
              </a:r>
              <a:endParaRPr b="1" sz="7200">
                <a:solidFill>
                  <a:srgbClr val="334155"/>
                </a:solidFill>
                <a:latin typeface="League Spartan"/>
                <a:ea typeface="League Spartan"/>
                <a:cs typeface="League Spartan"/>
                <a:sym typeface="League Spartan"/>
              </a:endParaRPr>
            </a:p>
            <a:p>
              <a:pPr indent="0" lvl="0" marL="0" rtl="0" algn="ctr">
                <a:spcBef>
                  <a:spcPts val="375"/>
                </a:spcBef>
                <a:spcAft>
                  <a:spcPts val="0"/>
                </a:spcAft>
                <a:buNone/>
              </a:pPr>
              <a:r>
                <a:rPr b="0" lang="en-US" sz="2400">
                  <a:solidFill>
                    <a:srgbClr val="475569"/>
                  </a:solidFill>
                  <a:latin typeface="League Spartan"/>
                  <a:ea typeface="League Spartan"/>
                  <a:cs typeface="League Spartan"/>
                  <a:sym typeface="League Spartan"/>
                </a:rPr>
                <a:t>Diagramas de Secuencia</a:t>
              </a:r>
              <a:endParaRPr b="0" sz="2400">
                <a:solidFill>
                  <a:srgbClr val="475569"/>
                </a:solidFill>
                <a:latin typeface="League Spartan"/>
                <a:ea typeface="League Spartan"/>
                <a:cs typeface="League Spartan"/>
                <a:sym typeface="League Spartan"/>
              </a:endParaRPr>
            </a:p>
          </p:txBody>
        </p:sp>
      </p:grpSp>
      <p:sp>
        <p:nvSpPr>
          <p:cNvPr id="147" name="Google Shape;147;g3ebf7e5dc66_0_108"/>
          <p:cNvSpPr/>
          <p:nvPr/>
        </p:nvSpPr>
        <p:spPr>
          <a:xfrm>
            <a:off x="238500" y="8866049"/>
            <a:ext cx="3060106" cy="1161990"/>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pSp>
        <p:nvGrpSpPr>
          <p:cNvPr id="152" name="Google Shape;152;g3ebf7e5dc66_0_0"/>
          <p:cNvGrpSpPr/>
          <p:nvPr/>
        </p:nvGrpSpPr>
        <p:grpSpPr>
          <a:xfrm>
            <a:off x="0" y="-144662"/>
            <a:ext cx="18288118" cy="1584446"/>
            <a:chOff x="0" y="-38100"/>
            <a:chExt cx="4816592" cy="417300"/>
          </a:xfrm>
        </p:grpSpPr>
        <p:sp>
          <p:nvSpPr>
            <p:cNvPr id="153" name="Google Shape;153;g3ebf7e5dc66_0_0"/>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154" name="Google Shape;154;g3ebf7e5dc66_0_0"/>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5" name="Google Shape;155;g3ebf7e5dc66_0_0"/>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156" name="Google Shape;156;g3ebf7e5dc66_0_0"/>
          <p:cNvSpPr/>
          <p:nvPr/>
        </p:nvSpPr>
        <p:spPr>
          <a:xfrm>
            <a:off x="402000" y="2176550"/>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bf7e5dc66_0_0"/>
          <p:cNvSpPr txBox="1"/>
          <p:nvPr/>
        </p:nvSpPr>
        <p:spPr>
          <a:xfrm>
            <a:off x="318043" y="348369"/>
            <a:ext cx="122775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Propuesta de solución</a:t>
            </a:r>
            <a:endParaRPr b="0" i="0" sz="1400" u="none" cap="none" strike="noStrike">
              <a:solidFill>
                <a:srgbClr val="000000"/>
              </a:solidFill>
              <a:latin typeface="Arial"/>
              <a:ea typeface="Arial"/>
              <a:cs typeface="Arial"/>
              <a:sym typeface="Arial"/>
            </a:endParaRPr>
          </a:p>
        </p:txBody>
      </p:sp>
      <p:sp>
        <p:nvSpPr>
          <p:cNvPr id="158" name="Google Shape;158;g3ebf7e5dc66_0_0"/>
          <p:cNvSpPr txBox="1"/>
          <p:nvPr/>
        </p:nvSpPr>
        <p:spPr>
          <a:xfrm>
            <a:off x="601353" y="2782675"/>
            <a:ext cx="4885200" cy="20298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244">
                <a:solidFill>
                  <a:srgbClr val="D4D4D4"/>
                </a:solidFill>
                <a:latin typeface="League Spartan"/>
                <a:ea typeface="League Spartan"/>
                <a:cs typeface="League Spartan"/>
                <a:sym typeface="League Spartan"/>
              </a:rPr>
              <a:t>El sistema debe permitir al usuario con rol de "Administrador" o “Gerente” con los permisos necesarios, la creación de una nueva obra para un cliente, mediante el uso de un formulario que exija rellenar los campos “Nombre de la obra”, “Dirección física”,  “Comuna” y “Cantidad de puertas” y especificar el modelo para cada puerta creada. En caso de que el cliente asociado sea de tipo "B2B", el formulario debe incluir de forma opcional el campo "Torre / Departamento / Bloque". Los cambios deben tener incluidos un registro de una estampa de tiempo que incluya la fecha y hora de la actualización.  </a:t>
            </a:r>
            <a:endParaRPr sz="1244">
              <a:solidFill>
                <a:srgbClr val="D4D4D4"/>
              </a:solidFill>
              <a:latin typeface="League Spartan"/>
              <a:ea typeface="League Spartan"/>
              <a:cs typeface="League Spartan"/>
              <a:sym typeface="League Spartan"/>
            </a:endParaRPr>
          </a:p>
        </p:txBody>
      </p:sp>
      <p:sp>
        <p:nvSpPr>
          <p:cNvPr id="159" name="Google Shape;159;g3ebf7e5dc66_0_0"/>
          <p:cNvSpPr txBox="1"/>
          <p:nvPr/>
        </p:nvSpPr>
        <p:spPr>
          <a:xfrm>
            <a:off x="601340" y="2199378"/>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RF-17:</a:t>
            </a:r>
            <a:endParaRPr b="0" i="0" sz="3600" u="none" cap="none" strike="noStrike">
              <a:solidFill>
                <a:srgbClr val="000000"/>
              </a:solidFill>
              <a:latin typeface="Arial"/>
              <a:ea typeface="Arial"/>
              <a:cs typeface="Arial"/>
              <a:sym typeface="Arial"/>
            </a:endParaRPr>
          </a:p>
        </p:txBody>
      </p:sp>
      <p:sp>
        <p:nvSpPr>
          <p:cNvPr id="160" name="Google Shape;160;g3ebf7e5dc66_0_0"/>
          <p:cNvSpPr/>
          <p:nvPr/>
        </p:nvSpPr>
        <p:spPr>
          <a:xfrm>
            <a:off x="402000" y="5371825"/>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ebf7e5dc66_0_0"/>
          <p:cNvSpPr txBox="1"/>
          <p:nvPr/>
        </p:nvSpPr>
        <p:spPr>
          <a:xfrm>
            <a:off x="601353" y="5988725"/>
            <a:ext cx="4885200" cy="20298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244">
                <a:solidFill>
                  <a:srgbClr val="D4D4D4"/>
                </a:solidFill>
                <a:latin typeface="League Spartan"/>
                <a:ea typeface="League Spartan"/>
                <a:cs typeface="League Spartan"/>
                <a:sym typeface="League Spartan"/>
              </a:rPr>
              <a:t>El sistema debe permitir al usuario con rol de "Administrador", “Gerente” con los permisos necesarios o “JOP”, la asignación y reasignación de uno o más usuarios de rol “Técnico” a una tarea existente. La asignación inicial está disponible cuando el campo “Estado de tarea" sea igual a “Creado” y la reasignación, la cual implica agregar o quitar Técnicos, está disponible también cuando el estado sea “Asignado”. El listado debe incluir exclusivamente usuarios con rol “Técnico” y estado de cuenta “Activo”, mostrando sus nombres completos, RUT y tareas actualmente asignadas a este.  </a:t>
            </a:r>
            <a:endParaRPr sz="1244">
              <a:solidFill>
                <a:srgbClr val="D4D4D4"/>
              </a:solidFill>
              <a:latin typeface="League Spartan"/>
              <a:ea typeface="League Spartan"/>
              <a:cs typeface="League Spartan"/>
              <a:sym typeface="League Spartan"/>
            </a:endParaRPr>
          </a:p>
        </p:txBody>
      </p:sp>
      <p:sp>
        <p:nvSpPr>
          <p:cNvPr id="162" name="Google Shape;162;g3ebf7e5dc66_0_0"/>
          <p:cNvSpPr txBox="1"/>
          <p:nvPr/>
        </p:nvSpPr>
        <p:spPr>
          <a:xfrm>
            <a:off x="601340" y="5371825"/>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RF-26:</a:t>
            </a:r>
            <a:endParaRPr b="0" i="0" sz="3600" u="none" cap="none" strike="noStrike">
              <a:solidFill>
                <a:srgbClr val="000000"/>
              </a:solidFill>
              <a:latin typeface="Arial"/>
              <a:ea typeface="Arial"/>
              <a:cs typeface="Arial"/>
              <a:sym typeface="Arial"/>
            </a:endParaRPr>
          </a:p>
        </p:txBody>
      </p:sp>
      <p:sp>
        <p:nvSpPr>
          <p:cNvPr id="163" name="Google Shape;163;g3ebf7e5dc66_0_0"/>
          <p:cNvSpPr/>
          <p:nvPr/>
        </p:nvSpPr>
        <p:spPr>
          <a:xfrm>
            <a:off x="6553150" y="2199375"/>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ebf7e5dc66_0_0"/>
          <p:cNvSpPr txBox="1"/>
          <p:nvPr/>
        </p:nvSpPr>
        <p:spPr>
          <a:xfrm>
            <a:off x="6795753" y="2986688"/>
            <a:ext cx="4885200" cy="11640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644">
                <a:solidFill>
                  <a:srgbClr val="D4D4D4"/>
                </a:solidFill>
                <a:latin typeface="League Spartan"/>
                <a:ea typeface="League Spartan"/>
                <a:cs typeface="League Spartan"/>
                <a:sym typeface="League Spartan"/>
              </a:rPr>
              <a:t>Como Administrador o Gerente, quiero crear una nueva obra completando sus datos de ubicación, cantidad de puertas y modelo, para iniciar la gestión del proyecto registrando la fecha y hora de la actualización.</a:t>
            </a:r>
            <a:endParaRPr sz="1644">
              <a:solidFill>
                <a:srgbClr val="D4D4D4"/>
              </a:solidFill>
              <a:latin typeface="League Spartan"/>
              <a:ea typeface="League Spartan"/>
              <a:cs typeface="League Spartan"/>
              <a:sym typeface="League Spartan"/>
            </a:endParaRPr>
          </a:p>
        </p:txBody>
      </p:sp>
      <p:sp>
        <p:nvSpPr>
          <p:cNvPr id="165" name="Google Shape;165;g3ebf7e5dc66_0_0"/>
          <p:cNvSpPr txBox="1"/>
          <p:nvPr/>
        </p:nvSpPr>
        <p:spPr>
          <a:xfrm>
            <a:off x="6752490" y="2222203"/>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UR</a:t>
            </a:r>
            <a:r>
              <a:rPr lang="en-US" sz="3600">
                <a:solidFill>
                  <a:srgbClr val="FFFFFF"/>
                </a:solidFill>
                <a:latin typeface="League Spartan"/>
                <a:ea typeface="League Spartan"/>
                <a:cs typeface="League Spartan"/>
                <a:sym typeface="League Spartan"/>
              </a:rPr>
              <a:t>-4.2:</a:t>
            </a:r>
            <a:endParaRPr b="0" i="0" sz="3600" u="none" cap="none" strike="noStrike">
              <a:solidFill>
                <a:srgbClr val="000000"/>
              </a:solidFill>
              <a:latin typeface="Arial"/>
              <a:ea typeface="Arial"/>
              <a:cs typeface="Arial"/>
              <a:sym typeface="Arial"/>
            </a:endParaRPr>
          </a:p>
        </p:txBody>
      </p:sp>
      <p:sp>
        <p:nvSpPr>
          <p:cNvPr id="166" name="Google Shape;166;g3ebf7e5dc66_0_0"/>
          <p:cNvSpPr/>
          <p:nvPr/>
        </p:nvSpPr>
        <p:spPr>
          <a:xfrm>
            <a:off x="6553150" y="5394650"/>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ebf7e5dc66_0_0"/>
          <p:cNvSpPr txBox="1"/>
          <p:nvPr/>
        </p:nvSpPr>
        <p:spPr>
          <a:xfrm>
            <a:off x="6795753" y="6310938"/>
            <a:ext cx="4885200" cy="8604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644">
                <a:solidFill>
                  <a:srgbClr val="D4D4D4"/>
                </a:solidFill>
                <a:latin typeface="League Spartan"/>
                <a:ea typeface="League Spartan"/>
                <a:cs typeface="League Spartan"/>
                <a:sym typeface="League Spartan"/>
              </a:rPr>
              <a:t>Como Administrador, Gerente o JOP, quiero asignar o reasignar uno o más Técnicos activos a una tarea, para distribuir la carga de trabajo de manera eficiente.</a:t>
            </a:r>
            <a:endParaRPr sz="1644">
              <a:solidFill>
                <a:srgbClr val="D4D4D4"/>
              </a:solidFill>
              <a:latin typeface="League Spartan"/>
              <a:ea typeface="League Spartan"/>
              <a:cs typeface="League Spartan"/>
              <a:sym typeface="League Spartan"/>
            </a:endParaRPr>
          </a:p>
        </p:txBody>
      </p:sp>
      <p:sp>
        <p:nvSpPr>
          <p:cNvPr id="168" name="Google Shape;168;g3ebf7e5dc66_0_0"/>
          <p:cNvSpPr txBox="1"/>
          <p:nvPr/>
        </p:nvSpPr>
        <p:spPr>
          <a:xfrm>
            <a:off x="6752490" y="5394650"/>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UR-6.1</a:t>
            </a:r>
            <a:r>
              <a:rPr lang="en-US" sz="3600">
                <a:solidFill>
                  <a:srgbClr val="FFFFFF"/>
                </a:solidFill>
                <a:latin typeface="League Spartan"/>
                <a:ea typeface="League Spartan"/>
                <a:cs typeface="League Spartan"/>
                <a:sym typeface="League Spartan"/>
              </a:rPr>
              <a:t>:</a:t>
            </a:r>
            <a:endParaRPr b="0" i="0" sz="3600" u="none" cap="none" strike="noStrike">
              <a:solidFill>
                <a:srgbClr val="000000"/>
              </a:solidFill>
              <a:latin typeface="Arial"/>
              <a:ea typeface="Arial"/>
              <a:cs typeface="Arial"/>
              <a:sym typeface="Arial"/>
            </a:endParaRPr>
          </a:p>
        </p:txBody>
      </p:sp>
      <p:sp>
        <p:nvSpPr>
          <p:cNvPr id="169" name="Google Shape;169;g3ebf7e5dc66_0_0"/>
          <p:cNvSpPr/>
          <p:nvPr/>
        </p:nvSpPr>
        <p:spPr>
          <a:xfrm>
            <a:off x="12595550" y="2176550"/>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ebf7e5dc66_0_0"/>
          <p:cNvSpPr txBox="1"/>
          <p:nvPr/>
        </p:nvSpPr>
        <p:spPr>
          <a:xfrm>
            <a:off x="12794890" y="2199378"/>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CU-33</a:t>
            </a:r>
            <a:r>
              <a:rPr lang="en-US" sz="3600">
                <a:solidFill>
                  <a:srgbClr val="FFFFFF"/>
                </a:solidFill>
                <a:latin typeface="League Spartan"/>
                <a:ea typeface="League Spartan"/>
                <a:cs typeface="League Spartan"/>
                <a:sym typeface="League Spartan"/>
              </a:rPr>
              <a:t>:</a:t>
            </a:r>
            <a:endParaRPr b="0" i="0" sz="3600" u="none" cap="none" strike="noStrike">
              <a:solidFill>
                <a:srgbClr val="000000"/>
              </a:solidFill>
              <a:latin typeface="Arial"/>
              <a:ea typeface="Arial"/>
              <a:cs typeface="Arial"/>
              <a:sym typeface="Arial"/>
            </a:endParaRPr>
          </a:p>
        </p:txBody>
      </p:sp>
      <p:sp>
        <p:nvSpPr>
          <p:cNvPr id="171" name="Google Shape;171;g3ebf7e5dc66_0_0"/>
          <p:cNvSpPr/>
          <p:nvPr/>
        </p:nvSpPr>
        <p:spPr>
          <a:xfrm>
            <a:off x="12595550" y="5371825"/>
            <a:ext cx="5279790" cy="2738624"/>
          </a:xfrm>
          <a:custGeom>
            <a:rect b="b" l="l" r="r" t="t"/>
            <a:pathLst>
              <a:path extrusionOk="0" h="721165" w="2034601">
                <a:moveTo>
                  <a:pt x="10022" y="0"/>
                </a:moveTo>
                <a:lnTo>
                  <a:pt x="2024579" y="0"/>
                </a:lnTo>
                <a:cubicBezTo>
                  <a:pt x="2027237" y="0"/>
                  <a:pt x="2029786" y="1056"/>
                  <a:pt x="2031665" y="2935"/>
                </a:cubicBezTo>
                <a:cubicBezTo>
                  <a:pt x="2033545" y="4815"/>
                  <a:pt x="2034601" y="7364"/>
                  <a:pt x="2034601" y="10022"/>
                </a:cubicBezTo>
                <a:lnTo>
                  <a:pt x="2034601" y="711143"/>
                </a:lnTo>
                <a:cubicBezTo>
                  <a:pt x="2034601" y="713801"/>
                  <a:pt x="2033545" y="716350"/>
                  <a:pt x="2031665" y="718230"/>
                </a:cubicBezTo>
                <a:cubicBezTo>
                  <a:pt x="2029786" y="720109"/>
                  <a:pt x="2027237" y="721165"/>
                  <a:pt x="2024579" y="721165"/>
                </a:cubicBezTo>
                <a:lnTo>
                  <a:pt x="10022" y="721165"/>
                </a:lnTo>
                <a:cubicBezTo>
                  <a:pt x="7364" y="721165"/>
                  <a:pt x="4815" y="720109"/>
                  <a:pt x="2935" y="718230"/>
                </a:cubicBezTo>
                <a:cubicBezTo>
                  <a:pt x="1056" y="716350"/>
                  <a:pt x="0" y="713801"/>
                  <a:pt x="0" y="711143"/>
                </a:cubicBezTo>
                <a:lnTo>
                  <a:pt x="0" y="10022"/>
                </a:lnTo>
                <a:cubicBezTo>
                  <a:pt x="0" y="7364"/>
                  <a:pt x="1056" y="4815"/>
                  <a:pt x="2935" y="2935"/>
                </a:cubicBezTo>
                <a:cubicBezTo>
                  <a:pt x="4815" y="1056"/>
                  <a:pt x="7364" y="0"/>
                  <a:pt x="100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ebf7e5dc66_0_0"/>
          <p:cNvSpPr txBox="1"/>
          <p:nvPr/>
        </p:nvSpPr>
        <p:spPr>
          <a:xfrm>
            <a:off x="12794890" y="3513078"/>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CU-34:</a:t>
            </a:r>
            <a:endParaRPr b="0" i="0" sz="3600" u="none" cap="none" strike="noStrike">
              <a:solidFill>
                <a:srgbClr val="000000"/>
              </a:solidFill>
              <a:latin typeface="Arial"/>
              <a:ea typeface="Arial"/>
              <a:cs typeface="Arial"/>
              <a:sym typeface="Arial"/>
            </a:endParaRPr>
          </a:p>
        </p:txBody>
      </p:sp>
      <p:sp>
        <p:nvSpPr>
          <p:cNvPr id="173" name="Google Shape;173;g3ebf7e5dc66_0_0"/>
          <p:cNvSpPr txBox="1"/>
          <p:nvPr/>
        </p:nvSpPr>
        <p:spPr>
          <a:xfrm>
            <a:off x="12794890" y="5554703"/>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CU-47:</a:t>
            </a:r>
            <a:endParaRPr b="0" i="0" sz="3600" u="none" cap="none" strike="noStrike">
              <a:solidFill>
                <a:srgbClr val="000000"/>
              </a:solidFill>
              <a:latin typeface="Arial"/>
              <a:ea typeface="Arial"/>
              <a:cs typeface="Arial"/>
              <a:sym typeface="Arial"/>
            </a:endParaRPr>
          </a:p>
        </p:txBody>
      </p:sp>
      <p:sp>
        <p:nvSpPr>
          <p:cNvPr id="174" name="Google Shape;174;g3ebf7e5dc66_0_0"/>
          <p:cNvSpPr txBox="1"/>
          <p:nvPr/>
        </p:nvSpPr>
        <p:spPr>
          <a:xfrm>
            <a:off x="12794890" y="6726578"/>
            <a:ext cx="1815600" cy="5541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3600">
                <a:solidFill>
                  <a:srgbClr val="FFFFFF"/>
                </a:solidFill>
                <a:latin typeface="League Spartan"/>
                <a:ea typeface="League Spartan"/>
                <a:cs typeface="League Spartan"/>
                <a:sym typeface="League Spartan"/>
              </a:rPr>
              <a:t>CU-48:</a:t>
            </a:r>
            <a:endParaRPr b="0" i="0" sz="3600" u="none" cap="none" strike="noStrike">
              <a:solidFill>
                <a:srgbClr val="000000"/>
              </a:solidFill>
              <a:latin typeface="Arial"/>
              <a:ea typeface="Arial"/>
              <a:cs typeface="Arial"/>
              <a:sym typeface="Arial"/>
            </a:endParaRPr>
          </a:p>
        </p:txBody>
      </p:sp>
      <p:sp>
        <p:nvSpPr>
          <p:cNvPr id="175" name="Google Shape;175;g3ebf7e5dc66_0_0"/>
          <p:cNvSpPr txBox="1"/>
          <p:nvPr/>
        </p:nvSpPr>
        <p:spPr>
          <a:xfrm>
            <a:off x="12794903" y="2823788"/>
            <a:ext cx="4885200" cy="2838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844">
                <a:solidFill>
                  <a:srgbClr val="D4D4D4"/>
                </a:solidFill>
                <a:latin typeface="League Spartan"/>
                <a:ea typeface="League Spartan"/>
                <a:cs typeface="League Spartan"/>
                <a:sym typeface="League Spartan"/>
              </a:rPr>
              <a:t>Registrando una nueva obra para un cliente B2C</a:t>
            </a:r>
            <a:endParaRPr sz="1844">
              <a:solidFill>
                <a:srgbClr val="D4D4D4"/>
              </a:solidFill>
              <a:latin typeface="League Spartan"/>
              <a:ea typeface="League Spartan"/>
              <a:cs typeface="League Spartan"/>
              <a:sym typeface="League Spartan"/>
            </a:endParaRPr>
          </a:p>
        </p:txBody>
      </p:sp>
      <p:sp>
        <p:nvSpPr>
          <p:cNvPr id="176" name="Google Shape;176;g3ebf7e5dc66_0_0"/>
          <p:cNvSpPr txBox="1"/>
          <p:nvPr/>
        </p:nvSpPr>
        <p:spPr>
          <a:xfrm>
            <a:off x="12794903" y="4189238"/>
            <a:ext cx="4885200" cy="6246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844">
                <a:solidFill>
                  <a:srgbClr val="D4D4D4"/>
                </a:solidFill>
                <a:latin typeface="League Spartan"/>
                <a:ea typeface="League Spartan"/>
                <a:cs typeface="League Spartan"/>
                <a:sym typeface="League Spartan"/>
              </a:rPr>
              <a:t>Registrando una nueva obra para un cliente B2B utilizando campos específicos</a:t>
            </a:r>
            <a:endParaRPr sz="1844">
              <a:solidFill>
                <a:srgbClr val="D4D4D4"/>
              </a:solidFill>
              <a:latin typeface="League Spartan"/>
              <a:ea typeface="League Spartan"/>
              <a:cs typeface="League Spartan"/>
              <a:sym typeface="League Spartan"/>
            </a:endParaRPr>
          </a:p>
        </p:txBody>
      </p:sp>
      <p:sp>
        <p:nvSpPr>
          <p:cNvPr id="177" name="Google Shape;177;g3ebf7e5dc66_0_0"/>
          <p:cNvSpPr txBox="1"/>
          <p:nvPr/>
        </p:nvSpPr>
        <p:spPr>
          <a:xfrm>
            <a:off x="12794903" y="6140463"/>
            <a:ext cx="4885200" cy="6246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None/>
            </a:pPr>
            <a:r>
              <a:rPr lang="en-US" sz="1844">
                <a:solidFill>
                  <a:srgbClr val="D4D4D4"/>
                </a:solidFill>
                <a:latin typeface="League Spartan"/>
                <a:ea typeface="League Spartan"/>
                <a:cs typeface="League Spartan"/>
                <a:sym typeface="League Spartan"/>
              </a:rPr>
              <a:t>Asignando inicialmente un técnico a una nueva tarea</a:t>
            </a:r>
            <a:endParaRPr sz="1844">
              <a:solidFill>
                <a:srgbClr val="D4D4D4"/>
              </a:solidFill>
              <a:latin typeface="League Spartan"/>
              <a:ea typeface="League Spartan"/>
              <a:cs typeface="League Spartan"/>
              <a:sym typeface="League Spartan"/>
            </a:endParaRPr>
          </a:p>
        </p:txBody>
      </p:sp>
      <p:sp>
        <p:nvSpPr>
          <p:cNvPr id="178" name="Google Shape;178;g3ebf7e5dc66_0_0"/>
          <p:cNvSpPr txBox="1"/>
          <p:nvPr/>
        </p:nvSpPr>
        <p:spPr>
          <a:xfrm>
            <a:off x="12794903" y="7280663"/>
            <a:ext cx="4885200" cy="624600"/>
          </a:xfrm>
          <a:prstGeom prst="rect">
            <a:avLst/>
          </a:prstGeom>
          <a:noFill/>
          <a:ln>
            <a:noFill/>
          </a:ln>
        </p:spPr>
        <p:txBody>
          <a:bodyPr anchorCtr="0" anchor="t" bIns="0" lIns="0" spcFirstLastPara="1" rIns="0" wrap="square" tIns="0">
            <a:spAutoFit/>
          </a:bodyPr>
          <a:lstStyle/>
          <a:p>
            <a:pPr indent="0" lvl="0" marL="0" marR="0" rtl="0" algn="just">
              <a:lnSpc>
                <a:spcPct val="120014"/>
              </a:lnSpc>
              <a:spcBef>
                <a:spcPts val="0"/>
              </a:spcBef>
              <a:spcAft>
                <a:spcPts val="0"/>
              </a:spcAft>
              <a:buClr>
                <a:srgbClr val="000000"/>
              </a:buClr>
              <a:buFont typeface="Arial"/>
              <a:buNone/>
            </a:pPr>
            <a:r>
              <a:rPr lang="en-US" sz="1844">
                <a:solidFill>
                  <a:srgbClr val="D4D4D4"/>
                </a:solidFill>
                <a:latin typeface="League Spartan"/>
                <a:ea typeface="League Spartan"/>
                <a:cs typeface="League Spartan"/>
                <a:sym typeface="League Spartan"/>
              </a:rPr>
              <a:t>Reasignando el equipo de técnicos en una tarea existente</a:t>
            </a:r>
            <a:endParaRPr sz="1844">
              <a:solidFill>
                <a:srgbClr val="D4D4D4"/>
              </a:solidFill>
              <a:latin typeface="League Spartan"/>
              <a:ea typeface="League Spartan"/>
              <a:cs typeface="League Spartan"/>
              <a:sym typeface="League Spartan"/>
            </a:endParaRPr>
          </a:p>
        </p:txBody>
      </p:sp>
      <p:sp>
        <p:nvSpPr>
          <p:cNvPr id="179" name="Google Shape;179;g3ebf7e5dc66_0_0"/>
          <p:cNvSpPr/>
          <p:nvPr/>
        </p:nvSpPr>
        <p:spPr>
          <a:xfrm>
            <a:off x="5844325" y="3233563"/>
            <a:ext cx="546300" cy="6246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ebf7e5dc66_0_0"/>
          <p:cNvSpPr/>
          <p:nvPr/>
        </p:nvSpPr>
        <p:spPr>
          <a:xfrm>
            <a:off x="5844325" y="6428825"/>
            <a:ext cx="546300" cy="6246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g3ebf7e5dc66_0_0"/>
          <p:cNvSpPr/>
          <p:nvPr/>
        </p:nvSpPr>
        <p:spPr>
          <a:xfrm>
            <a:off x="11941100" y="3233550"/>
            <a:ext cx="546300" cy="6246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2" name="Google Shape;182;g3ebf7e5dc66_0_0"/>
          <p:cNvSpPr/>
          <p:nvPr/>
        </p:nvSpPr>
        <p:spPr>
          <a:xfrm>
            <a:off x="11941100" y="6428813"/>
            <a:ext cx="546300" cy="6246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3" name="Google Shape;183;g3ebf7e5dc66_0_0"/>
          <p:cNvSpPr/>
          <p:nvPr/>
        </p:nvSpPr>
        <p:spPr>
          <a:xfrm>
            <a:off x="238500" y="8866049"/>
            <a:ext cx="3060106" cy="1161990"/>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bf7e5dc66_0_163"/>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grpSp>
        <p:nvGrpSpPr>
          <p:cNvPr id="189" name="Google Shape;189;g3ebf7e5dc66_0_163"/>
          <p:cNvGrpSpPr/>
          <p:nvPr/>
        </p:nvGrpSpPr>
        <p:grpSpPr>
          <a:xfrm>
            <a:off x="0" y="-144662"/>
            <a:ext cx="18288118" cy="1584446"/>
            <a:chOff x="0" y="-38100"/>
            <a:chExt cx="4816592" cy="417300"/>
          </a:xfrm>
        </p:grpSpPr>
        <p:sp>
          <p:nvSpPr>
            <p:cNvPr id="190" name="Google Shape;190;g3ebf7e5dc66_0_163"/>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191" name="Google Shape;191;g3ebf7e5dc66_0_163"/>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rtl="0" algn="l">
                <a:lnSpc>
                  <a:spcPct val="120013"/>
                </a:lnSpc>
                <a:spcBef>
                  <a:spcPts val="0"/>
                </a:spcBef>
                <a:spcAft>
                  <a:spcPts val="0"/>
                </a:spcAft>
                <a:buClr>
                  <a:schemeClr val="dk1"/>
                </a:buClr>
                <a:buSzPts val="5966"/>
                <a:buFont typeface="Arial"/>
                <a:buNone/>
              </a:pPr>
              <a:r>
                <a:rPr lang="en-US" sz="5966">
                  <a:solidFill>
                    <a:schemeClr val="lt1"/>
                  </a:solidFill>
                  <a:latin typeface="League Spartan"/>
                  <a:ea typeface="League Spartan"/>
                  <a:cs typeface="League Spartan"/>
                  <a:sym typeface="League Spartan"/>
                </a:rPr>
                <a:t>Casos de uso: CU-33 y CU-34</a:t>
              </a:r>
              <a:endParaRPr sz="1800">
                <a:solidFill>
                  <a:schemeClr val="dk1"/>
                </a:solidFill>
                <a:latin typeface="Calibri"/>
                <a:ea typeface="Calibri"/>
                <a:cs typeface="Calibri"/>
                <a:sym typeface="Calibri"/>
              </a:endParaRPr>
            </a:p>
          </p:txBody>
        </p:sp>
      </p:grpSp>
      <p:graphicFrame>
        <p:nvGraphicFramePr>
          <p:cNvPr id="192" name="Google Shape;192;g3ebf7e5dc66_0_163"/>
          <p:cNvGraphicFramePr/>
          <p:nvPr/>
        </p:nvGraphicFramePr>
        <p:xfrm>
          <a:off x="378313" y="1827925"/>
          <a:ext cx="3000000" cy="3000000"/>
        </p:xfrm>
        <a:graphic>
          <a:graphicData uri="http://schemas.openxmlformats.org/drawingml/2006/table">
            <a:tbl>
              <a:tblPr>
                <a:noFill/>
                <a:tableStyleId>{AA02423A-5F98-4DA9-9D82-D4D68A08E185}</a:tableStyleId>
              </a:tblPr>
              <a:tblGrid>
                <a:gridCol w="1467650"/>
                <a:gridCol w="7181050"/>
              </a:tblGrid>
              <a:tr h="478125">
                <a:tc>
                  <a:txBody>
                    <a:bodyPr/>
                    <a:lstStyle/>
                    <a:p>
                      <a:pPr indent="0" lvl="0" marL="0" rtl="0" algn="l">
                        <a:lnSpc>
                          <a:spcPct val="115000"/>
                        </a:lnSpc>
                        <a:spcBef>
                          <a:spcPts val="0"/>
                        </a:spcBef>
                        <a:spcAft>
                          <a:spcPts val="0"/>
                        </a:spcAft>
                        <a:buNone/>
                      </a:pPr>
                      <a:r>
                        <a:rPr lang="en-US" sz="1700">
                          <a:solidFill>
                            <a:schemeClr val="lt1"/>
                          </a:solidFill>
                          <a:latin typeface="Calibri"/>
                          <a:ea typeface="Calibri"/>
                          <a:cs typeface="Calibri"/>
                          <a:sym typeface="Calibri"/>
                        </a:rPr>
                        <a:t>Campo</a:t>
                      </a:r>
                      <a:endParaRPr sz="17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l">
                        <a:lnSpc>
                          <a:spcPct val="115000"/>
                        </a:lnSpc>
                        <a:spcBef>
                          <a:spcPts val="0"/>
                        </a:spcBef>
                        <a:spcAft>
                          <a:spcPts val="0"/>
                        </a:spcAft>
                        <a:buNone/>
                      </a:pPr>
                      <a:r>
                        <a:rPr lang="en-US" sz="1700">
                          <a:solidFill>
                            <a:schemeClr val="lt1"/>
                          </a:solidFill>
                          <a:latin typeface="Calibri"/>
                          <a:ea typeface="Calibri"/>
                          <a:cs typeface="Calibri"/>
                          <a:sym typeface="Calibri"/>
                        </a:rPr>
                        <a:t>Descripción</a:t>
                      </a:r>
                      <a:endParaRPr sz="17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r>
              <a:tr h="5923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Nombre</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CU-33: Registrando una nueva obra para un cliente B2C</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23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Actor(es)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Usuario de rol "Administrador" y "Gerente"</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23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Resumen</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ingresa la información base y especifica puertas para la creación de un proyecto.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23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Frecuencia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Media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23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Precondiciones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inicia la creación de una obra para un cliente "B2C".</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359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Descripción</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ingresa "Nombre de la obra", "Dirección física", "Comuna", "Cantidad de puertas" [Excepción 1] y selecciona el modelo para cada una [Excepción 2]. El sistema registra la nueva obra como "Obra pendiente" y plasma una estampa de tiempo.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883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Excepciones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Excepción 1: El usuario deja un campo obligatorio en blanco o introduce un dato con formato inválido. El sistema resalta el error y bloquea el guardado.</a:t>
                      </a:r>
                      <a:endParaRPr sz="1700">
                        <a:latin typeface="Calibri"/>
                        <a:ea typeface="Calibri"/>
                        <a:cs typeface="Calibri"/>
                        <a:sym typeface="Calibri"/>
                      </a:endParaRPr>
                    </a:p>
                    <a:p>
                      <a:pPr indent="0" lvl="0" marL="0" rtl="0" algn="l">
                        <a:lnSpc>
                          <a:spcPct val="115000"/>
                        </a:lnSpc>
                        <a:spcBef>
                          <a:spcPts val="0"/>
                        </a:spcBef>
                        <a:spcAft>
                          <a:spcPts val="0"/>
                        </a:spcAft>
                        <a:buNone/>
                      </a:pPr>
                      <a:r>
                        <a:t/>
                      </a:r>
                      <a:endParaRPr sz="1700">
                        <a:latin typeface="Calibri"/>
                        <a:ea typeface="Calibri"/>
                        <a:cs typeface="Calibri"/>
                        <a:sym typeface="Calibri"/>
                      </a:endParaRPr>
                    </a:p>
                    <a:p>
                      <a:pPr indent="0" lvl="0" marL="0" rtl="0" algn="l">
                        <a:lnSpc>
                          <a:spcPct val="115000"/>
                        </a:lnSpc>
                        <a:spcBef>
                          <a:spcPts val="0"/>
                        </a:spcBef>
                        <a:spcAft>
                          <a:spcPts val="0"/>
                        </a:spcAft>
                        <a:buNone/>
                      </a:pPr>
                      <a:r>
                        <a:rPr lang="en-US" sz="1700">
                          <a:latin typeface="Calibri"/>
                          <a:ea typeface="Calibri"/>
                          <a:cs typeface="Calibri"/>
                          <a:sym typeface="Calibri"/>
                        </a:rPr>
                        <a:t>Excepción 2: Omite seleccionar modelo de puertas. El sistema alerta y bloquea guardado.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8125">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Poscondiciones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Una nueva obra queda habilitada.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8125">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Dependencias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UR 4.2</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93" name="Google Shape;193;g3ebf7e5dc66_0_163"/>
          <p:cNvGraphicFramePr/>
          <p:nvPr/>
        </p:nvGraphicFramePr>
        <p:xfrm>
          <a:off x="9184175" y="1827925"/>
          <a:ext cx="3000000" cy="3000000"/>
        </p:xfrm>
        <a:graphic>
          <a:graphicData uri="http://schemas.openxmlformats.org/drawingml/2006/table">
            <a:tbl>
              <a:tblPr>
                <a:noFill/>
                <a:tableStyleId>{AA02423A-5F98-4DA9-9D82-D4D68A08E185}</a:tableStyleId>
              </a:tblPr>
              <a:tblGrid>
                <a:gridCol w="1467950"/>
                <a:gridCol w="7299100"/>
              </a:tblGrid>
              <a:tr h="209550">
                <a:tc>
                  <a:txBody>
                    <a:bodyPr/>
                    <a:lstStyle/>
                    <a:p>
                      <a:pPr indent="0" lvl="0" marL="0" rtl="0" algn="l">
                        <a:lnSpc>
                          <a:spcPct val="115000"/>
                        </a:lnSpc>
                        <a:spcBef>
                          <a:spcPts val="0"/>
                        </a:spcBef>
                        <a:spcAft>
                          <a:spcPts val="0"/>
                        </a:spcAft>
                        <a:buNone/>
                      </a:pPr>
                      <a:r>
                        <a:rPr lang="en-US" sz="1700">
                          <a:solidFill>
                            <a:schemeClr val="lt1"/>
                          </a:solidFill>
                          <a:latin typeface="Calibri"/>
                          <a:ea typeface="Calibri"/>
                          <a:cs typeface="Calibri"/>
                          <a:sym typeface="Calibri"/>
                        </a:rPr>
                        <a:t>Campo</a:t>
                      </a:r>
                      <a:endParaRPr sz="17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l">
                        <a:lnSpc>
                          <a:spcPct val="115000"/>
                        </a:lnSpc>
                        <a:spcBef>
                          <a:spcPts val="0"/>
                        </a:spcBef>
                        <a:spcAft>
                          <a:spcPts val="0"/>
                        </a:spcAft>
                        <a:buNone/>
                      </a:pPr>
                      <a:r>
                        <a:rPr lang="en-US" sz="1700">
                          <a:solidFill>
                            <a:schemeClr val="lt1"/>
                          </a:solidFill>
                          <a:latin typeface="Calibri"/>
                          <a:ea typeface="Calibri"/>
                          <a:cs typeface="Calibri"/>
                          <a:sym typeface="Calibri"/>
                        </a:rPr>
                        <a:t>Descripción</a:t>
                      </a:r>
                      <a:endParaRPr sz="17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Nombre</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CU-34: Registrando una nueva obra para un cliente B2B utilizando campos específicos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Actor(es)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Usuario de rol "Administrador" y "Gerente"</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Resumen</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ingresa la información base y especifica puertas para la creación de un proyecto </a:t>
                      </a:r>
                      <a:r>
                        <a:rPr lang="en-US" sz="1700">
                          <a:latin typeface="Calibri"/>
                          <a:ea typeface="Calibri"/>
                          <a:cs typeface="Calibri"/>
                          <a:sym typeface="Calibri"/>
                        </a:rPr>
                        <a:t>junto con</a:t>
                      </a:r>
                      <a:r>
                        <a:rPr lang="en-US" sz="1700">
                          <a:latin typeface="Calibri"/>
                          <a:ea typeface="Calibri"/>
                          <a:cs typeface="Calibri"/>
                          <a:sym typeface="Calibri"/>
                        </a:rPr>
                        <a:t> el detalle del lugar exacto de instalación dentro de un proyecto corporativo.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Frecuencia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Media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Precondiciones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inicia la creación de una obra para un cliente "B2B".</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001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Descripción</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El usuario ingresa "Nombre de la obra", "Dirección física", "Comuna", "Cantidad de puertas" [Excepción 1] y selecciona el modelo para cada una [Excepción 2]. Además se despliega el campo opcional "Torre / Departamento / Bloque". El sistema registra la nueva obra como "Obra pendiente" y plasma una estampa de tiempo.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0010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Excepciones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Excepción 1: El usuario deja un campo obligatorio en blanco o introduce un dato con formato inválido. El sistema resalta el error y bloquea el guardado.</a:t>
                      </a:r>
                      <a:endParaRPr sz="1700">
                        <a:latin typeface="Calibri"/>
                        <a:ea typeface="Calibri"/>
                        <a:cs typeface="Calibri"/>
                        <a:sym typeface="Calibri"/>
                      </a:endParaRPr>
                    </a:p>
                    <a:p>
                      <a:pPr indent="0" lvl="0" marL="0" rtl="0" algn="l">
                        <a:lnSpc>
                          <a:spcPct val="115000"/>
                        </a:lnSpc>
                        <a:spcBef>
                          <a:spcPts val="0"/>
                        </a:spcBef>
                        <a:spcAft>
                          <a:spcPts val="0"/>
                        </a:spcAft>
                        <a:buNone/>
                      </a:pPr>
                      <a:r>
                        <a:t/>
                      </a:r>
                      <a:endParaRPr sz="1700">
                        <a:latin typeface="Calibri"/>
                        <a:ea typeface="Calibri"/>
                        <a:cs typeface="Calibri"/>
                        <a:sym typeface="Calibri"/>
                      </a:endParaRPr>
                    </a:p>
                    <a:p>
                      <a:pPr indent="0" lvl="0" marL="0" rtl="0" algn="l">
                        <a:lnSpc>
                          <a:spcPct val="115000"/>
                        </a:lnSpc>
                        <a:spcBef>
                          <a:spcPts val="0"/>
                        </a:spcBef>
                        <a:spcAft>
                          <a:spcPts val="0"/>
                        </a:spcAft>
                        <a:buNone/>
                      </a:pPr>
                      <a:r>
                        <a:rPr lang="en-US" sz="1700">
                          <a:latin typeface="Calibri"/>
                          <a:ea typeface="Calibri"/>
                          <a:cs typeface="Calibri"/>
                          <a:sym typeface="Calibri"/>
                        </a:rPr>
                        <a:t>Excepción 2: Omite seleccionar modelo de puertas. El sistema alerta y bloquea guardado.</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Poscondiciones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La obra corporativa es creada con ubicación exacta.</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Dependencias</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700">
                          <a:latin typeface="Calibri"/>
                          <a:ea typeface="Calibri"/>
                          <a:cs typeface="Calibri"/>
                          <a:sym typeface="Calibri"/>
                        </a:rPr>
                        <a:t>UR 4.2, CU-33</a:t>
                      </a:r>
                      <a:endParaRPr sz="1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c036fd8a9_21_9"/>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grpSp>
        <p:nvGrpSpPr>
          <p:cNvPr id="199" name="Google Shape;199;g3ec036fd8a9_21_9"/>
          <p:cNvGrpSpPr/>
          <p:nvPr/>
        </p:nvGrpSpPr>
        <p:grpSpPr>
          <a:xfrm>
            <a:off x="0" y="-144662"/>
            <a:ext cx="18288118" cy="1584446"/>
            <a:chOff x="0" y="-38100"/>
            <a:chExt cx="4816592" cy="417300"/>
          </a:xfrm>
        </p:grpSpPr>
        <p:sp>
          <p:nvSpPr>
            <p:cNvPr id="200" name="Google Shape;200;g3ec036fd8a9_21_9"/>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01" name="Google Shape;201;g3ec036fd8a9_21_9"/>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rtl="0" algn="l">
                <a:lnSpc>
                  <a:spcPct val="120013"/>
                </a:lnSpc>
                <a:spcBef>
                  <a:spcPts val="0"/>
                </a:spcBef>
                <a:spcAft>
                  <a:spcPts val="0"/>
                </a:spcAft>
                <a:buClr>
                  <a:schemeClr val="dk1"/>
                </a:buClr>
                <a:buSzPts val="5966"/>
                <a:buFont typeface="Arial"/>
                <a:buNone/>
              </a:pPr>
              <a:r>
                <a:rPr lang="en-US" sz="5966">
                  <a:solidFill>
                    <a:schemeClr val="lt1"/>
                  </a:solidFill>
                  <a:latin typeface="League Spartan"/>
                  <a:ea typeface="League Spartan"/>
                  <a:cs typeface="League Spartan"/>
                  <a:sym typeface="League Spartan"/>
                </a:rPr>
                <a:t>Diagrama de CU relacionado</a:t>
              </a:r>
              <a:endParaRPr sz="1800">
                <a:solidFill>
                  <a:schemeClr val="dk1"/>
                </a:solidFill>
                <a:latin typeface="Calibri"/>
                <a:ea typeface="Calibri"/>
                <a:cs typeface="Calibri"/>
                <a:sym typeface="Calibri"/>
              </a:endParaRPr>
            </a:p>
          </p:txBody>
        </p:sp>
      </p:grpSp>
      <p:pic>
        <p:nvPicPr>
          <p:cNvPr id="202" name="Google Shape;202;g3ec036fd8a9_21_9"/>
          <p:cNvPicPr preferRelativeResize="0"/>
          <p:nvPr/>
        </p:nvPicPr>
        <p:blipFill>
          <a:blip r:embed="rId4">
            <a:alphaModFix/>
          </a:blip>
          <a:stretch>
            <a:fillRect/>
          </a:stretch>
        </p:blipFill>
        <p:spPr>
          <a:xfrm>
            <a:off x="2209800" y="2021475"/>
            <a:ext cx="13868524" cy="7458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g3ebf7e5dc66_0_183"/>
          <p:cNvGrpSpPr/>
          <p:nvPr/>
        </p:nvGrpSpPr>
        <p:grpSpPr>
          <a:xfrm>
            <a:off x="-62" y="-131137"/>
            <a:ext cx="18288118" cy="1584446"/>
            <a:chOff x="0" y="-38100"/>
            <a:chExt cx="4816592" cy="417300"/>
          </a:xfrm>
        </p:grpSpPr>
        <p:sp>
          <p:nvSpPr>
            <p:cNvPr id="208" name="Google Shape;208;g3ebf7e5dc66_0_183"/>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09" name="Google Shape;209;g3ebf7e5dc66_0_183"/>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rtl="0" algn="l">
                <a:lnSpc>
                  <a:spcPct val="120013"/>
                </a:lnSpc>
                <a:spcBef>
                  <a:spcPts val="0"/>
                </a:spcBef>
                <a:spcAft>
                  <a:spcPts val="0"/>
                </a:spcAft>
                <a:buClr>
                  <a:schemeClr val="dk1"/>
                </a:buClr>
                <a:buSzPts val="5966"/>
                <a:buFont typeface="Arial"/>
                <a:buNone/>
              </a:pPr>
              <a:r>
                <a:rPr lang="en-US" sz="5966">
                  <a:solidFill>
                    <a:schemeClr val="lt1"/>
                  </a:solidFill>
                  <a:latin typeface="League Spartan"/>
                  <a:ea typeface="League Spartan"/>
                  <a:cs typeface="League Spartan"/>
                  <a:sym typeface="League Spartan"/>
                </a:rPr>
                <a:t>Diagrama de secuencia - CU-34</a:t>
              </a:r>
              <a:endParaRPr sz="2200">
                <a:solidFill>
                  <a:schemeClr val="lt1"/>
                </a:solidFill>
                <a:latin typeface="Calibri"/>
                <a:ea typeface="Calibri"/>
                <a:cs typeface="Calibri"/>
                <a:sym typeface="Calibri"/>
              </a:endParaRPr>
            </a:p>
            <a:p>
              <a:pPr indent="0" lvl="0" marL="0" marR="0" rtl="0" algn="ctr">
                <a:lnSpc>
                  <a:spcPct val="147722"/>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grpSp>
      <p:sp>
        <p:nvSpPr>
          <p:cNvPr id="210" name="Google Shape;210;g3ebf7e5dc66_0_183"/>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pic>
        <p:nvPicPr>
          <p:cNvPr id="211" name="Google Shape;211;g3ebf7e5dc66_0_183"/>
          <p:cNvPicPr preferRelativeResize="0"/>
          <p:nvPr/>
        </p:nvPicPr>
        <p:blipFill>
          <a:blip r:embed="rId4">
            <a:alphaModFix/>
          </a:blip>
          <a:stretch>
            <a:fillRect/>
          </a:stretch>
        </p:blipFill>
        <p:spPr>
          <a:xfrm>
            <a:off x="217963" y="3070625"/>
            <a:ext cx="17852075" cy="4145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pSp>
        <p:nvGrpSpPr>
          <p:cNvPr id="216" name="Google Shape;216;g3ebf7e5dc66_0_172"/>
          <p:cNvGrpSpPr/>
          <p:nvPr/>
        </p:nvGrpSpPr>
        <p:grpSpPr>
          <a:xfrm>
            <a:off x="0" y="-144662"/>
            <a:ext cx="18288118" cy="1584446"/>
            <a:chOff x="0" y="-38100"/>
            <a:chExt cx="4816592" cy="417300"/>
          </a:xfrm>
        </p:grpSpPr>
        <p:sp>
          <p:nvSpPr>
            <p:cNvPr id="217" name="Google Shape;217;g3ebf7e5dc66_0_172"/>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18" name="Google Shape;218;g3ebf7e5dc66_0_172"/>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rtl="0" algn="l">
                <a:lnSpc>
                  <a:spcPct val="120013"/>
                </a:lnSpc>
                <a:spcBef>
                  <a:spcPts val="0"/>
                </a:spcBef>
                <a:spcAft>
                  <a:spcPts val="0"/>
                </a:spcAft>
                <a:buClr>
                  <a:schemeClr val="dk1"/>
                </a:buClr>
                <a:buSzPts val="5966"/>
                <a:buFont typeface="Arial"/>
                <a:buNone/>
              </a:pPr>
              <a:r>
                <a:rPr lang="en-US" sz="5966">
                  <a:solidFill>
                    <a:schemeClr val="lt1"/>
                  </a:solidFill>
                  <a:latin typeface="League Spartan"/>
                  <a:ea typeface="League Spartan"/>
                  <a:cs typeface="League Spartan"/>
                  <a:sym typeface="League Spartan"/>
                </a:rPr>
                <a:t>Casos de uso: CU-46 y CU-47</a:t>
              </a:r>
              <a:endParaRPr sz="2200">
                <a:solidFill>
                  <a:schemeClr val="lt1"/>
                </a:solidFill>
                <a:latin typeface="Calibri"/>
                <a:ea typeface="Calibri"/>
                <a:cs typeface="Calibri"/>
                <a:sym typeface="Calibri"/>
              </a:endParaRPr>
            </a:p>
          </p:txBody>
        </p:sp>
      </p:grpSp>
      <p:sp>
        <p:nvSpPr>
          <p:cNvPr id="219" name="Google Shape;219;g3ebf7e5dc66_0_172"/>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graphicFrame>
        <p:nvGraphicFramePr>
          <p:cNvPr id="220" name="Google Shape;220;g3ebf7e5dc66_0_172"/>
          <p:cNvGraphicFramePr/>
          <p:nvPr/>
        </p:nvGraphicFramePr>
        <p:xfrm>
          <a:off x="8778825" y="1787825"/>
          <a:ext cx="3000000" cy="3000000"/>
        </p:xfrm>
        <a:graphic>
          <a:graphicData uri="http://schemas.openxmlformats.org/drawingml/2006/table">
            <a:tbl>
              <a:tblPr>
                <a:noFill/>
                <a:tableStyleId>{AA02423A-5F98-4DA9-9D82-D4D68A08E185}</a:tableStyleId>
              </a:tblPr>
              <a:tblGrid>
                <a:gridCol w="1392750"/>
                <a:gridCol w="7705250"/>
              </a:tblGrid>
              <a:tr h="629000">
                <a:tc>
                  <a:txBody>
                    <a:bodyPr/>
                    <a:lstStyle/>
                    <a:p>
                      <a:pPr indent="0" lvl="0" marL="0" rtl="0" algn="l">
                        <a:lnSpc>
                          <a:spcPct val="115000"/>
                        </a:lnSpc>
                        <a:spcBef>
                          <a:spcPts val="0"/>
                        </a:spcBef>
                        <a:spcAft>
                          <a:spcPts val="0"/>
                        </a:spcAft>
                        <a:buNone/>
                      </a:pPr>
                      <a:r>
                        <a:rPr lang="en-US" sz="1600">
                          <a:solidFill>
                            <a:schemeClr val="lt1"/>
                          </a:solidFill>
                          <a:latin typeface="Calibri"/>
                          <a:ea typeface="Calibri"/>
                          <a:cs typeface="Calibri"/>
                          <a:sym typeface="Calibri"/>
                        </a:rPr>
                        <a:t>Campo</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l">
                        <a:lnSpc>
                          <a:spcPct val="115000"/>
                        </a:lnSpc>
                        <a:spcBef>
                          <a:spcPts val="0"/>
                        </a:spcBef>
                        <a:spcAft>
                          <a:spcPts val="0"/>
                        </a:spcAft>
                        <a:buNone/>
                      </a:pPr>
                      <a:r>
                        <a:rPr lang="en-US" sz="1600">
                          <a:solidFill>
                            <a:schemeClr val="lt1"/>
                          </a:solidFill>
                          <a:latin typeface="Calibri"/>
                          <a:ea typeface="Calibri"/>
                          <a:cs typeface="Calibri"/>
                          <a:sym typeface="Calibri"/>
                        </a:rPr>
                        <a:t>Descripción</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Nombre</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CU-47: Asignando inicialmente un técnico a una nueva tarea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Actor(es)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Usuario de rol "Administrador", "Gerente" o "JOP"</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Resumen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El usuario delega una tarea recién creada a especialistas en terreno.</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Frecuencia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Alta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Precondiciones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La tarea posee estado "Creado".</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429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Descripción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El usuario interactúa con la sección de asignación en la interfaz. De inmediato, el sistema despliega en la pantalla el listado de los técnicos activos. El usuario selecciona a los técnicos correspondientes [Excepción 1] y confirma la operación. Finalmente, el sistema vincula a los técnicos seleccionados, actualiza el estado del registro a "Asignado" y emite la estampa de tiempo respectiva.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74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Excepciones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Excepción 1: El usuario confirma sin selección. El sistema bloquea el avance y pide seleccionar.</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Poscondiciones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La tarea queda delegada.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900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Dependencias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UR 6.1</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21" name="Google Shape;221;g3ebf7e5dc66_0_172"/>
          <p:cNvGraphicFramePr/>
          <p:nvPr/>
        </p:nvGraphicFramePr>
        <p:xfrm>
          <a:off x="202000" y="1787825"/>
          <a:ext cx="3000000" cy="3000000"/>
        </p:xfrm>
        <a:graphic>
          <a:graphicData uri="http://schemas.openxmlformats.org/drawingml/2006/table">
            <a:tbl>
              <a:tblPr>
                <a:noFill/>
                <a:tableStyleId>{AA02423A-5F98-4DA9-9D82-D4D68A08E185}</a:tableStyleId>
              </a:tblPr>
              <a:tblGrid>
                <a:gridCol w="1387775"/>
                <a:gridCol w="6973375"/>
              </a:tblGrid>
              <a:tr h="643125">
                <a:tc>
                  <a:txBody>
                    <a:bodyPr/>
                    <a:lstStyle/>
                    <a:p>
                      <a:pPr indent="0" lvl="0" marL="0" rtl="0" algn="l">
                        <a:lnSpc>
                          <a:spcPct val="115000"/>
                        </a:lnSpc>
                        <a:spcBef>
                          <a:spcPts val="0"/>
                        </a:spcBef>
                        <a:spcAft>
                          <a:spcPts val="0"/>
                        </a:spcAft>
                        <a:buNone/>
                      </a:pPr>
                      <a:r>
                        <a:rPr lang="en-US" sz="1600">
                          <a:solidFill>
                            <a:schemeClr val="lt1"/>
                          </a:solidFill>
                          <a:latin typeface="Calibri"/>
                          <a:ea typeface="Calibri"/>
                          <a:cs typeface="Calibri"/>
                          <a:sym typeface="Calibri"/>
                        </a:rPr>
                        <a:t>Campo</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l">
                        <a:lnSpc>
                          <a:spcPct val="115000"/>
                        </a:lnSpc>
                        <a:spcBef>
                          <a:spcPts val="0"/>
                        </a:spcBef>
                        <a:spcAft>
                          <a:spcPts val="0"/>
                        </a:spcAft>
                        <a:buNone/>
                      </a:pPr>
                      <a:r>
                        <a:rPr lang="en-US" sz="1600">
                          <a:solidFill>
                            <a:schemeClr val="lt1"/>
                          </a:solidFill>
                          <a:latin typeface="Calibri"/>
                          <a:ea typeface="Calibri"/>
                          <a:cs typeface="Calibri"/>
                          <a:sym typeface="Calibri"/>
                        </a:rPr>
                        <a:t>Descripción</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Nombre</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CU-46: Editando parámetros de fabricación de Terminaciones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Actor(es)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Usuario de rol "Administrador", "Gerente" o "JOP"</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Resumen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El usuario actualiza valores estéticos y acabados de la puerta.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Frecuencia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Media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Precondiciones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El usuario accede a "Terminaciones" en la orden.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520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Descripción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El usuario modifica los campos estéticos en la interfaz y guarda los cambios realizados [Excepción 1][Excepción 2]. Acto seguido, el sistema valida las entradas ingresadas, actualiza el registro correspondiente y lo sella de forma automática con la estampa temporal respectiva.</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Excepciones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Excepción 1: El usuario borra el valor de un campo obligatorio. El sistema previene el guardado.</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Poscondiciones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La orden se actualiza con nuevos parámetros estéticos.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Dependencias</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UR 5.3</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pSp>
        <p:nvGrpSpPr>
          <p:cNvPr id="226" name="Google Shape;226;g3ebf7e5dc66_0_116"/>
          <p:cNvGrpSpPr/>
          <p:nvPr/>
        </p:nvGrpSpPr>
        <p:grpSpPr>
          <a:xfrm>
            <a:off x="0" y="-144662"/>
            <a:ext cx="18288118" cy="1584446"/>
            <a:chOff x="0" y="-38100"/>
            <a:chExt cx="4816592" cy="417300"/>
          </a:xfrm>
        </p:grpSpPr>
        <p:sp>
          <p:nvSpPr>
            <p:cNvPr id="227" name="Google Shape;227;g3ebf7e5dc66_0_116"/>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28" name="Google Shape;228;g3ebf7e5dc66_0_116"/>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9" name="Google Shape;229;g3ebf7e5dc66_0_116"/>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pic>
        <p:nvPicPr>
          <p:cNvPr id="230" name="Google Shape;230;g3ebf7e5dc66_0_116"/>
          <p:cNvPicPr preferRelativeResize="0"/>
          <p:nvPr/>
        </p:nvPicPr>
        <p:blipFill>
          <a:blip r:embed="rId4">
            <a:alphaModFix/>
          </a:blip>
          <a:stretch>
            <a:fillRect/>
          </a:stretch>
        </p:blipFill>
        <p:spPr>
          <a:xfrm>
            <a:off x="2398226" y="1653575"/>
            <a:ext cx="13491524" cy="8157675"/>
          </a:xfrm>
          <a:prstGeom prst="rect">
            <a:avLst/>
          </a:prstGeom>
          <a:noFill/>
          <a:ln>
            <a:noFill/>
          </a:ln>
        </p:spPr>
      </p:pic>
      <p:sp>
        <p:nvSpPr>
          <p:cNvPr id="231" name="Google Shape;231;g3ebf7e5dc66_0_116"/>
          <p:cNvSpPr txBox="1"/>
          <p:nvPr/>
        </p:nvSpPr>
        <p:spPr>
          <a:xfrm>
            <a:off x="0" y="0"/>
            <a:ext cx="14604900" cy="1103100"/>
          </a:xfrm>
          <a:prstGeom prst="rect">
            <a:avLst/>
          </a:prstGeom>
          <a:noFill/>
          <a:ln>
            <a:noFill/>
          </a:ln>
        </p:spPr>
        <p:txBody>
          <a:bodyPr anchorCtr="0" anchor="t" bIns="91425" lIns="91425" spcFirstLastPara="1" rIns="91425" wrap="square" tIns="91425">
            <a:spAutoFit/>
          </a:bodyPr>
          <a:lstStyle/>
          <a:p>
            <a:pPr indent="0" lvl="0" marL="0" rtl="0" algn="l">
              <a:lnSpc>
                <a:spcPct val="120013"/>
              </a:lnSpc>
              <a:spcBef>
                <a:spcPts val="0"/>
              </a:spcBef>
              <a:spcAft>
                <a:spcPts val="0"/>
              </a:spcAft>
              <a:buNone/>
            </a:pPr>
            <a:r>
              <a:rPr lang="en-US" sz="5966">
                <a:solidFill>
                  <a:schemeClr val="lt1"/>
                </a:solidFill>
                <a:latin typeface="League Spartan"/>
                <a:ea typeface="League Spartan"/>
                <a:cs typeface="League Spartan"/>
                <a:sym typeface="League Spartan"/>
              </a:rPr>
              <a:t>Diagrama de CU relacionado</a:t>
            </a:r>
            <a:endParaRPr sz="22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grpSp>
        <p:nvGrpSpPr>
          <p:cNvPr id="236" name="Google Shape;236;g3ebf7e5dc66_0_192"/>
          <p:cNvGrpSpPr/>
          <p:nvPr/>
        </p:nvGrpSpPr>
        <p:grpSpPr>
          <a:xfrm>
            <a:off x="0" y="-144662"/>
            <a:ext cx="18288118" cy="1584446"/>
            <a:chOff x="0" y="-38100"/>
            <a:chExt cx="4816592" cy="417300"/>
          </a:xfrm>
        </p:grpSpPr>
        <p:sp>
          <p:nvSpPr>
            <p:cNvPr id="237" name="Google Shape;237;g3ebf7e5dc66_0_192"/>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38" name="Google Shape;238;g3ebf7e5dc66_0_192"/>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rtl="0" algn="l">
                <a:lnSpc>
                  <a:spcPct val="120013"/>
                </a:lnSpc>
                <a:spcBef>
                  <a:spcPts val="0"/>
                </a:spcBef>
                <a:spcAft>
                  <a:spcPts val="0"/>
                </a:spcAft>
                <a:buClr>
                  <a:schemeClr val="dk1"/>
                </a:buClr>
                <a:buSzPts val="5966"/>
                <a:buFont typeface="Arial"/>
                <a:buNone/>
              </a:pPr>
              <a:r>
                <a:rPr lang="en-US" sz="5966">
                  <a:solidFill>
                    <a:schemeClr val="lt1"/>
                  </a:solidFill>
                  <a:latin typeface="League Spartan"/>
                  <a:ea typeface="League Spartan"/>
                  <a:cs typeface="League Spartan"/>
                  <a:sym typeface="League Spartan"/>
                </a:rPr>
                <a:t>Diagrama de secuencia - CU-46</a:t>
              </a:r>
              <a:endParaRPr sz="2200">
                <a:solidFill>
                  <a:schemeClr val="lt1"/>
                </a:solidFill>
                <a:latin typeface="Calibri"/>
                <a:ea typeface="Calibri"/>
                <a:cs typeface="Calibri"/>
                <a:sym typeface="Calibri"/>
              </a:endParaRPr>
            </a:p>
            <a:p>
              <a:pPr indent="0" lvl="0" marL="0" marR="0" rtl="0" algn="ctr">
                <a:lnSpc>
                  <a:spcPct val="147722"/>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grpSp>
      <p:sp>
        <p:nvSpPr>
          <p:cNvPr id="239" name="Google Shape;239;g3ebf7e5dc66_0_192"/>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pic>
        <p:nvPicPr>
          <p:cNvPr id="240" name="Google Shape;240;g3ebf7e5dc66_0_192"/>
          <p:cNvPicPr preferRelativeResize="0"/>
          <p:nvPr/>
        </p:nvPicPr>
        <p:blipFill>
          <a:blip r:embed="rId4">
            <a:alphaModFix/>
          </a:blip>
          <a:stretch>
            <a:fillRect/>
          </a:stretch>
        </p:blipFill>
        <p:spPr>
          <a:xfrm>
            <a:off x="465625" y="3590375"/>
            <a:ext cx="17356850" cy="31062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g3ebf7e5dc66_0_221"/>
          <p:cNvGrpSpPr/>
          <p:nvPr/>
        </p:nvGrpSpPr>
        <p:grpSpPr>
          <a:xfrm>
            <a:off x="0" y="-144662"/>
            <a:ext cx="18288118" cy="1584446"/>
            <a:chOff x="0" y="-38100"/>
            <a:chExt cx="4816592" cy="417300"/>
          </a:xfrm>
        </p:grpSpPr>
        <p:sp>
          <p:nvSpPr>
            <p:cNvPr id="246" name="Google Shape;246;g3ebf7e5dc66_0_221"/>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47" name="Google Shape;247;g3ebf7e5dc66_0_221"/>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g3ebf7e5dc66_0_221"/>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249" name="Google Shape;249;g3ebf7e5dc66_0_221"/>
          <p:cNvSpPr txBox="1"/>
          <p:nvPr/>
        </p:nvSpPr>
        <p:spPr>
          <a:xfrm>
            <a:off x="318043" y="348369"/>
            <a:ext cx="122775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Modelo físico - Tabla Cliente</a:t>
            </a:r>
            <a:endParaRPr b="0" i="0" sz="1400" u="none" cap="none" strike="noStrike">
              <a:solidFill>
                <a:srgbClr val="000000"/>
              </a:solidFill>
              <a:latin typeface="Arial"/>
              <a:ea typeface="Arial"/>
              <a:cs typeface="Arial"/>
              <a:sym typeface="Arial"/>
            </a:endParaRPr>
          </a:p>
        </p:txBody>
      </p:sp>
      <p:pic>
        <p:nvPicPr>
          <p:cNvPr id="250" name="Google Shape;250;g3ebf7e5dc66_0_221" title="modelo físico unificado-Página-2.drawio.png"/>
          <p:cNvPicPr preferRelativeResize="0"/>
          <p:nvPr/>
        </p:nvPicPr>
        <p:blipFill>
          <a:blip r:embed="rId4">
            <a:alphaModFix/>
          </a:blip>
          <a:stretch>
            <a:fillRect/>
          </a:stretch>
        </p:blipFill>
        <p:spPr>
          <a:xfrm>
            <a:off x="10792338" y="2340383"/>
            <a:ext cx="5761200" cy="6648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grpSp>
        <p:nvGrpSpPr>
          <p:cNvPr id="255" name="Google Shape;255;g3ebf7e5dc66_0_230"/>
          <p:cNvGrpSpPr/>
          <p:nvPr/>
        </p:nvGrpSpPr>
        <p:grpSpPr>
          <a:xfrm>
            <a:off x="0" y="-144662"/>
            <a:ext cx="18288118" cy="1584446"/>
            <a:chOff x="0" y="-38100"/>
            <a:chExt cx="4816592" cy="417300"/>
          </a:xfrm>
        </p:grpSpPr>
        <p:sp>
          <p:nvSpPr>
            <p:cNvPr id="256" name="Google Shape;256;g3ebf7e5dc66_0_230"/>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57" name="Google Shape;257;g3ebf7e5dc66_0_230"/>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8" name="Google Shape;258;g3ebf7e5dc66_0_230"/>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259" name="Google Shape;259;g3ebf7e5dc66_0_230"/>
          <p:cNvSpPr txBox="1"/>
          <p:nvPr/>
        </p:nvSpPr>
        <p:spPr>
          <a:xfrm>
            <a:off x="318043" y="348369"/>
            <a:ext cx="122775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Pantallas del sistema - Nueva Obra</a:t>
            </a:r>
            <a:endParaRPr b="0" i="0" sz="1400" u="none" cap="none" strike="noStrike">
              <a:solidFill>
                <a:srgbClr val="000000"/>
              </a:solidFill>
              <a:latin typeface="Arial"/>
              <a:ea typeface="Arial"/>
              <a:cs typeface="Arial"/>
              <a:sym typeface="Arial"/>
            </a:endParaRPr>
          </a:p>
        </p:txBody>
      </p:sp>
      <p:pic>
        <p:nvPicPr>
          <p:cNvPr id="260" name="Google Shape;260;g3ebf7e5dc66_0_230"/>
          <p:cNvPicPr preferRelativeResize="0"/>
          <p:nvPr/>
        </p:nvPicPr>
        <p:blipFill>
          <a:blip r:embed="rId4">
            <a:alphaModFix/>
          </a:blip>
          <a:stretch>
            <a:fillRect/>
          </a:stretch>
        </p:blipFill>
        <p:spPr>
          <a:xfrm>
            <a:off x="475525" y="1574200"/>
            <a:ext cx="17337051" cy="85549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grpSp>
        <p:nvGrpSpPr>
          <p:cNvPr id="265" name="Google Shape;265;g3ec036fd8a9_20_24"/>
          <p:cNvGrpSpPr/>
          <p:nvPr/>
        </p:nvGrpSpPr>
        <p:grpSpPr>
          <a:xfrm>
            <a:off x="0" y="-144662"/>
            <a:ext cx="18288118" cy="1584446"/>
            <a:chOff x="0" y="-38100"/>
            <a:chExt cx="4816592" cy="417300"/>
          </a:xfrm>
        </p:grpSpPr>
        <p:sp>
          <p:nvSpPr>
            <p:cNvPr id="266" name="Google Shape;266;g3ec036fd8a9_20_24"/>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67" name="Google Shape;267;g3ec036fd8a9_20_24"/>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8" name="Google Shape;268;g3ec036fd8a9_20_24"/>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269" name="Google Shape;269;g3ec036fd8a9_20_24"/>
          <p:cNvSpPr txBox="1"/>
          <p:nvPr/>
        </p:nvSpPr>
        <p:spPr>
          <a:xfrm>
            <a:off x="318050" y="348375"/>
            <a:ext cx="147093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Pantallas del sistema - Gesti</a:t>
            </a:r>
            <a:r>
              <a:rPr lang="en-US" sz="5966">
                <a:solidFill>
                  <a:srgbClr val="FFFFFF"/>
                </a:solidFill>
                <a:latin typeface="League Spartan"/>
                <a:ea typeface="League Spartan"/>
                <a:cs typeface="League Spartan"/>
                <a:sym typeface="League Spartan"/>
              </a:rPr>
              <a:t>ón de Tareas</a:t>
            </a:r>
            <a:endParaRPr b="0" i="0" sz="1400" u="none" cap="none" strike="noStrike">
              <a:solidFill>
                <a:srgbClr val="000000"/>
              </a:solidFill>
              <a:latin typeface="Arial"/>
              <a:ea typeface="Arial"/>
              <a:cs typeface="Arial"/>
              <a:sym typeface="Arial"/>
            </a:endParaRPr>
          </a:p>
        </p:txBody>
      </p:sp>
      <p:pic>
        <p:nvPicPr>
          <p:cNvPr id="270" name="Google Shape;270;g3ec036fd8a9_20_24"/>
          <p:cNvPicPr preferRelativeResize="0"/>
          <p:nvPr/>
        </p:nvPicPr>
        <p:blipFill>
          <a:blip r:embed="rId4">
            <a:alphaModFix/>
          </a:blip>
          <a:stretch>
            <a:fillRect/>
          </a:stretch>
        </p:blipFill>
        <p:spPr>
          <a:xfrm>
            <a:off x="492875" y="1547609"/>
            <a:ext cx="17302241" cy="85424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grpSp>
        <p:nvGrpSpPr>
          <p:cNvPr id="275" name="Google Shape;275;g3ebf7e5dc66_0_140"/>
          <p:cNvGrpSpPr/>
          <p:nvPr/>
        </p:nvGrpSpPr>
        <p:grpSpPr>
          <a:xfrm>
            <a:off x="0" y="-144662"/>
            <a:ext cx="18288118" cy="1584446"/>
            <a:chOff x="0" y="-38100"/>
            <a:chExt cx="4816592" cy="417300"/>
          </a:xfrm>
        </p:grpSpPr>
        <p:sp>
          <p:nvSpPr>
            <p:cNvPr id="276" name="Google Shape;276;g3ebf7e5dc66_0_140"/>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77" name="Google Shape;277;g3ebf7e5dc66_0_140"/>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8" name="Google Shape;278;g3ebf7e5dc66_0_140"/>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279" name="Google Shape;279;g3ebf7e5dc66_0_140"/>
          <p:cNvSpPr txBox="1"/>
          <p:nvPr/>
        </p:nvSpPr>
        <p:spPr>
          <a:xfrm>
            <a:off x="318043" y="348369"/>
            <a:ext cx="122775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Pruebas realizadas al sistema</a:t>
            </a:r>
            <a:endParaRPr b="0" i="0" sz="1400" u="none" cap="none" strike="noStrike">
              <a:solidFill>
                <a:srgbClr val="000000"/>
              </a:solidFill>
              <a:latin typeface="Arial"/>
              <a:ea typeface="Arial"/>
              <a:cs typeface="Arial"/>
              <a:sym typeface="Arial"/>
            </a:endParaRPr>
          </a:p>
        </p:txBody>
      </p:sp>
      <p:graphicFrame>
        <p:nvGraphicFramePr>
          <p:cNvPr id="280" name="Google Shape;280;g3ebf7e5dc66_0_140"/>
          <p:cNvGraphicFramePr/>
          <p:nvPr/>
        </p:nvGraphicFramePr>
        <p:xfrm>
          <a:off x="2962988" y="1875375"/>
          <a:ext cx="3000000" cy="3000000"/>
        </p:xfrm>
        <a:graphic>
          <a:graphicData uri="http://schemas.openxmlformats.org/drawingml/2006/table">
            <a:tbl>
              <a:tblPr>
                <a:noFill/>
                <a:tableStyleId>{AA02423A-5F98-4DA9-9D82-D4D68A08E185}</a:tableStyleId>
              </a:tblPr>
              <a:tblGrid>
                <a:gridCol w="4162175"/>
                <a:gridCol w="4162175"/>
                <a:gridCol w="4162175"/>
              </a:tblGrid>
              <a:tr h="643125">
                <a:tc>
                  <a:txBody>
                    <a:bodyPr/>
                    <a:lstStyle/>
                    <a:p>
                      <a:pPr indent="0" lvl="0" marL="0" rtl="0" algn="ctr">
                        <a:lnSpc>
                          <a:spcPct val="115000"/>
                        </a:lnSpc>
                        <a:spcBef>
                          <a:spcPts val="0"/>
                        </a:spcBef>
                        <a:spcAft>
                          <a:spcPts val="0"/>
                        </a:spcAft>
                        <a:buNone/>
                      </a:pPr>
                      <a:r>
                        <a:rPr lang="en-US" sz="1600">
                          <a:solidFill>
                            <a:schemeClr val="lt1"/>
                          </a:solidFill>
                          <a:latin typeface="Calibri"/>
                          <a:ea typeface="Calibri"/>
                          <a:cs typeface="Calibri"/>
                          <a:sym typeface="Calibri"/>
                        </a:rPr>
                        <a:t>Iteraciones</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ctr">
                        <a:lnSpc>
                          <a:spcPct val="115000"/>
                        </a:lnSpc>
                        <a:spcBef>
                          <a:spcPts val="0"/>
                        </a:spcBef>
                        <a:spcAft>
                          <a:spcPts val="0"/>
                        </a:spcAft>
                        <a:buNone/>
                      </a:pPr>
                      <a:r>
                        <a:rPr lang="en-US" sz="1600">
                          <a:solidFill>
                            <a:schemeClr val="lt1"/>
                          </a:solidFill>
                          <a:latin typeface="Calibri"/>
                          <a:ea typeface="Calibri"/>
                          <a:cs typeface="Calibri"/>
                          <a:sym typeface="Calibri"/>
                        </a:rPr>
                        <a:t>Casos Positivos</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c>
                  <a:txBody>
                    <a:bodyPr/>
                    <a:lstStyle/>
                    <a:p>
                      <a:pPr indent="0" lvl="0" marL="0" rtl="0" algn="ctr">
                        <a:lnSpc>
                          <a:spcPct val="115000"/>
                        </a:lnSpc>
                        <a:spcBef>
                          <a:spcPts val="0"/>
                        </a:spcBef>
                        <a:spcAft>
                          <a:spcPts val="0"/>
                        </a:spcAft>
                        <a:buNone/>
                      </a:pPr>
                      <a:r>
                        <a:rPr lang="en-US" sz="1600">
                          <a:solidFill>
                            <a:schemeClr val="lt1"/>
                          </a:solidFill>
                          <a:latin typeface="Calibri"/>
                          <a:ea typeface="Calibri"/>
                          <a:cs typeface="Calibri"/>
                          <a:sym typeface="Calibri"/>
                        </a:rPr>
                        <a:t>Casos Negativos</a:t>
                      </a:r>
                      <a:endParaRPr sz="1600">
                        <a:solidFill>
                          <a:schemeClr val="lt1"/>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34343"/>
                    </a:solidFill>
                  </a:tcPr>
                </a:tc>
              </a:tr>
              <a:tr h="752375">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1° Iteración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57</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17</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ctr">
                        <a:lnSpc>
                          <a:spcPct val="115000"/>
                        </a:lnSpc>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2</a:t>
                      </a:r>
                      <a:r>
                        <a:rPr lang="en-US" sz="1600">
                          <a:solidFill>
                            <a:schemeClr val="dk1"/>
                          </a:solidFill>
                          <a:latin typeface="Calibri"/>
                          <a:ea typeface="Calibri"/>
                          <a:cs typeface="Calibri"/>
                          <a:sym typeface="Calibri"/>
                        </a:rPr>
                        <a:t>° Iteración</a:t>
                      </a:r>
                      <a:endParaRPr sz="1600">
                        <a:solidFill>
                          <a:schemeClr val="dk1"/>
                        </a:solidFill>
                        <a:latin typeface="Calibri"/>
                        <a:ea typeface="Calibri"/>
                        <a:cs typeface="Calibri"/>
                        <a:sym typeface="Calibri"/>
                      </a:endParaRPr>
                    </a:p>
                    <a:p>
                      <a:pPr indent="0" lvl="0" marL="0" rtl="0" algn="ctr">
                        <a:lnSpc>
                          <a:spcPct val="115000"/>
                        </a:lnSpc>
                        <a:spcBef>
                          <a:spcPts val="0"/>
                        </a:spcBef>
                        <a:spcAft>
                          <a:spcPts val="0"/>
                        </a:spcAft>
                        <a:buNone/>
                      </a:pPr>
                      <a:r>
                        <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69</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5</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52375">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3° Iteración</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74</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600">
                          <a:latin typeface="Calibri"/>
                          <a:ea typeface="Calibri"/>
                          <a:cs typeface="Calibri"/>
                          <a:sym typeface="Calibri"/>
                        </a:rPr>
                        <a:t>0</a:t>
                      </a:r>
                      <a:endParaRPr sz="16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81" name="Google Shape;281;g3ebf7e5dc66_0_140"/>
          <p:cNvPicPr preferRelativeResize="0"/>
          <p:nvPr/>
        </p:nvPicPr>
        <p:blipFill rotWithShape="1">
          <a:blip r:embed="rId4">
            <a:alphaModFix/>
          </a:blip>
          <a:srcRect b="1749" l="0" r="0" t="0"/>
          <a:stretch/>
        </p:blipFill>
        <p:spPr>
          <a:xfrm>
            <a:off x="5570390" y="5211225"/>
            <a:ext cx="7271700" cy="4409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ec036fd8a9_21_485"/>
          <p:cNvSpPr/>
          <p:nvPr/>
        </p:nvSpPr>
        <p:spPr>
          <a:xfrm>
            <a:off x="9302288" y="2899200"/>
            <a:ext cx="8846700" cy="529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7" name="Google Shape;287;g3ec036fd8a9_21_485"/>
          <p:cNvSpPr/>
          <p:nvPr/>
        </p:nvSpPr>
        <p:spPr>
          <a:xfrm>
            <a:off x="401375" y="2899200"/>
            <a:ext cx="8846700" cy="5298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88" name="Google Shape;288;g3ec036fd8a9_21_485" title="Burn Down - Incremento 1.png"/>
          <p:cNvPicPr preferRelativeResize="0"/>
          <p:nvPr/>
        </p:nvPicPr>
        <p:blipFill>
          <a:blip r:embed="rId3">
            <a:alphaModFix/>
          </a:blip>
          <a:stretch>
            <a:fillRect/>
          </a:stretch>
        </p:blipFill>
        <p:spPr>
          <a:xfrm>
            <a:off x="401438" y="2899138"/>
            <a:ext cx="8846579" cy="5299023"/>
          </a:xfrm>
          <a:prstGeom prst="rect">
            <a:avLst/>
          </a:prstGeom>
          <a:noFill/>
          <a:ln>
            <a:noFill/>
          </a:ln>
        </p:spPr>
      </p:pic>
      <p:pic>
        <p:nvPicPr>
          <p:cNvPr id="289" name="Google Shape;289;g3ec036fd8a9_21_485" title="Burn Up - Incremento 1.png"/>
          <p:cNvPicPr preferRelativeResize="0"/>
          <p:nvPr/>
        </p:nvPicPr>
        <p:blipFill>
          <a:blip r:embed="rId4">
            <a:alphaModFix/>
          </a:blip>
          <a:stretch>
            <a:fillRect/>
          </a:stretch>
        </p:blipFill>
        <p:spPr>
          <a:xfrm>
            <a:off x="9302347" y="2899138"/>
            <a:ext cx="8846579" cy="5299023"/>
          </a:xfrm>
          <a:prstGeom prst="rect">
            <a:avLst/>
          </a:prstGeom>
          <a:noFill/>
          <a:ln>
            <a:noFill/>
          </a:ln>
        </p:spPr>
      </p:pic>
      <p:grpSp>
        <p:nvGrpSpPr>
          <p:cNvPr id="290" name="Google Shape;290;g3ec036fd8a9_21_485"/>
          <p:cNvGrpSpPr/>
          <p:nvPr/>
        </p:nvGrpSpPr>
        <p:grpSpPr>
          <a:xfrm>
            <a:off x="0" y="-144662"/>
            <a:ext cx="18288118" cy="1584446"/>
            <a:chOff x="0" y="-38100"/>
            <a:chExt cx="4816592" cy="417300"/>
          </a:xfrm>
        </p:grpSpPr>
        <p:sp>
          <p:nvSpPr>
            <p:cNvPr id="291" name="Google Shape;291;g3ec036fd8a9_21_485"/>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accent6"/>
            </a:solidFill>
            <a:ln>
              <a:noFill/>
            </a:ln>
          </p:spPr>
        </p:sp>
        <p:sp>
          <p:nvSpPr>
            <p:cNvPr id="292" name="Google Shape;292;g3ec036fd8a9_21_485"/>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g3ec036fd8a9_21_485"/>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5">
              <a:alphaModFix/>
            </a:blip>
            <a:stretch>
              <a:fillRect b="0" l="0" r="0" t="0"/>
            </a:stretch>
          </a:blipFill>
          <a:ln>
            <a:noFill/>
          </a:ln>
        </p:spPr>
      </p:sp>
      <p:sp>
        <p:nvSpPr>
          <p:cNvPr id="294" name="Google Shape;294;g3ec036fd8a9_21_485"/>
          <p:cNvSpPr txBox="1"/>
          <p:nvPr/>
        </p:nvSpPr>
        <p:spPr>
          <a:xfrm>
            <a:off x="318043" y="348369"/>
            <a:ext cx="12277500" cy="9183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5966"/>
              <a:buFont typeface="Arial"/>
              <a:buNone/>
            </a:pPr>
            <a:r>
              <a:rPr lang="en-US" sz="5966">
                <a:solidFill>
                  <a:srgbClr val="FFFFFF"/>
                </a:solidFill>
                <a:latin typeface="League Spartan"/>
                <a:ea typeface="League Spartan"/>
                <a:cs typeface="League Spartan"/>
                <a:sym typeface="League Spartan"/>
              </a:rPr>
              <a:t>Retrospectiva</a:t>
            </a:r>
            <a:endParaRPr b="0" i="0" sz="1400" u="none" cap="none" strike="noStrike">
              <a:solidFill>
                <a:srgbClr val="000000"/>
              </a:solidFill>
              <a:latin typeface="Arial"/>
              <a:ea typeface="Arial"/>
              <a:cs typeface="Arial"/>
              <a:sym typeface="Arial"/>
            </a:endParaRPr>
          </a:p>
        </p:txBody>
      </p:sp>
      <p:sp>
        <p:nvSpPr>
          <p:cNvPr id="295" name="Google Shape;295;g3ec036fd8a9_21_485"/>
          <p:cNvSpPr/>
          <p:nvPr/>
        </p:nvSpPr>
        <p:spPr>
          <a:xfrm>
            <a:off x="238500" y="8866049"/>
            <a:ext cx="3060106" cy="1161990"/>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grpSp>
        <p:nvGrpSpPr>
          <p:cNvPr id="300" name="Google Shape;300;g3ec036fd8a9_21_22"/>
          <p:cNvGrpSpPr/>
          <p:nvPr/>
        </p:nvGrpSpPr>
        <p:grpSpPr>
          <a:xfrm>
            <a:off x="0" y="-144604"/>
            <a:ext cx="18288118" cy="8291291"/>
            <a:chOff x="0" y="-38085"/>
            <a:chExt cx="4816592" cy="2183700"/>
          </a:xfrm>
        </p:grpSpPr>
        <p:sp>
          <p:nvSpPr>
            <p:cNvPr id="301" name="Google Shape;301;g3ec036fd8a9_21_22"/>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chemeClr val="lt1"/>
            </a:solidFill>
            <a:ln>
              <a:noFill/>
            </a:ln>
          </p:spPr>
        </p:sp>
        <p:sp>
          <p:nvSpPr>
            <p:cNvPr id="302" name="Google Shape;302;g3ec036fd8a9_21_22"/>
            <p:cNvSpPr txBox="1"/>
            <p:nvPr/>
          </p:nvSpPr>
          <p:spPr>
            <a:xfrm>
              <a:off x="0" y="-38085"/>
              <a:ext cx="4816500" cy="2183700"/>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3" name="Google Shape;303;g3ec036fd8a9_21_22"/>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304" name="Google Shape;304;g3ec036fd8a9_21_22"/>
          <p:cNvSpPr/>
          <p:nvPr/>
        </p:nvSpPr>
        <p:spPr>
          <a:xfrm>
            <a:off x="993297" y="3720534"/>
            <a:ext cx="3333905" cy="1239855"/>
          </a:xfrm>
          <a:custGeom>
            <a:rect b="b" l="l" r="r" t="t"/>
            <a:pathLst>
              <a:path extrusionOk="0" h="2395855" w="6442329">
                <a:moveTo>
                  <a:pt x="0" y="0"/>
                </a:moveTo>
                <a:lnTo>
                  <a:pt x="6442329" y="0"/>
                </a:lnTo>
                <a:lnTo>
                  <a:pt x="6442329" y="2395855"/>
                </a:lnTo>
                <a:lnTo>
                  <a:pt x="0" y="2395855"/>
                </a:lnTo>
                <a:lnTo>
                  <a:pt x="0" y="0"/>
                </a:lnTo>
                <a:close/>
              </a:path>
            </a:pathLst>
          </a:custGeom>
          <a:blipFill rotWithShape="1">
            <a:blip r:embed="rId4">
              <a:alphaModFix/>
            </a:blip>
            <a:stretch>
              <a:fillRect b="0" l="0" r="0" t="0"/>
            </a:stretch>
          </a:blipFill>
          <a:ln>
            <a:noFill/>
          </a:ln>
        </p:spPr>
      </p:sp>
      <p:cxnSp>
        <p:nvCxnSpPr>
          <p:cNvPr id="305" name="Google Shape;305;g3ec036fd8a9_21_22"/>
          <p:cNvCxnSpPr/>
          <p:nvPr/>
        </p:nvCxnSpPr>
        <p:spPr>
          <a:xfrm>
            <a:off x="725160" y="6156855"/>
            <a:ext cx="16837800" cy="0"/>
          </a:xfrm>
          <a:prstGeom prst="straightConnector1">
            <a:avLst/>
          </a:prstGeom>
          <a:noFill/>
          <a:ln cap="rnd" cmpd="sng" w="57150">
            <a:solidFill>
              <a:schemeClr val="dk1"/>
            </a:solidFill>
            <a:prstDash val="solid"/>
            <a:round/>
            <a:headEnd len="sm" w="sm" type="none"/>
            <a:tailEnd len="sm" w="sm" type="none"/>
          </a:ln>
        </p:spPr>
      </p:cxnSp>
      <p:cxnSp>
        <p:nvCxnSpPr>
          <p:cNvPr id="306" name="Google Shape;306;g3ec036fd8a9_21_22"/>
          <p:cNvCxnSpPr/>
          <p:nvPr/>
        </p:nvCxnSpPr>
        <p:spPr>
          <a:xfrm>
            <a:off x="4730457" y="3602875"/>
            <a:ext cx="0" cy="2079900"/>
          </a:xfrm>
          <a:prstGeom prst="straightConnector1">
            <a:avLst/>
          </a:prstGeom>
          <a:noFill/>
          <a:ln cap="rnd" cmpd="sng" w="57150">
            <a:solidFill>
              <a:schemeClr val="dk1"/>
            </a:solidFill>
            <a:prstDash val="solid"/>
            <a:round/>
            <a:headEnd len="sm" w="sm" type="none"/>
            <a:tailEnd len="sm" w="sm" type="none"/>
          </a:ln>
        </p:spPr>
      </p:cxnSp>
      <p:grpSp>
        <p:nvGrpSpPr>
          <p:cNvPr id="307" name="Google Shape;307;g3ec036fd8a9_21_22"/>
          <p:cNvGrpSpPr/>
          <p:nvPr/>
        </p:nvGrpSpPr>
        <p:grpSpPr>
          <a:xfrm>
            <a:off x="0" y="7914450"/>
            <a:ext cx="18288118" cy="2372683"/>
            <a:chOff x="0" y="-38100"/>
            <a:chExt cx="4816592" cy="624900"/>
          </a:xfrm>
        </p:grpSpPr>
        <p:sp>
          <p:nvSpPr>
            <p:cNvPr id="308" name="Google Shape;308;g3ec036fd8a9_21_22"/>
            <p:cNvSpPr/>
            <p:nvPr/>
          </p:nvSpPr>
          <p:spPr>
            <a:xfrm>
              <a:off x="0" y="0"/>
              <a:ext cx="4816592" cy="586767"/>
            </a:xfrm>
            <a:custGeom>
              <a:rect b="b" l="l" r="r" t="t"/>
              <a:pathLst>
                <a:path extrusionOk="0" h="586767" w="4816592">
                  <a:moveTo>
                    <a:pt x="0" y="0"/>
                  </a:moveTo>
                  <a:lnTo>
                    <a:pt x="4816592" y="0"/>
                  </a:lnTo>
                  <a:lnTo>
                    <a:pt x="4816592" y="586767"/>
                  </a:lnTo>
                  <a:lnTo>
                    <a:pt x="0" y="586767"/>
                  </a:lnTo>
                  <a:close/>
                </a:path>
              </a:pathLst>
            </a:custGeom>
            <a:solidFill>
              <a:schemeClr val="accent6"/>
            </a:solidFill>
            <a:ln>
              <a:noFill/>
            </a:ln>
          </p:spPr>
        </p:sp>
        <p:sp>
          <p:nvSpPr>
            <p:cNvPr id="309" name="Google Shape;309;g3ec036fd8a9_21_22"/>
            <p:cNvSpPr txBox="1"/>
            <p:nvPr/>
          </p:nvSpPr>
          <p:spPr>
            <a:xfrm>
              <a:off x="0" y="-38100"/>
              <a:ext cx="4816500" cy="6249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g3ec036fd8a9_21_22"/>
          <p:cNvSpPr txBox="1"/>
          <p:nvPr/>
        </p:nvSpPr>
        <p:spPr>
          <a:xfrm>
            <a:off x="5133700" y="2875850"/>
            <a:ext cx="9444000" cy="3122400"/>
          </a:xfrm>
          <a:prstGeom prst="rect">
            <a:avLst/>
          </a:prstGeom>
          <a:noFill/>
          <a:ln>
            <a:noFill/>
          </a:ln>
        </p:spPr>
        <p:txBody>
          <a:bodyPr anchorCtr="0" anchor="t" bIns="0" lIns="0" spcFirstLastPara="1" rIns="0" wrap="square" tIns="0">
            <a:spAutoFit/>
          </a:bodyPr>
          <a:lstStyle/>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PROYECTO INGENIERÍA</a:t>
            </a:r>
            <a:endParaRPr sz="5966">
              <a:latin typeface="League Spartan"/>
              <a:ea typeface="League Spartan"/>
              <a:cs typeface="League Spartan"/>
              <a:sym typeface="League Spartan"/>
            </a:endParaRPr>
          </a:p>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DE SOFTWARE I</a:t>
            </a:r>
            <a:endParaRPr sz="5966">
              <a:latin typeface="League Spartan"/>
              <a:ea typeface="League Spartan"/>
              <a:cs typeface="League Spartan"/>
              <a:sym typeface="League Spartan"/>
            </a:endParaRPr>
          </a:p>
          <a:p>
            <a:pPr indent="0" lvl="0" marL="0" rtl="0" algn="l">
              <a:lnSpc>
                <a:spcPct val="120013"/>
              </a:lnSpc>
              <a:spcBef>
                <a:spcPts val="0"/>
              </a:spcBef>
              <a:spcAft>
                <a:spcPts val="0"/>
              </a:spcAft>
              <a:buClr>
                <a:schemeClr val="dk1"/>
              </a:buClr>
              <a:buSzPts val="1100"/>
              <a:buFont typeface="Arial"/>
              <a:buNone/>
            </a:pPr>
            <a:r>
              <a:rPr lang="en-US" sz="5966">
                <a:latin typeface="League Spartan"/>
                <a:ea typeface="League Spartan"/>
                <a:cs typeface="League Spartan"/>
                <a:sym typeface="League Spartan"/>
              </a:rPr>
              <a:t>INCREMENTO 1 GRUPO 16</a:t>
            </a:r>
            <a:endParaRPr sz="5966">
              <a:latin typeface="League Spartan"/>
              <a:ea typeface="League Spartan"/>
              <a:cs typeface="League Spartan"/>
              <a:sym typeface="League Spartan"/>
            </a:endParaRPr>
          </a:p>
        </p:txBody>
      </p:sp>
      <p:sp>
        <p:nvSpPr>
          <p:cNvPr id="311" name="Google Shape;311;g3ec036fd8a9_21_22"/>
          <p:cNvSpPr txBox="1"/>
          <p:nvPr/>
        </p:nvSpPr>
        <p:spPr>
          <a:xfrm>
            <a:off x="726582" y="5243336"/>
            <a:ext cx="3870000" cy="289500"/>
          </a:xfrm>
          <a:prstGeom prst="rect">
            <a:avLst/>
          </a:prstGeom>
          <a:noFill/>
          <a:ln>
            <a:noFill/>
          </a:ln>
        </p:spPr>
        <p:txBody>
          <a:bodyPr anchorCtr="0" anchor="t" bIns="0" lIns="0" spcFirstLastPara="1" rIns="0" wrap="square" tIns="0">
            <a:spAutoFit/>
          </a:bodyPr>
          <a:lstStyle/>
          <a:p>
            <a:pPr indent="0" lvl="0" marL="0" marR="0" rtl="0" algn="ctr">
              <a:lnSpc>
                <a:spcPct val="120117"/>
              </a:lnSpc>
              <a:spcBef>
                <a:spcPts val="0"/>
              </a:spcBef>
              <a:spcAft>
                <a:spcPts val="0"/>
              </a:spcAft>
              <a:buClr>
                <a:srgbClr val="000000"/>
              </a:buClr>
              <a:buSzPts val="1879"/>
              <a:buFont typeface="Arial"/>
              <a:buNone/>
            </a:pPr>
            <a:r>
              <a:rPr b="0" i="0" lang="en-US" sz="1880" u="none" cap="none" strike="noStrike">
                <a:solidFill>
                  <a:srgbClr val="000000"/>
                </a:solidFill>
                <a:latin typeface="League Spartan"/>
                <a:ea typeface="League Spartan"/>
                <a:cs typeface="League Spartan"/>
                <a:sym typeface="League Spartan"/>
              </a:rPr>
              <a:t>Empresa Puertas Blindadas</a:t>
            </a:r>
            <a:endParaRPr b="0" i="0" sz="1400" u="none" cap="none" strike="noStrike">
              <a:solidFill>
                <a:srgbClr val="000000"/>
              </a:solidFill>
              <a:latin typeface="Arial"/>
              <a:ea typeface="Arial"/>
              <a:cs typeface="Arial"/>
              <a:sym typeface="Arial"/>
            </a:endParaRPr>
          </a:p>
        </p:txBody>
      </p:sp>
      <p:sp>
        <p:nvSpPr>
          <p:cNvPr id="312" name="Google Shape;312;g3ec036fd8a9_21_22"/>
          <p:cNvSpPr txBox="1"/>
          <p:nvPr/>
        </p:nvSpPr>
        <p:spPr>
          <a:xfrm>
            <a:off x="725160" y="8112087"/>
            <a:ext cx="3540300" cy="1977300"/>
          </a:xfrm>
          <a:prstGeom prst="rect">
            <a:avLst/>
          </a:prstGeom>
          <a:noFill/>
          <a:ln>
            <a:noFill/>
          </a:ln>
        </p:spPr>
        <p:txBody>
          <a:bodyPr anchorCtr="0" anchor="t" bIns="0" lIns="0" spcFirstLastPara="1" rIns="0" wrap="square" tIns="0">
            <a:spAutoFit/>
          </a:bodyPr>
          <a:lstStyle/>
          <a:p>
            <a:pPr indent="0" lvl="0" marL="0" marR="0" rtl="0" algn="l">
              <a:lnSpc>
                <a:spcPct val="120048"/>
              </a:lnSpc>
              <a:spcBef>
                <a:spcPts val="0"/>
              </a:spcBef>
              <a:spcAft>
                <a:spcPts val="0"/>
              </a:spcAft>
              <a:buClr>
                <a:srgbClr val="000000"/>
              </a:buClr>
              <a:buSzPts val="1466"/>
              <a:buFont typeface="Arial"/>
              <a:buNone/>
            </a:pPr>
            <a:r>
              <a:rPr i="0" lang="en-US" sz="1566" u="none" cap="none" strike="noStrike">
                <a:solidFill>
                  <a:srgbClr val="FFFFFF"/>
                </a:solidFill>
                <a:latin typeface="League Spartan"/>
                <a:ea typeface="League Spartan"/>
                <a:cs typeface="League Spartan"/>
                <a:sym typeface="League Spartan"/>
              </a:rPr>
              <a:t>Integrantes: </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Barrera Matus, Josué Ezequiel</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Escobar Bravo, Sebastián Patricio</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Hanke Coray, Alexander Andres </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Munizaga Yañez, Ignacio Javier</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Reyes Gomez, Lenin Andres </a:t>
            </a:r>
            <a:endParaRPr i="0" sz="1300" u="none" cap="none" strike="noStrike">
              <a:solidFill>
                <a:srgbClr val="000000"/>
              </a:solidFill>
              <a:latin typeface="League Spartan"/>
              <a:ea typeface="League Spartan"/>
              <a:cs typeface="League Spartan"/>
              <a:sym typeface="League Spartan"/>
            </a:endParaRPr>
          </a:p>
          <a:p>
            <a:pPr indent="-173587" lvl="1" marL="359874" marR="0" rtl="0" algn="l">
              <a:lnSpc>
                <a:spcPct val="120048"/>
              </a:lnSpc>
              <a:spcBef>
                <a:spcPts val="0"/>
              </a:spcBef>
              <a:spcAft>
                <a:spcPts val="0"/>
              </a:spcAft>
              <a:buClr>
                <a:srgbClr val="FFFFFF"/>
              </a:buClr>
              <a:buSzPts val="1566"/>
              <a:buFont typeface="League Spartan"/>
              <a:buChar char="•"/>
            </a:pPr>
            <a:r>
              <a:rPr i="0" lang="en-US" sz="1566" u="none" cap="none" strike="noStrike">
                <a:solidFill>
                  <a:srgbClr val="FFFFFF"/>
                </a:solidFill>
                <a:latin typeface="League Spartan"/>
                <a:ea typeface="League Spartan"/>
                <a:cs typeface="League Spartan"/>
                <a:sym typeface="League Spartan"/>
              </a:rPr>
              <a:t>Seguel Novoa, Roberto Andrés</a:t>
            </a:r>
            <a:endParaRPr i="0" sz="1300" u="none" cap="none" strike="noStrike">
              <a:solidFill>
                <a:srgbClr val="000000"/>
              </a:solidFill>
              <a:latin typeface="League Spartan"/>
              <a:ea typeface="League Spartan"/>
              <a:cs typeface="League Spartan"/>
              <a:sym typeface="League Spartan"/>
            </a:endParaRPr>
          </a:p>
        </p:txBody>
      </p:sp>
      <p:sp>
        <p:nvSpPr>
          <p:cNvPr id="313" name="Google Shape;313;g3ec036fd8a9_21_22"/>
          <p:cNvSpPr txBox="1"/>
          <p:nvPr/>
        </p:nvSpPr>
        <p:spPr>
          <a:xfrm>
            <a:off x="4596657" y="8146637"/>
            <a:ext cx="3540300" cy="598200"/>
          </a:xfrm>
          <a:prstGeom prst="rect">
            <a:avLst/>
          </a:prstGeom>
          <a:noFill/>
          <a:ln>
            <a:noFill/>
          </a:ln>
        </p:spPr>
        <p:txBody>
          <a:bodyPr anchorCtr="0" anchor="t" bIns="0" lIns="0" spcFirstLastPara="1" rIns="0" wrap="square" tIns="0">
            <a:spAutoFit/>
          </a:bodyPr>
          <a:lstStyle/>
          <a:p>
            <a:pPr indent="0" lvl="0" marL="0" marR="0" rtl="0" algn="l">
              <a:lnSpc>
                <a:spcPct val="120048"/>
              </a:lnSpc>
              <a:spcBef>
                <a:spcPts val="0"/>
              </a:spcBef>
              <a:spcAft>
                <a:spcPts val="0"/>
              </a:spcAft>
              <a:buClr>
                <a:srgbClr val="000000"/>
              </a:buClr>
              <a:buSzPts val="1666"/>
              <a:buFont typeface="Arial"/>
              <a:buNone/>
            </a:pPr>
            <a:r>
              <a:rPr i="0" lang="en-US" sz="1766" u="none" cap="none" strike="noStrike">
                <a:solidFill>
                  <a:srgbClr val="FFFFFF"/>
                </a:solidFill>
                <a:latin typeface="League Spartan"/>
                <a:ea typeface="League Spartan"/>
                <a:cs typeface="League Spartan"/>
                <a:sym typeface="League Spartan"/>
              </a:rPr>
              <a:t>Profesor: Paulo Quinsacara</a:t>
            </a:r>
            <a:endParaRPr i="0" sz="1500" u="none" cap="none" strike="noStrike">
              <a:solidFill>
                <a:srgbClr val="000000"/>
              </a:solidFill>
              <a:latin typeface="League Spartan"/>
              <a:ea typeface="League Spartan"/>
              <a:cs typeface="League Spartan"/>
              <a:sym typeface="League Spartan"/>
            </a:endParaRPr>
          </a:p>
          <a:p>
            <a:pPr indent="0" lvl="0" marL="0" marR="0" rtl="0" algn="l">
              <a:lnSpc>
                <a:spcPct val="120048"/>
              </a:lnSpc>
              <a:spcBef>
                <a:spcPts val="0"/>
              </a:spcBef>
              <a:spcAft>
                <a:spcPts val="0"/>
              </a:spcAft>
              <a:buClr>
                <a:srgbClr val="000000"/>
              </a:buClr>
              <a:buSzPts val="1666"/>
              <a:buFont typeface="Arial"/>
              <a:buNone/>
            </a:pPr>
            <a:r>
              <a:rPr i="0" lang="en-US" sz="1766" u="none" cap="none" strike="noStrike">
                <a:solidFill>
                  <a:srgbClr val="FFFFFF"/>
                </a:solidFill>
                <a:latin typeface="League Spartan"/>
                <a:ea typeface="League Spartan"/>
                <a:cs typeface="League Spartan"/>
                <a:sym typeface="League Spartan"/>
              </a:rPr>
              <a:t>Curso: Ingeniería de software I </a:t>
            </a:r>
            <a:endParaRPr i="0" sz="1500" u="none" cap="none" strike="noStrike">
              <a:solidFill>
                <a:srgbClr val="000000"/>
              </a:solidFill>
              <a:latin typeface="League Spartan"/>
              <a:ea typeface="League Spartan"/>
              <a:cs typeface="League Spartan"/>
              <a:sym typeface="League Spartan"/>
            </a:endParaRPr>
          </a:p>
        </p:txBody>
      </p:sp>
      <p:grpSp>
        <p:nvGrpSpPr>
          <p:cNvPr id="314" name="Google Shape;314;g3ec036fd8a9_21_22"/>
          <p:cNvGrpSpPr/>
          <p:nvPr/>
        </p:nvGrpSpPr>
        <p:grpSpPr>
          <a:xfrm>
            <a:off x="0" y="-144662"/>
            <a:ext cx="18288118" cy="1584446"/>
            <a:chOff x="0" y="-38100"/>
            <a:chExt cx="4816592" cy="417300"/>
          </a:xfrm>
        </p:grpSpPr>
        <p:sp>
          <p:nvSpPr>
            <p:cNvPr id="315" name="Google Shape;315;g3ec036fd8a9_21_22"/>
            <p:cNvSpPr/>
            <p:nvPr/>
          </p:nvSpPr>
          <p:spPr>
            <a:xfrm>
              <a:off x="0" y="0"/>
              <a:ext cx="4816592" cy="379061"/>
            </a:xfrm>
            <a:custGeom>
              <a:rect b="b" l="l" r="r" t="t"/>
              <a:pathLst>
                <a:path extrusionOk="0" h="379061" w="4816592">
                  <a:moveTo>
                    <a:pt x="0" y="0"/>
                  </a:moveTo>
                  <a:lnTo>
                    <a:pt x="4816592" y="0"/>
                  </a:lnTo>
                  <a:lnTo>
                    <a:pt x="4816592" y="379061"/>
                  </a:lnTo>
                  <a:lnTo>
                    <a:pt x="0" y="379061"/>
                  </a:lnTo>
                  <a:close/>
                </a:path>
              </a:pathLst>
            </a:custGeom>
            <a:solidFill>
              <a:srgbClr val="E69138"/>
            </a:solidFill>
            <a:ln>
              <a:noFill/>
            </a:ln>
          </p:spPr>
        </p:sp>
        <p:sp>
          <p:nvSpPr>
            <p:cNvPr id="316" name="Google Shape;316;g3ec036fd8a9_21_22"/>
            <p:cNvSpPr txBox="1"/>
            <p:nvPr/>
          </p:nvSpPr>
          <p:spPr>
            <a:xfrm>
              <a:off x="0" y="-38100"/>
              <a:ext cx="4816500" cy="417300"/>
            </a:xfrm>
            <a:prstGeom prst="rect">
              <a:avLst/>
            </a:prstGeom>
            <a:solidFill>
              <a:schemeClr val="accent6"/>
            </a:solid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7" name="Google Shape;317;g3ec036fd8a9_21_22"/>
          <p:cNvSpPr/>
          <p:nvPr/>
        </p:nvSpPr>
        <p:spPr>
          <a:xfrm>
            <a:off x="16667374" y="101426"/>
            <a:ext cx="1481554" cy="1236024"/>
          </a:xfrm>
          <a:custGeom>
            <a:rect b="b" l="l" r="r" t="t"/>
            <a:pathLst>
              <a:path extrusionOk="0" h="1200023" w="1438402">
                <a:moveTo>
                  <a:pt x="0" y="0"/>
                </a:moveTo>
                <a:lnTo>
                  <a:pt x="1438402" y="0"/>
                </a:lnTo>
                <a:lnTo>
                  <a:pt x="1438402" y="1200023"/>
                </a:lnTo>
                <a:lnTo>
                  <a:pt x="0" y="1200023"/>
                </a:lnTo>
                <a:lnTo>
                  <a:pt x="0" y="0"/>
                </a:lnTo>
                <a:close/>
              </a:path>
            </a:pathLst>
          </a:custGeom>
          <a:blipFill rotWithShape="1">
            <a:blip r:embed="rId3">
              <a:alphaModFix/>
            </a:blip>
            <a:stretch>
              <a:fillRect b="0" l="0" r="0" t="0"/>
            </a:stretch>
          </a:blipFill>
          <a:ln>
            <a:noFill/>
          </a:ln>
        </p:spPr>
      </p:sp>
      <p:sp>
        <p:nvSpPr>
          <p:cNvPr id="318" name="Google Shape;318;g3ec036fd8a9_21_22"/>
          <p:cNvSpPr txBox="1"/>
          <p:nvPr/>
        </p:nvSpPr>
        <p:spPr>
          <a:xfrm>
            <a:off x="464900" y="2945850"/>
            <a:ext cx="4060800" cy="791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en-US" sz="2200">
                <a:solidFill>
                  <a:schemeClr val="accent6"/>
                </a:solidFill>
                <a:latin typeface="Calibri"/>
                <a:ea typeface="Calibri"/>
                <a:cs typeface="Calibri"/>
                <a:sym typeface="Calibri"/>
              </a:rPr>
              <a:t>SISTEMA DE TERRENO</a:t>
            </a:r>
            <a:endParaRPr sz="3200">
              <a:solidFill>
                <a:schemeClr val="accent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4792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